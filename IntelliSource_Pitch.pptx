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0" y="0"/>
            <a:ext cx="2587752" cy="22860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515600" y="0"/>
            <a:ext cx="1673352" cy="137160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74320"/>
            <a:ext cx="2743200" cy="640080"/>
          </a:xfrm>
          <a:prstGeom prst="rect">
            <a:avLst/>
          </a:prstGeom>
          <a:noFill/>
        </p:spPr>
        <p:txBody>
          <a:bodyPr wrap="square">
            <a:spAutoFit/>
          </a:bodyPr>
          <a:lstStyle/>
          <a:p>
            <a:pPr algn="l"/>
            <a:r>
              <a:rPr sz="3600" b="1" i="0">
                <a:solidFill>
                  <a:srgbClr val="FFFFFF"/>
                </a:solidFill>
                <a:latin typeface="Calibri"/>
              </a:rPr>
              <a:t>KPMG</a:t>
            </a:r>
          </a:p>
        </p:txBody>
      </p:sp>
      <p:sp>
        <p:nvSpPr>
          <p:cNvPr id="7" name="TextBox 6"/>
          <p:cNvSpPr txBox="1"/>
          <p:nvPr/>
        </p:nvSpPr>
        <p:spPr>
          <a:xfrm>
            <a:off x="274320" y="868680"/>
            <a:ext cx="2743200" cy="365760"/>
          </a:xfrm>
          <a:prstGeom prst="rect">
            <a:avLst/>
          </a:prstGeom>
          <a:noFill/>
        </p:spPr>
        <p:txBody>
          <a:bodyPr wrap="square">
            <a:spAutoFit/>
          </a:bodyPr>
          <a:lstStyle/>
          <a:p>
            <a:pPr algn="l"/>
            <a:r>
              <a:rPr sz="1600" b="0" i="0">
                <a:solidFill>
                  <a:srgbClr val="0091DA"/>
                </a:solidFill>
                <a:latin typeface="Calibri"/>
              </a:rPr>
              <a:t>India</a:t>
            </a:r>
          </a:p>
        </p:txBody>
      </p:sp>
      <p:sp>
        <p:nvSpPr>
          <p:cNvPr id="8" name="Rectangle 7"/>
          <p:cNvSpPr/>
          <p:nvPr/>
        </p:nvSpPr>
        <p:spPr>
          <a:xfrm>
            <a:off x="182880" y="1371600"/>
            <a:ext cx="11795760" cy="27432"/>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554480"/>
            <a:ext cx="10058400" cy="1097280"/>
          </a:xfrm>
          <a:prstGeom prst="rect">
            <a:avLst/>
          </a:prstGeom>
          <a:noFill/>
        </p:spPr>
        <p:txBody>
          <a:bodyPr wrap="square">
            <a:spAutoFit/>
          </a:bodyPr>
          <a:lstStyle/>
          <a:p>
            <a:pPr algn="l"/>
            <a:r>
              <a:rPr sz="5400" b="1" i="0">
                <a:solidFill>
                  <a:srgbClr val="FFFFFF"/>
                </a:solidFill>
                <a:latin typeface="Calibri"/>
              </a:rPr>
              <a:t>IntelliSource</a:t>
            </a:r>
          </a:p>
        </p:txBody>
      </p:sp>
      <p:sp>
        <p:nvSpPr>
          <p:cNvPr id="10" name="TextBox 9"/>
          <p:cNvSpPr txBox="1"/>
          <p:nvPr/>
        </p:nvSpPr>
        <p:spPr>
          <a:xfrm>
            <a:off x="274320" y="2606040"/>
            <a:ext cx="10058400" cy="548640"/>
          </a:xfrm>
          <a:prstGeom prst="rect">
            <a:avLst/>
          </a:prstGeom>
          <a:noFill/>
        </p:spPr>
        <p:txBody>
          <a:bodyPr wrap="square">
            <a:spAutoFit/>
          </a:bodyPr>
          <a:lstStyle/>
          <a:p>
            <a:pPr algn="l"/>
            <a:r>
              <a:rPr sz="2200" b="0" i="0">
                <a:solidFill>
                  <a:srgbClr val="0091DA"/>
                </a:solidFill>
                <a:latin typeface="Calibri"/>
              </a:rPr>
              <a:t>P2P Intelligence &amp; Analytics Platform</a:t>
            </a:r>
          </a:p>
        </p:txBody>
      </p:sp>
      <p:sp>
        <p:nvSpPr>
          <p:cNvPr id="11" name="Rectangle 10"/>
          <p:cNvSpPr/>
          <p:nvPr/>
        </p:nvSpPr>
        <p:spPr>
          <a:xfrm>
            <a:off x="182880" y="3291840"/>
            <a:ext cx="11795760" cy="27432"/>
          </a:xfrm>
          <a:prstGeom prst="rect">
            <a:avLst/>
          </a:prstGeom>
          <a:solidFill>
            <a:srgbClr val="8F7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3429000"/>
            <a:ext cx="10058400" cy="365760"/>
          </a:xfrm>
          <a:prstGeom prst="rect">
            <a:avLst/>
          </a:prstGeom>
          <a:noFill/>
        </p:spPr>
        <p:txBody>
          <a:bodyPr wrap="square">
            <a:spAutoFit/>
          </a:bodyPr>
          <a:lstStyle/>
          <a:p>
            <a:pPr algn="l"/>
            <a:r>
              <a:rPr sz="1300" b="0" i="0">
                <a:solidFill>
                  <a:srgbClr val="B0C4DE"/>
                </a:solidFill>
                <a:latin typeface="Calibri"/>
              </a:rPr>
              <a:t>Executive Demo Pitch  |  60-Second Value Proposition  |  SAP Comparison</a:t>
            </a:r>
          </a:p>
        </p:txBody>
      </p:sp>
      <p:sp>
        <p:nvSpPr>
          <p:cNvPr id="13" name="Rectangle 12"/>
          <p:cNvSpPr/>
          <p:nvPr/>
        </p:nvSpPr>
        <p:spPr>
          <a:xfrm>
            <a:off x="0" y="6309360"/>
            <a:ext cx="12188952" cy="54864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355080"/>
            <a:ext cx="9144000" cy="411480"/>
          </a:xfrm>
          <a:prstGeom prst="rect">
            <a:avLst/>
          </a:prstGeom>
          <a:noFill/>
        </p:spPr>
        <p:txBody>
          <a:bodyPr wrap="square">
            <a:spAutoFit/>
          </a:bodyPr>
          <a:lstStyle/>
          <a:p>
            <a:pPr algn="l"/>
            <a:r>
              <a:rPr sz="1100" b="0" i="0">
                <a:solidFill>
                  <a:srgbClr val="FFFFFF"/>
                </a:solidFill>
                <a:latin typeface="Calibri"/>
              </a:rPr>
              <a:t>KPMG India  |  Procurement Advisory  |  CONFIDENTIAL</a:t>
            </a:r>
          </a:p>
        </p:txBody>
      </p:sp>
      <p:sp>
        <p:nvSpPr>
          <p:cNvPr id="15" name="TextBox 14"/>
          <p:cNvSpPr txBox="1"/>
          <p:nvPr/>
        </p:nvSpPr>
        <p:spPr>
          <a:xfrm>
            <a:off x="11247120" y="6355080"/>
            <a:ext cx="822960" cy="411480"/>
          </a:xfrm>
          <a:prstGeom prst="rect">
            <a:avLst/>
          </a:prstGeom>
          <a:noFill/>
        </p:spPr>
        <p:txBody>
          <a:bodyPr wrap="square">
            <a:spAutoFit/>
          </a:bodyPr>
          <a:lstStyle/>
          <a:p>
            <a:pPr algn="r"/>
            <a:r>
              <a:rPr sz="1100" b="1" i="0">
                <a:solidFill>
                  <a:srgbClr val="8F7326"/>
                </a:solidFill>
                <a:latin typeface="Calibri"/>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09728"/>
            <a:ext cx="9144000" cy="548640"/>
          </a:xfrm>
          <a:prstGeom prst="rect">
            <a:avLst/>
          </a:prstGeom>
          <a:noFill/>
        </p:spPr>
        <p:txBody>
          <a:bodyPr wrap="square">
            <a:spAutoFit/>
          </a:bodyPr>
          <a:lstStyle/>
          <a:p>
            <a:pPr algn="l"/>
            <a:r>
              <a:rPr sz="2800" b="1" i="0">
                <a:solidFill>
                  <a:srgbClr val="FFFFFF"/>
                </a:solidFill>
                <a:latin typeface="Calibri"/>
              </a:rPr>
              <a:t>The Problem</a:t>
            </a:r>
          </a:p>
        </p:txBody>
      </p:sp>
      <p:sp>
        <p:nvSpPr>
          <p:cNvPr id="6" name="TextBox 5"/>
          <p:cNvSpPr txBox="1"/>
          <p:nvPr/>
        </p:nvSpPr>
        <p:spPr>
          <a:xfrm>
            <a:off x="182880" y="658368"/>
            <a:ext cx="9144000" cy="320040"/>
          </a:xfrm>
          <a:prstGeom prst="rect">
            <a:avLst/>
          </a:prstGeom>
          <a:noFill/>
        </p:spPr>
        <p:txBody>
          <a:bodyPr wrap="square">
            <a:spAutoFit/>
          </a:bodyPr>
          <a:lstStyle/>
          <a:p>
            <a:pPr algn="l"/>
            <a:r>
              <a:rPr sz="1300" b="0" i="0">
                <a:solidFill>
                  <a:srgbClr val="0091DA"/>
                </a:solidFill>
                <a:latin typeface="Calibri"/>
              </a:rPr>
              <a:t>What SAP Cannot Tell You</a:t>
            </a:r>
          </a:p>
        </p:txBody>
      </p:sp>
      <p:sp>
        <p:nvSpPr>
          <p:cNvPr id="7" name="Rectangle 6"/>
          <p:cNvSpPr/>
          <p:nvPr/>
        </p:nvSpPr>
        <p:spPr>
          <a:xfrm>
            <a:off x="0" y="6492240"/>
            <a:ext cx="12188952"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9144000" cy="274320"/>
          </a:xfrm>
          <a:prstGeom prst="rect">
            <a:avLst/>
          </a:prstGeom>
          <a:noFill/>
        </p:spPr>
        <p:txBody>
          <a:bodyPr wrap="square">
            <a:spAutoFit/>
          </a:bodyPr>
          <a:lstStyle/>
          <a:p>
            <a:pPr algn="l"/>
            <a:r>
              <a:rPr sz="800" b="0" i="0">
                <a:solidFill>
                  <a:srgbClr val="B0C4DE"/>
                </a:solidFill>
                <a:latin typeface="Calibri"/>
              </a:rPr>
              <a:t>KPMG India — IntelliSource | P2P Intelligence &amp; Analytics Platform</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800" b="1" i="0">
                <a:solidFill>
                  <a:srgbClr val="8F7326"/>
                </a:solidFill>
                <a:latin typeface="Calibri"/>
              </a:rPr>
              <a:t>CONFIDENTIAL</a:t>
            </a:r>
          </a:p>
        </p:txBody>
      </p:sp>
      <p:sp>
        <p:nvSpPr>
          <p:cNvPr id="10" name="TextBox 9"/>
          <p:cNvSpPr txBox="1"/>
          <p:nvPr/>
        </p:nvSpPr>
        <p:spPr>
          <a:xfrm>
            <a:off x="274320" y="1143000"/>
            <a:ext cx="11430000" cy="457200"/>
          </a:xfrm>
          <a:prstGeom prst="rect">
            <a:avLst/>
          </a:prstGeom>
          <a:noFill/>
        </p:spPr>
        <p:txBody>
          <a:bodyPr wrap="square">
            <a:spAutoFit/>
          </a:bodyPr>
          <a:lstStyle/>
          <a:p>
            <a:pPr algn="l"/>
            <a:r>
              <a:rPr sz="1600" b="1" i="0">
                <a:solidFill>
                  <a:srgbClr val="00338D"/>
                </a:solidFill>
                <a:latin typeface="Calibri"/>
              </a:rPr>
              <a:t>SAP records every transaction. It does not tell you what went wrong.</a:t>
            </a:r>
          </a:p>
        </p:txBody>
      </p:sp>
      <p:sp>
        <p:nvSpPr>
          <p:cNvPr id="11" name="Rectangle 10"/>
          <p:cNvSpPr/>
          <p:nvPr/>
        </p:nvSpPr>
        <p:spPr>
          <a:xfrm>
            <a:off x="182880" y="1691640"/>
            <a:ext cx="11795760" cy="27432"/>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1828800"/>
            <a:ext cx="3749039" cy="1417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828800"/>
            <a:ext cx="3749039" cy="73152"/>
          </a:xfrm>
          <a:prstGeom prst="rect">
            <a:avLst/>
          </a:prstGeom>
          <a:solidFill>
            <a:srgbClr val="BC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1938528"/>
            <a:ext cx="3566160" cy="411480"/>
          </a:xfrm>
          <a:prstGeom prst="rect">
            <a:avLst/>
          </a:prstGeom>
          <a:noFill/>
        </p:spPr>
        <p:txBody>
          <a:bodyPr wrap="square">
            <a:spAutoFit/>
          </a:bodyPr>
          <a:lstStyle/>
          <a:p>
            <a:pPr algn="l"/>
            <a:r>
              <a:rPr sz="1200" b="1" i="0">
                <a:solidFill>
                  <a:srgbClr val="BC204B"/>
                </a:solidFill>
                <a:latin typeface="Calibri"/>
              </a:rPr>
              <a:t>🔍  No Cross-Document Visibility</a:t>
            </a:r>
          </a:p>
        </p:txBody>
      </p:sp>
      <p:sp>
        <p:nvSpPr>
          <p:cNvPr id="15" name="TextBox 14"/>
          <p:cNvSpPr txBox="1"/>
          <p:nvPr/>
        </p:nvSpPr>
        <p:spPr>
          <a:xfrm>
            <a:off x="274320" y="2331720"/>
            <a:ext cx="3566160" cy="822960"/>
          </a:xfrm>
          <a:prstGeom prst="rect">
            <a:avLst/>
          </a:prstGeom>
          <a:noFill/>
        </p:spPr>
        <p:txBody>
          <a:bodyPr wrap="square">
            <a:spAutoFit/>
          </a:bodyPr>
          <a:lstStyle/>
          <a:p>
            <a:pPr algn="l"/>
            <a:r>
              <a:rPr sz="1050" b="0" i="0">
                <a:solidFill>
                  <a:srgbClr val="63666A"/>
                </a:solidFill>
                <a:latin typeface="Calibri"/>
              </a:rPr>
              <a:t>SOD conflicts span PO → GRN → Invoice → Payment. SAP stores each in a different module. No standard report joins them. Auditors find these conflicts — you should find them first.</a:t>
            </a:r>
          </a:p>
        </p:txBody>
      </p:sp>
      <p:sp>
        <p:nvSpPr>
          <p:cNvPr id="16" name="Rectangle 15"/>
          <p:cNvSpPr/>
          <p:nvPr/>
        </p:nvSpPr>
        <p:spPr>
          <a:xfrm>
            <a:off x="4114800" y="1828800"/>
            <a:ext cx="3749039" cy="1417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0" y="1828800"/>
            <a:ext cx="3749039"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1938528"/>
            <a:ext cx="3566160" cy="411480"/>
          </a:xfrm>
          <a:prstGeom prst="rect">
            <a:avLst/>
          </a:prstGeom>
          <a:noFill/>
        </p:spPr>
        <p:txBody>
          <a:bodyPr wrap="square">
            <a:spAutoFit/>
          </a:bodyPr>
          <a:lstStyle/>
          <a:p>
            <a:pPr algn="l"/>
            <a:r>
              <a:rPr sz="1200" b="1" i="0">
                <a:solidFill>
                  <a:srgbClr val="FF6B00"/>
                </a:solidFill>
                <a:latin typeface="Calibri"/>
              </a:rPr>
              <a:t>📊  No Real-Time Governance Metrics</a:t>
            </a:r>
          </a:p>
        </p:txBody>
      </p:sp>
      <p:sp>
        <p:nvSpPr>
          <p:cNvPr id="19" name="TextBox 18"/>
          <p:cNvSpPr txBox="1"/>
          <p:nvPr/>
        </p:nvSpPr>
        <p:spPr>
          <a:xfrm>
            <a:off x="4206240" y="2331720"/>
            <a:ext cx="3566160" cy="822960"/>
          </a:xfrm>
          <a:prstGeom prst="rect">
            <a:avLst/>
          </a:prstGeom>
          <a:noFill/>
        </p:spPr>
        <p:txBody>
          <a:bodyPr wrap="square">
            <a:spAutoFit/>
          </a:bodyPr>
          <a:lstStyle/>
          <a:p>
            <a:pPr algn="l"/>
            <a:r>
              <a:rPr sz="1050" b="0" i="0">
                <a:solidFill>
                  <a:srgbClr val="63666A"/>
                </a:solidFill>
                <a:latin typeface="Calibri"/>
              </a:rPr>
              <a:t>Maverick spend, duplicate invoices, CAPEX vs. OPEX split, payment before GRN — each requires a separate transaction, a manual export, and an analyst with Excel.</a:t>
            </a:r>
          </a:p>
        </p:txBody>
      </p:sp>
      <p:sp>
        <p:nvSpPr>
          <p:cNvPr id="20" name="Rectangle 19"/>
          <p:cNvSpPr/>
          <p:nvPr/>
        </p:nvSpPr>
        <p:spPr>
          <a:xfrm>
            <a:off x="8046720" y="1828800"/>
            <a:ext cx="3749039" cy="1417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1828800"/>
            <a:ext cx="3749039" cy="73152"/>
          </a:xfrm>
          <a:prstGeom prst="rect">
            <a:avLst/>
          </a:prstGeom>
          <a:solidFill>
            <a:srgbClr val="636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0" y="1938528"/>
            <a:ext cx="3566160" cy="411480"/>
          </a:xfrm>
          <a:prstGeom prst="rect">
            <a:avLst/>
          </a:prstGeom>
          <a:noFill/>
        </p:spPr>
        <p:txBody>
          <a:bodyPr wrap="square">
            <a:spAutoFit/>
          </a:bodyPr>
          <a:lstStyle/>
          <a:p>
            <a:pPr algn="l"/>
            <a:r>
              <a:rPr sz="1200" b="1" i="0">
                <a:solidFill>
                  <a:srgbClr val="63666A"/>
                </a:solidFill>
                <a:latin typeface="Calibri"/>
              </a:rPr>
              <a:t>⏱  Decisions Made on Stale Data</a:t>
            </a:r>
          </a:p>
        </p:txBody>
      </p:sp>
      <p:sp>
        <p:nvSpPr>
          <p:cNvPr id="23" name="TextBox 22"/>
          <p:cNvSpPr txBox="1"/>
          <p:nvPr/>
        </p:nvSpPr>
        <p:spPr>
          <a:xfrm>
            <a:off x="8138160" y="2331720"/>
            <a:ext cx="3566160" cy="822960"/>
          </a:xfrm>
          <a:prstGeom prst="rect">
            <a:avLst/>
          </a:prstGeom>
          <a:noFill/>
        </p:spPr>
        <p:txBody>
          <a:bodyPr wrap="square">
            <a:spAutoFit/>
          </a:bodyPr>
          <a:lstStyle/>
          <a:p>
            <a:pPr algn="l"/>
            <a:r>
              <a:rPr sz="1050" b="0" i="0">
                <a:solidFill>
                  <a:srgbClr val="63666A"/>
                </a:solidFill>
                <a:latin typeface="Calibri"/>
              </a:rPr>
              <a:t>By the time a weekly report is ready, the payment has cleared, the vendor is paid, and the audit finding is already written. Procurement intelligence must be live.</a:t>
            </a:r>
          </a:p>
        </p:txBody>
      </p:sp>
      <p:sp>
        <p:nvSpPr>
          <p:cNvPr id="24" name="Rectangle 23"/>
          <p:cNvSpPr/>
          <p:nvPr/>
        </p:nvSpPr>
        <p:spPr>
          <a:xfrm>
            <a:off x="182880" y="3429000"/>
            <a:ext cx="11795760" cy="6858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3502152"/>
            <a:ext cx="11430000" cy="502920"/>
          </a:xfrm>
          <a:prstGeom prst="rect">
            <a:avLst/>
          </a:prstGeom>
          <a:noFill/>
        </p:spPr>
        <p:txBody>
          <a:bodyPr wrap="square">
            <a:spAutoFit/>
          </a:bodyPr>
          <a:lstStyle/>
          <a:p>
            <a:pPr algn="l"/>
            <a:r>
              <a:rPr sz="1300" b="0" i="1">
                <a:solidFill>
                  <a:srgbClr val="FFFFFF"/>
                </a:solidFill>
                <a:latin typeface="Calibri"/>
              </a:rPr>
              <a:t>One duplicate payment event: ₹5–50 lakhs. One SOD audit finding: ₹20–80 lakhs in remediation. One year of blind spots: priceless.</a:t>
            </a:r>
          </a:p>
        </p:txBody>
      </p:sp>
      <p:sp>
        <p:nvSpPr>
          <p:cNvPr id="26" name="Rectangle 25"/>
          <p:cNvSpPr/>
          <p:nvPr/>
        </p:nvSpPr>
        <p:spPr>
          <a:xfrm>
            <a:off x="182880" y="4206240"/>
            <a:ext cx="5486400" cy="2103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2880" y="4206240"/>
            <a:ext cx="5486400" cy="320040"/>
          </a:xfrm>
          <a:prstGeom prst="rect">
            <a:avLst/>
          </a:prstGeom>
          <a:solidFill>
            <a:srgbClr val="636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4224528"/>
            <a:ext cx="5303520" cy="274320"/>
          </a:xfrm>
          <a:prstGeom prst="rect">
            <a:avLst/>
          </a:prstGeom>
          <a:noFill/>
        </p:spPr>
        <p:txBody>
          <a:bodyPr wrap="square">
            <a:spAutoFit/>
          </a:bodyPr>
          <a:lstStyle/>
          <a:p>
            <a:pPr algn="l"/>
            <a:r>
              <a:rPr sz="900" b="1" i="0">
                <a:solidFill>
                  <a:srgbClr val="FFFFFF"/>
                </a:solidFill>
                <a:latin typeface="Calibri"/>
              </a:rPr>
              <a:t>SAP Transaction: FBL1N — Vendor Line Items</a:t>
            </a:r>
          </a:p>
        </p:txBody>
      </p:sp>
      <p:sp>
        <p:nvSpPr>
          <p:cNvPr id="29" name="TextBox 28"/>
          <p:cNvSpPr txBox="1"/>
          <p:nvPr/>
        </p:nvSpPr>
        <p:spPr>
          <a:xfrm>
            <a:off x="274320" y="4617720"/>
            <a:ext cx="5303520" cy="1645920"/>
          </a:xfrm>
          <a:prstGeom prst="rect">
            <a:avLst/>
          </a:prstGeom>
          <a:noFill/>
        </p:spPr>
        <p:txBody>
          <a:bodyPr wrap="square">
            <a:spAutoFit/>
          </a:bodyPr>
          <a:lstStyle/>
          <a:p>
            <a:pPr algn="l"/>
            <a:r>
              <a:rPr sz="950" b="0" i="1">
                <a:solidFill>
                  <a:srgbClr val="63666A"/>
                </a:solidFill>
                <a:latin typeface="Calibri"/>
              </a:rPr>
              <a:t>[Insert SAP FBL1N screenshot — shows raw vendor line items with no anomaly flags, no duplicate detection, no cross-document context. Analyst must export and manually VLOOKUP against MB51 and ME2M to find issues.]</a:t>
            </a:r>
          </a:p>
        </p:txBody>
      </p:sp>
      <p:sp>
        <p:nvSpPr>
          <p:cNvPr id="30" name="Rectangle 29"/>
          <p:cNvSpPr/>
          <p:nvPr/>
        </p:nvSpPr>
        <p:spPr>
          <a:xfrm>
            <a:off x="5852160" y="4206240"/>
            <a:ext cx="6126480" cy="2103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52160" y="4206240"/>
            <a:ext cx="6126480" cy="32004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0" y="4224528"/>
            <a:ext cx="5943600" cy="274320"/>
          </a:xfrm>
          <a:prstGeom prst="rect">
            <a:avLst/>
          </a:prstGeom>
          <a:noFill/>
        </p:spPr>
        <p:txBody>
          <a:bodyPr wrap="square">
            <a:spAutoFit/>
          </a:bodyPr>
          <a:lstStyle/>
          <a:p>
            <a:pPr algn="l"/>
            <a:r>
              <a:rPr sz="900" b="1" i="0">
                <a:solidFill>
                  <a:srgbClr val="FFFFFF"/>
                </a:solidFill>
                <a:latin typeface="Calibri"/>
              </a:rPr>
              <a:t>IntelliSource — Financial Dashboard: Duplicate Invoice Detection</a:t>
            </a:r>
          </a:p>
        </p:txBody>
      </p:sp>
      <p:sp>
        <p:nvSpPr>
          <p:cNvPr id="33" name="TextBox 32"/>
          <p:cNvSpPr txBox="1"/>
          <p:nvPr/>
        </p:nvSpPr>
        <p:spPr>
          <a:xfrm>
            <a:off x="5943600" y="4617720"/>
            <a:ext cx="5943600" cy="1645920"/>
          </a:xfrm>
          <a:prstGeom prst="rect">
            <a:avLst/>
          </a:prstGeom>
          <a:noFill/>
        </p:spPr>
        <p:txBody>
          <a:bodyPr wrap="square">
            <a:spAutoFit/>
          </a:bodyPr>
          <a:lstStyle/>
          <a:p>
            <a:pPr algn="l"/>
            <a:r>
              <a:rPr sz="950" b="0" i="1">
                <a:solidFill>
                  <a:srgbClr val="00338D"/>
                </a:solidFill>
                <a:latin typeface="Calibri"/>
              </a:rPr>
              <a:t>[Insert IntelliSource Financial Dashboard screenshot — shows Duplicate Invoice Rate KPI card, live count, and drill-down table with vendor, invoice ref, amount, and duplicate count — no manual work required.]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09728"/>
            <a:ext cx="9144000" cy="548640"/>
          </a:xfrm>
          <a:prstGeom prst="rect">
            <a:avLst/>
          </a:prstGeom>
          <a:noFill/>
        </p:spPr>
        <p:txBody>
          <a:bodyPr wrap="square">
            <a:spAutoFit/>
          </a:bodyPr>
          <a:lstStyle/>
          <a:p>
            <a:pPr algn="l"/>
            <a:r>
              <a:rPr sz="2800" b="1" i="0">
                <a:solidFill>
                  <a:srgbClr val="FFFFFF"/>
                </a:solidFill>
                <a:latin typeface="Calibri"/>
              </a:rPr>
              <a:t>SAP vs IntelliSource</a:t>
            </a:r>
          </a:p>
        </p:txBody>
      </p:sp>
      <p:sp>
        <p:nvSpPr>
          <p:cNvPr id="6" name="TextBox 5"/>
          <p:cNvSpPr txBox="1"/>
          <p:nvPr/>
        </p:nvSpPr>
        <p:spPr>
          <a:xfrm>
            <a:off x="182880" y="658368"/>
            <a:ext cx="9144000" cy="320040"/>
          </a:xfrm>
          <a:prstGeom prst="rect">
            <a:avLst/>
          </a:prstGeom>
          <a:noFill/>
        </p:spPr>
        <p:txBody>
          <a:bodyPr wrap="square">
            <a:spAutoFit/>
          </a:bodyPr>
          <a:lstStyle/>
          <a:p>
            <a:pPr algn="l"/>
            <a:r>
              <a:rPr sz="1300" b="0" i="0">
                <a:solidFill>
                  <a:srgbClr val="0091DA"/>
                </a:solidFill>
                <a:latin typeface="Calibri"/>
              </a:rPr>
              <a:t>Where IntelliSource Fills the Gap</a:t>
            </a:r>
          </a:p>
        </p:txBody>
      </p:sp>
      <p:sp>
        <p:nvSpPr>
          <p:cNvPr id="7" name="Rectangle 6"/>
          <p:cNvSpPr/>
          <p:nvPr/>
        </p:nvSpPr>
        <p:spPr>
          <a:xfrm>
            <a:off x="0" y="6492240"/>
            <a:ext cx="12188952"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9144000" cy="274320"/>
          </a:xfrm>
          <a:prstGeom prst="rect">
            <a:avLst/>
          </a:prstGeom>
          <a:noFill/>
        </p:spPr>
        <p:txBody>
          <a:bodyPr wrap="square">
            <a:spAutoFit/>
          </a:bodyPr>
          <a:lstStyle/>
          <a:p>
            <a:pPr algn="l"/>
            <a:r>
              <a:rPr sz="800" b="0" i="0">
                <a:solidFill>
                  <a:srgbClr val="B0C4DE"/>
                </a:solidFill>
                <a:latin typeface="Calibri"/>
              </a:rPr>
              <a:t>KPMG India — IntelliSource | P2P Intelligence &amp; Analytics Platform</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800" b="1" i="0">
                <a:solidFill>
                  <a:srgbClr val="8F7326"/>
                </a:solidFill>
                <a:latin typeface="Calibri"/>
              </a:rPr>
              <a:t>CONFIDENTIAL</a:t>
            </a:r>
          </a:p>
        </p:txBody>
      </p:sp>
      <p:sp>
        <p:nvSpPr>
          <p:cNvPr id="10" name="Rectangle 9"/>
          <p:cNvSpPr/>
          <p:nvPr/>
        </p:nvSpPr>
        <p:spPr>
          <a:xfrm>
            <a:off x="182880" y="1143000"/>
            <a:ext cx="5760720" cy="5029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 y="1143000"/>
            <a:ext cx="5760720" cy="457200"/>
          </a:xfrm>
          <a:prstGeom prst="rect">
            <a:avLst/>
          </a:prstGeom>
          <a:solidFill>
            <a:srgbClr val="636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1207008"/>
            <a:ext cx="5577840" cy="347472"/>
          </a:xfrm>
          <a:prstGeom prst="rect">
            <a:avLst/>
          </a:prstGeom>
          <a:noFill/>
        </p:spPr>
        <p:txBody>
          <a:bodyPr wrap="square">
            <a:spAutoFit/>
          </a:bodyPr>
          <a:lstStyle/>
          <a:p>
            <a:pPr algn="l"/>
            <a:r>
              <a:rPr sz="1300" b="1" i="0">
                <a:solidFill>
                  <a:srgbClr val="FFFFFF"/>
                </a:solidFill>
                <a:latin typeface="Calibri"/>
              </a:rPr>
              <a:t>🔴  SAP Standard  —  What You Get Today</a:t>
            </a:r>
          </a:p>
        </p:txBody>
      </p:sp>
      <p:sp>
        <p:nvSpPr>
          <p:cNvPr id="13" name="Rectangle 12"/>
          <p:cNvSpPr/>
          <p:nvPr/>
        </p:nvSpPr>
        <p:spPr>
          <a:xfrm>
            <a:off x="320040" y="1691640"/>
            <a:ext cx="54864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040" y="1691640"/>
            <a:ext cx="5486400" cy="256032"/>
          </a:xfrm>
          <a:prstGeom prst="rect">
            <a:avLst/>
          </a:prstGeom>
          <a:solidFill>
            <a:srgbClr val="636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709928"/>
            <a:ext cx="5303520" cy="228600"/>
          </a:xfrm>
          <a:prstGeom prst="rect">
            <a:avLst/>
          </a:prstGeom>
          <a:noFill/>
        </p:spPr>
        <p:txBody>
          <a:bodyPr wrap="square">
            <a:spAutoFit/>
          </a:bodyPr>
          <a:lstStyle/>
          <a:p>
            <a:pPr algn="l"/>
            <a:r>
              <a:rPr sz="750" b="1" i="0">
                <a:solidFill>
                  <a:srgbClr val="FFFFFF"/>
                </a:solidFill>
                <a:latin typeface="Calibri"/>
              </a:rPr>
              <a:t>SAP — ME2M (Purchase Orders) + MB51 (GRN) — Separate Transactions</a:t>
            </a:r>
          </a:p>
        </p:txBody>
      </p:sp>
      <p:sp>
        <p:nvSpPr>
          <p:cNvPr id="16" name="TextBox 15"/>
          <p:cNvSpPr txBox="1"/>
          <p:nvPr/>
        </p:nvSpPr>
        <p:spPr>
          <a:xfrm>
            <a:off x="411480" y="2011680"/>
            <a:ext cx="5303520" cy="1508760"/>
          </a:xfrm>
          <a:prstGeom prst="rect">
            <a:avLst/>
          </a:prstGeom>
          <a:noFill/>
        </p:spPr>
        <p:txBody>
          <a:bodyPr wrap="square">
            <a:spAutoFit/>
          </a:bodyPr>
          <a:lstStyle/>
          <a:p>
            <a:pPr algn="l"/>
            <a:r>
              <a:rPr sz="900" b="0" i="1">
                <a:solidFill>
                  <a:srgbClr val="63666A"/>
                </a:solidFill>
                <a:latin typeface="Calibri"/>
              </a:rPr>
              <a:t>[Insert side-by-side SAP ME2M and MB51 transaction screenshots]
Each transaction is siloed. To answer 'Did the same person create this PO and post the GRN?' — an analyst must download both reports, match on PO number, and compare created_by fields manually. No real-time view. No alert. No audit trail.</a:t>
            </a:r>
          </a:p>
        </p:txBody>
      </p:sp>
      <p:sp>
        <p:nvSpPr>
          <p:cNvPr id="17" name="TextBox 16"/>
          <p:cNvSpPr txBox="1"/>
          <p:nvPr/>
        </p:nvSpPr>
        <p:spPr>
          <a:xfrm>
            <a:off x="320040" y="3749040"/>
            <a:ext cx="5486400" cy="274320"/>
          </a:xfrm>
          <a:prstGeom prst="rect">
            <a:avLst/>
          </a:prstGeom>
          <a:noFill/>
        </p:spPr>
        <p:txBody>
          <a:bodyPr wrap="square">
            <a:spAutoFit/>
          </a:bodyPr>
          <a:lstStyle/>
          <a:p>
            <a:pPr algn="l"/>
            <a:r>
              <a:rPr sz="1050" b="0" i="0">
                <a:solidFill>
                  <a:srgbClr val="BC204B"/>
                </a:solidFill>
                <a:latin typeface="Calibri"/>
              </a:rPr>
              <a:t>✕  6–8 transaction codes to see full P2P picture</a:t>
            </a:r>
          </a:p>
        </p:txBody>
      </p:sp>
      <p:sp>
        <p:nvSpPr>
          <p:cNvPr id="18" name="TextBox 17"/>
          <p:cNvSpPr txBox="1"/>
          <p:nvPr/>
        </p:nvSpPr>
        <p:spPr>
          <a:xfrm>
            <a:off x="320040" y="4032504"/>
            <a:ext cx="5486400" cy="274320"/>
          </a:xfrm>
          <a:prstGeom prst="rect">
            <a:avLst/>
          </a:prstGeom>
          <a:noFill/>
        </p:spPr>
        <p:txBody>
          <a:bodyPr wrap="square">
            <a:spAutoFit/>
          </a:bodyPr>
          <a:lstStyle/>
          <a:p>
            <a:pPr algn="l"/>
            <a:r>
              <a:rPr sz="1050" b="0" i="0">
                <a:solidFill>
                  <a:srgbClr val="BC204B"/>
                </a:solidFill>
                <a:latin typeface="Calibri"/>
              </a:rPr>
              <a:t>✕  No cross-document creator comparison</a:t>
            </a:r>
          </a:p>
        </p:txBody>
      </p:sp>
      <p:sp>
        <p:nvSpPr>
          <p:cNvPr id="19" name="TextBox 18"/>
          <p:cNvSpPr txBox="1"/>
          <p:nvPr/>
        </p:nvSpPr>
        <p:spPr>
          <a:xfrm>
            <a:off x="320040" y="4315968"/>
            <a:ext cx="5486400" cy="274320"/>
          </a:xfrm>
          <a:prstGeom prst="rect">
            <a:avLst/>
          </a:prstGeom>
          <a:noFill/>
        </p:spPr>
        <p:txBody>
          <a:bodyPr wrap="square">
            <a:spAutoFit/>
          </a:bodyPr>
          <a:lstStyle/>
          <a:p>
            <a:pPr algn="l"/>
            <a:r>
              <a:rPr sz="1050" b="0" i="0">
                <a:solidFill>
                  <a:srgbClr val="BC204B"/>
                </a:solidFill>
                <a:latin typeface="Calibri"/>
              </a:rPr>
              <a:t>✕  Maverick spend requires ME2M + VLOOKUP on PR list</a:t>
            </a:r>
          </a:p>
        </p:txBody>
      </p:sp>
      <p:sp>
        <p:nvSpPr>
          <p:cNvPr id="20" name="TextBox 19"/>
          <p:cNvSpPr txBox="1"/>
          <p:nvPr/>
        </p:nvSpPr>
        <p:spPr>
          <a:xfrm>
            <a:off x="320040" y="4599432"/>
            <a:ext cx="5486400" cy="274320"/>
          </a:xfrm>
          <a:prstGeom prst="rect">
            <a:avLst/>
          </a:prstGeom>
          <a:noFill/>
        </p:spPr>
        <p:txBody>
          <a:bodyPr wrap="square">
            <a:spAutoFit/>
          </a:bodyPr>
          <a:lstStyle/>
          <a:p>
            <a:pPr algn="l"/>
            <a:r>
              <a:rPr sz="1050" b="0" i="0">
                <a:solidFill>
                  <a:srgbClr val="BC204B"/>
                </a:solidFill>
                <a:latin typeface="Calibri"/>
              </a:rPr>
              <a:t>✕  Duplicate invoices: no standard detection</a:t>
            </a:r>
          </a:p>
        </p:txBody>
      </p:sp>
      <p:sp>
        <p:nvSpPr>
          <p:cNvPr id="21" name="TextBox 20"/>
          <p:cNvSpPr txBox="1"/>
          <p:nvPr/>
        </p:nvSpPr>
        <p:spPr>
          <a:xfrm>
            <a:off x="320040" y="4882896"/>
            <a:ext cx="5486400" cy="274320"/>
          </a:xfrm>
          <a:prstGeom prst="rect">
            <a:avLst/>
          </a:prstGeom>
          <a:noFill/>
        </p:spPr>
        <p:txBody>
          <a:bodyPr wrap="square">
            <a:spAutoFit/>
          </a:bodyPr>
          <a:lstStyle/>
          <a:p>
            <a:pPr algn="l"/>
            <a:r>
              <a:rPr sz="1050" b="0" i="0">
                <a:solidFill>
                  <a:srgbClr val="BC204B"/>
                </a:solidFill>
                <a:latin typeface="Calibri"/>
              </a:rPr>
              <a:t>✕  CAPEX/OPEX split: manual material group export</a:t>
            </a:r>
          </a:p>
        </p:txBody>
      </p:sp>
      <p:sp>
        <p:nvSpPr>
          <p:cNvPr id="22" name="TextBox 21"/>
          <p:cNvSpPr txBox="1"/>
          <p:nvPr/>
        </p:nvSpPr>
        <p:spPr>
          <a:xfrm>
            <a:off x="320040" y="5166360"/>
            <a:ext cx="5486400" cy="274320"/>
          </a:xfrm>
          <a:prstGeom prst="rect">
            <a:avLst/>
          </a:prstGeom>
          <a:noFill/>
        </p:spPr>
        <p:txBody>
          <a:bodyPr wrap="square">
            <a:spAutoFit/>
          </a:bodyPr>
          <a:lstStyle/>
          <a:p>
            <a:pPr algn="l"/>
            <a:r>
              <a:rPr sz="1050" b="0" i="0">
                <a:solidFill>
                  <a:srgbClr val="BC204B"/>
                </a:solidFill>
                <a:latin typeface="Calibri"/>
              </a:rPr>
              <a:t>✕  SOD conflicts: not natively computed anywhere</a:t>
            </a:r>
          </a:p>
        </p:txBody>
      </p:sp>
      <p:sp>
        <p:nvSpPr>
          <p:cNvPr id="23" name="TextBox 22"/>
          <p:cNvSpPr txBox="1"/>
          <p:nvPr/>
        </p:nvSpPr>
        <p:spPr>
          <a:xfrm>
            <a:off x="320040" y="5449824"/>
            <a:ext cx="5486400" cy="274320"/>
          </a:xfrm>
          <a:prstGeom prst="rect">
            <a:avLst/>
          </a:prstGeom>
          <a:noFill/>
        </p:spPr>
        <p:txBody>
          <a:bodyPr wrap="square">
            <a:spAutoFit/>
          </a:bodyPr>
          <a:lstStyle/>
          <a:p>
            <a:pPr algn="l"/>
            <a:r>
              <a:rPr sz="1050" b="0" i="0">
                <a:solidFill>
                  <a:srgbClr val="BC204B"/>
                </a:solidFill>
                <a:latin typeface="Calibri"/>
              </a:rPr>
              <a:t>✕  Data is stale — batch jobs, not live</a:t>
            </a:r>
          </a:p>
        </p:txBody>
      </p:sp>
      <p:sp>
        <p:nvSpPr>
          <p:cNvPr id="24" name="Rectangle 23"/>
          <p:cNvSpPr/>
          <p:nvPr/>
        </p:nvSpPr>
        <p:spPr>
          <a:xfrm>
            <a:off x="6172200" y="1143000"/>
            <a:ext cx="5760720" cy="50292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1143000"/>
            <a:ext cx="5760720"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40" y="1207008"/>
            <a:ext cx="5577840" cy="347472"/>
          </a:xfrm>
          <a:prstGeom prst="rect">
            <a:avLst/>
          </a:prstGeom>
          <a:noFill/>
        </p:spPr>
        <p:txBody>
          <a:bodyPr wrap="square">
            <a:spAutoFit/>
          </a:bodyPr>
          <a:lstStyle/>
          <a:p>
            <a:pPr algn="l"/>
            <a:r>
              <a:rPr sz="1300" b="1" i="0">
                <a:solidFill>
                  <a:srgbClr val="FFFFFF"/>
                </a:solidFill>
                <a:latin typeface="Calibri"/>
              </a:rPr>
              <a:t>🟢  IntelliSource  —  What You Get Now</a:t>
            </a:r>
          </a:p>
        </p:txBody>
      </p:sp>
      <p:sp>
        <p:nvSpPr>
          <p:cNvPr id="27" name="Rectangle 26"/>
          <p:cNvSpPr/>
          <p:nvPr/>
        </p:nvSpPr>
        <p:spPr>
          <a:xfrm>
            <a:off x="6309360" y="1691640"/>
            <a:ext cx="5486400" cy="1920240"/>
          </a:xfrm>
          <a:prstGeom prst="rect">
            <a:avLst/>
          </a:prstGeom>
          <a:solidFill>
            <a:srgbClr val="0D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0" y="1691640"/>
            <a:ext cx="5486400" cy="256032"/>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1709928"/>
            <a:ext cx="5303520" cy="228600"/>
          </a:xfrm>
          <a:prstGeom prst="rect">
            <a:avLst/>
          </a:prstGeom>
          <a:noFill/>
        </p:spPr>
        <p:txBody>
          <a:bodyPr wrap="square">
            <a:spAutoFit/>
          </a:bodyPr>
          <a:lstStyle/>
          <a:p>
            <a:pPr algn="l"/>
            <a:r>
              <a:rPr sz="750" b="1" i="0">
                <a:solidFill>
                  <a:srgbClr val="FFFFFF"/>
                </a:solidFill>
                <a:latin typeface="Calibri"/>
              </a:rPr>
              <a:t>IntelliSource — Leadership Dashboard (SOD Conflicts + Risk Panel)</a:t>
            </a:r>
          </a:p>
        </p:txBody>
      </p:sp>
      <p:sp>
        <p:nvSpPr>
          <p:cNvPr id="30" name="TextBox 29"/>
          <p:cNvSpPr txBox="1"/>
          <p:nvPr/>
        </p:nvSpPr>
        <p:spPr>
          <a:xfrm>
            <a:off x="6400800" y="2011680"/>
            <a:ext cx="5303520" cy="1508760"/>
          </a:xfrm>
          <a:prstGeom prst="rect">
            <a:avLst/>
          </a:prstGeom>
          <a:noFill/>
        </p:spPr>
        <p:txBody>
          <a:bodyPr wrap="square">
            <a:spAutoFit/>
          </a:bodyPr>
          <a:lstStyle/>
          <a:p>
            <a:pPr algn="l"/>
            <a:r>
              <a:rPr sz="900" b="0" i="1">
                <a:solidFill>
                  <a:srgbClr val="0091DA"/>
                </a:solidFill>
                <a:latin typeface="Calibri"/>
              </a:rPr>
              <a:t>[Insert IntelliSource Leadership Dashboard screenshot]
SOD Conflicts: 187 shown as live KPI. Hover → popup shows all conflicts by type (PO-Release, PO-GRN, GRN-Invoice, Invoice-Payment) with document numbers, vendor names, and users — updated the moment data is uploaded.</a:t>
            </a:r>
          </a:p>
        </p:txBody>
      </p:sp>
      <p:sp>
        <p:nvSpPr>
          <p:cNvPr id="31" name="TextBox 30"/>
          <p:cNvSpPr txBox="1"/>
          <p:nvPr/>
        </p:nvSpPr>
        <p:spPr>
          <a:xfrm>
            <a:off x="6309360" y="3749040"/>
            <a:ext cx="5486400" cy="274320"/>
          </a:xfrm>
          <a:prstGeom prst="rect">
            <a:avLst/>
          </a:prstGeom>
          <a:noFill/>
        </p:spPr>
        <p:txBody>
          <a:bodyPr wrap="square">
            <a:spAutoFit/>
          </a:bodyPr>
          <a:lstStyle/>
          <a:p>
            <a:pPr algn="l"/>
            <a:r>
              <a:rPr sz="1050" b="0" i="0">
                <a:solidFill>
                  <a:srgbClr val="0091DA"/>
                </a:solidFill>
                <a:latin typeface="Calibri"/>
              </a:rPr>
              <a:t>✓  5 role-specific dashboards — one upload, all metrics live</a:t>
            </a:r>
          </a:p>
        </p:txBody>
      </p:sp>
      <p:sp>
        <p:nvSpPr>
          <p:cNvPr id="32" name="TextBox 31"/>
          <p:cNvSpPr txBox="1"/>
          <p:nvPr/>
        </p:nvSpPr>
        <p:spPr>
          <a:xfrm>
            <a:off x="6309360" y="4032504"/>
            <a:ext cx="5486400" cy="274320"/>
          </a:xfrm>
          <a:prstGeom prst="rect">
            <a:avLst/>
          </a:prstGeom>
          <a:noFill/>
        </p:spPr>
        <p:txBody>
          <a:bodyPr wrap="square">
            <a:spAutoFit/>
          </a:bodyPr>
          <a:lstStyle/>
          <a:p>
            <a:pPr algn="l"/>
            <a:r>
              <a:rPr sz="1050" b="0" i="0">
                <a:solidFill>
                  <a:srgbClr val="0091DA"/>
                </a:solidFill>
                <a:latin typeface="Calibri"/>
              </a:rPr>
              <a:t>✓  SOD conflict detection across all 4 P2P control points</a:t>
            </a:r>
          </a:p>
        </p:txBody>
      </p:sp>
      <p:sp>
        <p:nvSpPr>
          <p:cNvPr id="33" name="TextBox 32"/>
          <p:cNvSpPr txBox="1"/>
          <p:nvPr/>
        </p:nvSpPr>
        <p:spPr>
          <a:xfrm>
            <a:off x="6309360" y="4315968"/>
            <a:ext cx="5486400" cy="274320"/>
          </a:xfrm>
          <a:prstGeom prst="rect">
            <a:avLst/>
          </a:prstGeom>
          <a:noFill/>
        </p:spPr>
        <p:txBody>
          <a:bodyPr wrap="square">
            <a:spAutoFit/>
          </a:bodyPr>
          <a:lstStyle/>
          <a:p>
            <a:pPr algn="l"/>
            <a:r>
              <a:rPr sz="1050" b="0" i="0">
                <a:solidFill>
                  <a:srgbClr val="0091DA"/>
                </a:solidFill>
                <a:latin typeface="Calibri"/>
              </a:rPr>
              <a:t>✓  Maverick spend auto-flagged from PO data (no VLOOKUP)</a:t>
            </a:r>
          </a:p>
        </p:txBody>
      </p:sp>
      <p:sp>
        <p:nvSpPr>
          <p:cNvPr id="34" name="TextBox 33"/>
          <p:cNvSpPr txBox="1"/>
          <p:nvPr/>
        </p:nvSpPr>
        <p:spPr>
          <a:xfrm>
            <a:off x="6309360" y="4599432"/>
            <a:ext cx="5486400" cy="274320"/>
          </a:xfrm>
          <a:prstGeom prst="rect">
            <a:avLst/>
          </a:prstGeom>
          <a:noFill/>
        </p:spPr>
        <p:txBody>
          <a:bodyPr wrap="square">
            <a:spAutoFit/>
          </a:bodyPr>
          <a:lstStyle/>
          <a:p>
            <a:pPr algn="l"/>
            <a:r>
              <a:rPr sz="1050" b="0" i="0">
                <a:solidFill>
                  <a:srgbClr val="0091DA"/>
                </a:solidFill>
                <a:latin typeface="Calibri"/>
              </a:rPr>
              <a:t>✓  Duplicate invoice detection before payment clears</a:t>
            </a:r>
          </a:p>
        </p:txBody>
      </p:sp>
      <p:sp>
        <p:nvSpPr>
          <p:cNvPr id="35" name="TextBox 34"/>
          <p:cNvSpPr txBox="1"/>
          <p:nvPr/>
        </p:nvSpPr>
        <p:spPr>
          <a:xfrm>
            <a:off x="6309360" y="4882896"/>
            <a:ext cx="5486400" cy="274320"/>
          </a:xfrm>
          <a:prstGeom prst="rect">
            <a:avLst/>
          </a:prstGeom>
          <a:noFill/>
        </p:spPr>
        <p:txBody>
          <a:bodyPr wrap="square">
            <a:spAutoFit/>
          </a:bodyPr>
          <a:lstStyle/>
          <a:p>
            <a:pPr algn="l"/>
            <a:r>
              <a:rPr sz="1050" b="0" i="0">
                <a:solidFill>
                  <a:srgbClr val="0091DA"/>
                </a:solidFill>
                <a:latin typeface="Calibri"/>
              </a:rPr>
              <a:t>✓  CAPEX/OPEX: auto-classified, live, drillable to PO line</a:t>
            </a:r>
          </a:p>
        </p:txBody>
      </p:sp>
      <p:sp>
        <p:nvSpPr>
          <p:cNvPr id="36" name="TextBox 35"/>
          <p:cNvSpPr txBox="1"/>
          <p:nvPr/>
        </p:nvSpPr>
        <p:spPr>
          <a:xfrm>
            <a:off x="6309360" y="5166360"/>
            <a:ext cx="5486400" cy="274320"/>
          </a:xfrm>
          <a:prstGeom prst="rect">
            <a:avLst/>
          </a:prstGeom>
          <a:noFill/>
        </p:spPr>
        <p:txBody>
          <a:bodyPr wrap="square">
            <a:spAutoFit/>
          </a:bodyPr>
          <a:lstStyle/>
          <a:p>
            <a:pPr algn="l"/>
            <a:r>
              <a:rPr sz="1050" b="0" i="0">
                <a:solidFill>
                  <a:srgbClr val="0091DA"/>
                </a:solidFill>
                <a:latin typeface="Calibri"/>
              </a:rPr>
              <a:t>✓  P2P cycle time: PR → PO → GRN → Invoice → Payment</a:t>
            </a:r>
          </a:p>
        </p:txBody>
      </p:sp>
      <p:sp>
        <p:nvSpPr>
          <p:cNvPr id="37" name="TextBox 36"/>
          <p:cNvSpPr txBox="1"/>
          <p:nvPr/>
        </p:nvSpPr>
        <p:spPr>
          <a:xfrm>
            <a:off x="6309360" y="5449824"/>
            <a:ext cx="5486400" cy="274320"/>
          </a:xfrm>
          <a:prstGeom prst="rect">
            <a:avLst/>
          </a:prstGeom>
          <a:noFill/>
        </p:spPr>
        <p:txBody>
          <a:bodyPr wrap="square">
            <a:spAutoFit/>
          </a:bodyPr>
          <a:lstStyle/>
          <a:p>
            <a:pPr algn="l"/>
            <a:r>
              <a:rPr sz="1050" b="0" i="0">
                <a:solidFill>
                  <a:srgbClr val="0091DA"/>
                </a:solidFill>
                <a:latin typeface="Calibri"/>
              </a:rPr>
              <a:t>✓  Live — upload once, refresh all in &lt; 90 seconds</a:t>
            </a:r>
          </a:p>
        </p:txBody>
      </p:sp>
      <p:sp>
        <p:nvSpPr>
          <p:cNvPr id="38" name="Rectangle 37"/>
          <p:cNvSpPr/>
          <p:nvPr/>
        </p:nvSpPr>
        <p:spPr>
          <a:xfrm>
            <a:off x="5989320" y="2606040"/>
            <a:ext cx="137160" cy="2560320"/>
          </a:xfrm>
          <a:prstGeom prst="rect">
            <a:avLst/>
          </a:prstGeom>
          <a:solidFill>
            <a:srgbClr val="8F7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16168" y="3749039"/>
            <a:ext cx="320040" cy="365760"/>
          </a:xfrm>
          <a:prstGeom prst="rect">
            <a:avLst/>
          </a:prstGeom>
          <a:noFill/>
        </p:spPr>
        <p:txBody>
          <a:bodyPr wrap="square">
            <a:spAutoFit/>
          </a:bodyPr>
          <a:lstStyle/>
          <a:p>
            <a:pPr algn="ctr"/>
            <a:r>
              <a:rPr sz="1400" b="1" i="0">
                <a:solidFill>
                  <a:srgbClr val="8F7326"/>
                </a:solidFill>
                <a:latin typeface="Calibri"/>
              </a:rPr>
              <a:t>VS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09728"/>
            <a:ext cx="9144000" cy="548640"/>
          </a:xfrm>
          <a:prstGeom prst="rect">
            <a:avLst/>
          </a:prstGeom>
          <a:noFill/>
        </p:spPr>
        <p:txBody>
          <a:bodyPr wrap="square">
            <a:spAutoFit/>
          </a:bodyPr>
          <a:lstStyle/>
          <a:p>
            <a:pPr algn="l"/>
            <a:r>
              <a:rPr sz="2800" b="1" i="0">
                <a:solidFill>
                  <a:srgbClr val="FFFFFF"/>
                </a:solidFill>
                <a:latin typeface="Calibri"/>
              </a:rPr>
              <a:t>Five Dashboards. Every Stakeholder Covered.</a:t>
            </a:r>
          </a:p>
        </p:txBody>
      </p:sp>
      <p:sp>
        <p:nvSpPr>
          <p:cNvPr id="6" name="TextBox 5"/>
          <p:cNvSpPr txBox="1"/>
          <p:nvPr/>
        </p:nvSpPr>
        <p:spPr>
          <a:xfrm>
            <a:off x="182880" y="658368"/>
            <a:ext cx="9144000" cy="320040"/>
          </a:xfrm>
          <a:prstGeom prst="rect">
            <a:avLst/>
          </a:prstGeom>
          <a:noFill/>
        </p:spPr>
        <p:txBody>
          <a:bodyPr wrap="square">
            <a:spAutoFit/>
          </a:bodyPr>
          <a:lstStyle/>
          <a:p>
            <a:pPr algn="l"/>
            <a:r>
              <a:rPr sz="1300" b="0" i="0">
                <a:solidFill>
                  <a:srgbClr val="0091DA"/>
                </a:solidFill>
                <a:latin typeface="Calibri"/>
              </a:rPr>
              <a:t>Live KPIs from SAP Data — No Analyst Required</a:t>
            </a:r>
          </a:p>
        </p:txBody>
      </p:sp>
      <p:sp>
        <p:nvSpPr>
          <p:cNvPr id="7" name="Rectangle 6"/>
          <p:cNvSpPr/>
          <p:nvPr/>
        </p:nvSpPr>
        <p:spPr>
          <a:xfrm>
            <a:off x="0" y="6492240"/>
            <a:ext cx="12188952"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9144000" cy="274320"/>
          </a:xfrm>
          <a:prstGeom prst="rect">
            <a:avLst/>
          </a:prstGeom>
          <a:noFill/>
        </p:spPr>
        <p:txBody>
          <a:bodyPr wrap="square">
            <a:spAutoFit/>
          </a:bodyPr>
          <a:lstStyle/>
          <a:p>
            <a:pPr algn="l"/>
            <a:r>
              <a:rPr sz="800" b="0" i="0">
                <a:solidFill>
                  <a:srgbClr val="B0C4DE"/>
                </a:solidFill>
                <a:latin typeface="Calibri"/>
              </a:rPr>
              <a:t>KPMG India — IntelliSource | P2P Intelligence &amp; Analytics Platform</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800" b="1" i="0">
                <a:solidFill>
                  <a:srgbClr val="8F7326"/>
                </a:solidFill>
                <a:latin typeface="Calibri"/>
              </a:rPr>
              <a:t>CONFIDENTIAL</a:t>
            </a:r>
          </a:p>
        </p:txBody>
      </p:sp>
      <p:sp>
        <p:nvSpPr>
          <p:cNvPr id="10" name="Rectangle 9"/>
          <p:cNvSpPr/>
          <p:nvPr/>
        </p:nvSpPr>
        <p:spPr>
          <a:xfrm>
            <a:off x="182880" y="1188720"/>
            <a:ext cx="2286000" cy="5029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 y="1188720"/>
            <a:ext cx="2286000" cy="50292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261872"/>
            <a:ext cx="2148840" cy="384048"/>
          </a:xfrm>
          <a:prstGeom prst="rect">
            <a:avLst/>
          </a:prstGeom>
          <a:noFill/>
        </p:spPr>
        <p:txBody>
          <a:bodyPr wrap="square">
            <a:spAutoFit/>
          </a:bodyPr>
          <a:lstStyle/>
          <a:p>
            <a:pPr algn="l"/>
            <a:r>
              <a:rPr sz="1500" b="1" i="0">
                <a:solidFill>
                  <a:srgbClr val="FFFFFF"/>
                </a:solidFill>
                <a:latin typeface="Calibri"/>
              </a:rPr>
              <a:t>Procurement</a:t>
            </a:r>
          </a:p>
        </p:txBody>
      </p:sp>
      <p:sp>
        <p:nvSpPr>
          <p:cNvPr id="13" name="Rectangle 12"/>
          <p:cNvSpPr/>
          <p:nvPr/>
        </p:nvSpPr>
        <p:spPr>
          <a:xfrm>
            <a:off x="256032" y="1783080"/>
            <a:ext cx="2139696" cy="27432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1792224"/>
            <a:ext cx="2103120" cy="256032"/>
          </a:xfrm>
          <a:prstGeom prst="rect">
            <a:avLst/>
          </a:prstGeom>
          <a:noFill/>
        </p:spPr>
        <p:txBody>
          <a:bodyPr wrap="square">
            <a:spAutoFit/>
          </a:bodyPr>
          <a:lstStyle/>
          <a:p>
            <a:pPr algn="ctr"/>
            <a:r>
              <a:rPr sz="850" b="1" i="0">
                <a:solidFill>
                  <a:srgbClr val="FFFFFF"/>
                </a:solidFill>
                <a:latin typeface="Calibri"/>
              </a:rPr>
              <a:t>Procurement Manager</a:t>
            </a:r>
          </a:p>
        </p:txBody>
      </p:sp>
      <p:sp>
        <p:nvSpPr>
          <p:cNvPr id="15" name="Rectangle 14"/>
          <p:cNvSpPr/>
          <p:nvPr/>
        </p:nvSpPr>
        <p:spPr>
          <a:xfrm>
            <a:off x="256032" y="2148840"/>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752" y="2176272"/>
            <a:ext cx="2048256" cy="256032"/>
          </a:xfrm>
          <a:prstGeom prst="rect">
            <a:avLst/>
          </a:prstGeom>
          <a:noFill/>
        </p:spPr>
        <p:txBody>
          <a:bodyPr wrap="square">
            <a:spAutoFit/>
          </a:bodyPr>
          <a:lstStyle/>
          <a:p>
            <a:pPr algn="l"/>
            <a:r>
              <a:rPr sz="900" b="0" i="0">
                <a:solidFill>
                  <a:srgbClr val="00338D"/>
                </a:solidFill>
                <a:latin typeface="Calibri"/>
              </a:rPr>
              <a:t>Maverick Spend</a:t>
            </a:r>
          </a:p>
        </p:txBody>
      </p:sp>
      <p:sp>
        <p:nvSpPr>
          <p:cNvPr id="17" name="Rectangle 16"/>
          <p:cNvSpPr/>
          <p:nvPr/>
        </p:nvSpPr>
        <p:spPr>
          <a:xfrm>
            <a:off x="256032" y="2496312"/>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 y="2523744"/>
            <a:ext cx="2048256" cy="256032"/>
          </a:xfrm>
          <a:prstGeom prst="rect">
            <a:avLst/>
          </a:prstGeom>
          <a:noFill/>
        </p:spPr>
        <p:txBody>
          <a:bodyPr wrap="square">
            <a:spAutoFit/>
          </a:bodyPr>
          <a:lstStyle/>
          <a:p>
            <a:pPr algn="l"/>
            <a:r>
              <a:rPr sz="900" b="0" i="0">
                <a:solidFill>
                  <a:srgbClr val="00338D"/>
                </a:solidFill>
                <a:latin typeface="Calibri"/>
              </a:rPr>
              <a:t>PO Cycle Time</a:t>
            </a:r>
          </a:p>
        </p:txBody>
      </p:sp>
      <p:sp>
        <p:nvSpPr>
          <p:cNvPr id="19" name="Rectangle 18"/>
          <p:cNvSpPr/>
          <p:nvPr/>
        </p:nvSpPr>
        <p:spPr>
          <a:xfrm>
            <a:off x="256032" y="2843784"/>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752" y="2871216"/>
            <a:ext cx="2048256" cy="256032"/>
          </a:xfrm>
          <a:prstGeom prst="rect">
            <a:avLst/>
          </a:prstGeom>
          <a:noFill/>
        </p:spPr>
        <p:txBody>
          <a:bodyPr wrap="square">
            <a:spAutoFit/>
          </a:bodyPr>
          <a:lstStyle/>
          <a:p>
            <a:pPr algn="l"/>
            <a:r>
              <a:rPr sz="900" b="0" i="0">
                <a:solidFill>
                  <a:srgbClr val="00338D"/>
                </a:solidFill>
                <a:latin typeface="Calibri"/>
              </a:rPr>
              <a:t>Contract Compliance</a:t>
            </a:r>
          </a:p>
        </p:txBody>
      </p:sp>
      <p:sp>
        <p:nvSpPr>
          <p:cNvPr id="21" name="Rectangle 20"/>
          <p:cNvSpPr/>
          <p:nvPr/>
        </p:nvSpPr>
        <p:spPr>
          <a:xfrm>
            <a:off x="256032" y="3191256"/>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752" y="3218688"/>
            <a:ext cx="2048256" cy="256032"/>
          </a:xfrm>
          <a:prstGeom prst="rect">
            <a:avLst/>
          </a:prstGeom>
          <a:noFill/>
        </p:spPr>
        <p:txBody>
          <a:bodyPr wrap="square">
            <a:spAutoFit/>
          </a:bodyPr>
          <a:lstStyle/>
          <a:p>
            <a:pPr algn="l"/>
            <a:r>
              <a:rPr sz="900" b="0" i="0">
                <a:solidFill>
                  <a:srgbClr val="00338D"/>
                </a:solidFill>
                <a:latin typeface="Calibri"/>
              </a:rPr>
              <a:t>Deletion Alert</a:t>
            </a:r>
          </a:p>
        </p:txBody>
      </p:sp>
      <p:sp>
        <p:nvSpPr>
          <p:cNvPr id="23" name="Rectangle 22"/>
          <p:cNvSpPr/>
          <p:nvPr/>
        </p:nvSpPr>
        <p:spPr>
          <a:xfrm>
            <a:off x="256032" y="3657600"/>
            <a:ext cx="2139696" cy="2331720"/>
          </a:xfrm>
          <a:prstGeom prst="rect">
            <a:avLst/>
          </a:prstGeom>
          <a:solidFill>
            <a:srgbClr val="E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6032" y="4389120"/>
            <a:ext cx="2139696" cy="914400"/>
          </a:xfrm>
          <a:prstGeom prst="rect">
            <a:avLst/>
          </a:prstGeom>
          <a:noFill/>
        </p:spPr>
        <p:txBody>
          <a:bodyPr wrap="square">
            <a:spAutoFit/>
          </a:bodyPr>
          <a:lstStyle/>
          <a:p>
            <a:pPr algn="ctr"/>
            <a:r>
              <a:rPr sz="800" b="0" i="1">
                <a:solidFill>
                  <a:srgbClr val="63666A"/>
                </a:solidFill>
                <a:latin typeface="Calibri"/>
              </a:rPr>
              <a:t>[Insert Procurement
Dashboard
Screenshot]</a:t>
            </a:r>
          </a:p>
        </p:txBody>
      </p:sp>
      <p:sp>
        <p:nvSpPr>
          <p:cNvPr id="25" name="Rectangle 24"/>
          <p:cNvSpPr/>
          <p:nvPr/>
        </p:nvSpPr>
        <p:spPr>
          <a:xfrm>
            <a:off x="2587752" y="1188720"/>
            <a:ext cx="2286000" cy="5029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87752" y="1188720"/>
            <a:ext cx="2286000" cy="50292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60904" y="1261872"/>
            <a:ext cx="2148840" cy="384048"/>
          </a:xfrm>
          <a:prstGeom prst="rect">
            <a:avLst/>
          </a:prstGeom>
          <a:noFill/>
        </p:spPr>
        <p:txBody>
          <a:bodyPr wrap="square">
            <a:spAutoFit/>
          </a:bodyPr>
          <a:lstStyle/>
          <a:p>
            <a:pPr algn="l"/>
            <a:r>
              <a:rPr sz="1500" b="1" i="0">
                <a:solidFill>
                  <a:srgbClr val="FFFFFF"/>
                </a:solidFill>
                <a:latin typeface="Calibri"/>
              </a:rPr>
              <a:t>Financial</a:t>
            </a:r>
          </a:p>
        </p:txBody>
      </p:sp>
      <p:sp>
        <p:nvSpPr>
          <p:cNvPr id="28" name="Rectangle 27"/>
          <p:cNvSpPr/>
          <p:nvPr/>
        </p:nvSpPr>
        <p:spPr>
          <a:xfrm>
            <a:off x="2660904" y="1783080"/>
            <a:ext cx="2139696" cy="27432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79192" y="1792224"/>
            <a:ext cx="2103120" cy="256032"/>
          </a:xfrm>
          <a:prstGeom prst="rect">
            <a:avLst/>
          </a:prstGeom>
          <a:noFill/>
        </p:spPr>
        <p:txBody>
          <a:bodyPr wrap="square">
            <a:spAutoFit/>
          </a:bodyPr>
          <a:lstStyle/>
          <a:p>
            <a:pPr algn="ctr"/>
            <a:r>
              <a:rPr sz="850" b="1" i="0">
                <a:solidFill>
                  <a:srgbClr val="FFFFFF"/>
                </a:solidFill>
                <a:latin typeface="Calibri"/>
              </a:rPr>
              <a:t>Finance Controller</a:t>
            </a:r>
          </a:p>
        </p:txBody>
      </p:sp>
      <p:sp>
        <p:nvSpPr>
          <p:cNvPr id="30" name="Rectangle 29"/>
          <p:cNvSpPr/>
          <p:nvPr/>
        </p:nvSpPr>
        <p:spPr>
          <a:xfrm>
            <a:off x="2660904" y="2148840"/>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06624" y="2176272"/>
            <a:ext cx="2048256" cy="256032"/>
          </a:xfrm>
          <a:prstGeom prst="rect">
            <a:avLst/>
          </a:prstGeom>
          <a:noFill/>
        </p:spPr>
        <p:txBody>
          <a:bodyPr wrap="square">
            <a:spAutoFit/>
          </a:bodyPr>
          <a:lstStyle/>
          <a:p>
            <a:pPr algn="l"/>
            <a:r>
              <a:rPr sz="900" b="0" i="0">
                <a:solidFill>
                  <a:srgbClr val="00338D"/>
                </a:solidFill>
                <a:latin typeface="Calibri"/>
              </a:rPr>
              <a:t>Duplicate Invoices</a:t>
            </a:r>
          </a:p>
        </p:txBody>
      </p:sp>
      <p:sp>
        <p:nvSpPr>
          <p:cNvPr id="32" name="Rectangle 31"/>
          <p:cNvSpPr/>
          <p:nvPr/>
        </p:nvSpPr>
        <p:spPr>
          <a:xfrm>
            <a:off x="2660904" y="2496312"/>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06624" y="2523744"/>
            <a:ext cx="2048256" cy="256032"/>
          </a:xfrm>
          <a:prstGeom prst="rect">
            <a:avLst/>
          </a:prstGeom>
          <a:noFill/>
        </p:spPr>
        <p:txBody>
          <a:bodyPr wrap="square">
            <a:spAutoFit/>
          </a:bodyPr>
          <a:lstStyle/>
          <a:p>
            <a:pPr algn="l"/>
            <a:r>
              <a:rPr sz="900" b="0" i="0">
                <a:solidFill>
                  <a:srgbClr val="00338D"/>
                </a:solidFill>
                <a:latin typeface="Calibri"/>
              </a:rPr>
              <a:t>Invoice Aging</a:t>
            </a:r>
          </a:p>
        </p:txBody>
      </p:sp>
      <p:sp>
        <p:nvSpPr>
          <p:cNvPr id="34" name="Rectangle 33"/>
          <p:cNvSpPr/>
          <p:nvPr/>
        </p:nvSpPr>
        <p:spPr>
          <a:xfrm>
            <a:off x="2660904" y="2843784"/>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06624" y="2871216"/>
            <a:ext cx="2048256" cy="256032"/>
          </a:xfrm>
          <a:prstGeom prst="rect">
            <a:avLst/>
          </a:prstGeom>
          <a:noFill/>
        </p:spPr>
        <p:txBody>
          <a:bodyPr wrap="square">
            <a:spAutoFit/>
          </a:bodyPr>
          <a:lstStyle/>
          <a:p>
            <a:pPr algn="l"/>
            <a:r>
              <a:rPr sz="900" b="0" i="0">
                <a:solidFill>
                  <a:srgbClr val="00338D"/>
                </a:solidFill>
                <a:latin typeface="Calibri"/>
              </a:rPr>
              <a:t>CAPEX/OPEX Split</a:t>
            </a:r>
          </a:p>
        </p:txBody>
      </p:sp>
      <p:sp>
        <p:nvSpPr>
          <p:cNvPr id="36" name="Rectangle 35"/>
          <p:cNvSpPr/>
          <p:nvPr/>
        </p:nvSpPr>
        <p:spPr>
          <a:xfrm>
            <a:off x="2660904" y="3191256"/>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06624" y="3218688"/>
            <a:ext cx="2048256" cy="256032"/>
          </a:xfrm>
          <a:prstGeom prst="rect">
            <a:avLst/>
          </a:prstGeom>
          <a:noFill/>
        </p:spPr>
        <p:txBody>
          <a:bodyPr wrap="square">
            <a:spAutoFit/>
          </a:bodyPr>
          <a:lstStyle/>
          <a:p>
            <a:pPr algn="l"/>
            <a:r>
              <a:rPr sz="900" b="0" i="0">
                <a:solidFill>
                  <a:srgbClr val="00338D"/>
                </a:solidFill>
                <a:latin typeface="Calibri"/>
              </a:rPr>
              <a:t>Overdue AP</a:t>
            </a:r>
          </a:p>
        </p:txBody>
      </p:sp>
      <p:sp>
        <p:nvSpPr>
          <p:cNvPr id="38" name="Rectangle 37"/>
          <p:cNvSpPr/>
          <p:nvPr/>
        </p:nvSpPr>
        <p:spPr>
          <a:xfrm>
            <a:off x="2660904" y="3657600"/>
            <a:ext cx="2139696" cy="2331720"/>
          </a:xfrm>
          <a:prstGeom prst="rect">
            <a:avLst/>
          </a:prstGeom>
          <a:solidFill>
            <a:srgbClr val="E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660904" y="4389120"/>
            <a:ext cx="2139696" cy="914400"/>
          </a:xfrm>
          <a:prstGeom prst="rect">
            <a:avLst/>
          </a:prstGeom>
          <a:noFill/>
        </p:spPr>
        <p:txBody>
          <a:bodyPr wrap="square">
            <a:spAutoFit/>
          </a:bodyPr>
          <a:lstStyle/>
          <a:p>
            <a:pPr algn="ctr"/>
            <a:r>
              <a:rPr sz="800" b="0" i="1">
                <a:solidFill>
                  <a:srgbClr val="63666A"/>
                </a:solidFill>
                <a:latin typeface="Calibri"/>
              </a:rPr>
              <a:t>[Insert Financial
Dashboard
Screenshot]</a:t>
            </a:r>
          </a:p>
        </p:txBody>
      </p:sp>
      <p:sp>
        <p:nvSpPr>
          <p:cNvPr id="40" name="Rectangle 39"/>
          <p:cNvSpPr/>
          <p:nvPr/>
        </p:nvSpPr>
        <p:spPr>
          <a:xfrm>
            <a:off x="4992624" y="1188720"/>
            <a:ext cx="2286000" cy="5029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992624" y="1188720"/>
            <a:ext cx="2286000" cy="502920"/>
          </a:xfrm>
          <a:prstGeom prst="rect">
            <a:avLst/>
          </a:prstGeom>
          <a:solidFill>
            <a:srgbClr val="BC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65776" y="1261872"/>
            <a:ext cx="2148840" cy="384048"/>
          </a:xfrm>
          <a:prstGeom prst="rect">
            <a:avLst/>
          </a:prstGeom>
          <a:noFill/>
        </p:spPr>
        <p:txBody>
          <a:bodyPr wrap="square">
            <a:spAutoFit/>
          </a:bodyPr>
          <a:lstStyle/>
          <a:p>
            <a:pPr algn="l"/>
            <a:r>
              <a:rPr sz="1500" b="1" i="0">
                <a:solidFill>
                  <a:srgbClr val="FFFFFF"/>
                </a:solidFill>
                <a:latin typeface="Calibri"/>
              </a:rPr>
              <a:t>Leadership</a:t>
            </a:r>
          </a:p>
        </p:txBody>
      </p:sp>
      <p:sp>
        <p:nvSpPr>
          <p:cNvPr id="43" name="Rectangle 42"/>
          <p:cNvSpPr/>
          <p:nvPr/>
        </p:nvSpPr>
        <p:spPr>
          <a:xfrm>
            <a:off x="5065776" y="1783080"/>
            <a:ext cx="2139696" cy="274320"/>
          </a:xfrm>
          <a:prstGeom prst="rect">
            <a:avLst/>
          </a:prstGeom>
          <a:solidFill>
            <a:srgbClr val="BC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84064" y="1792224"/>
            <a:ext cx="2103120" cy="256032"/>
          </a:xfrm>
          <a:prstGeom prst="rect">
            <a:avLst/>
          </a:prstGeom>
          <a:noFill/>
        </p:spPr>
        <p:txBody>
          <a:bodyPr wrap="square">
            <a:spAutoFit/>
          </a:bodyPr>
          <a:lstStyle/>
          <a:p>
            <a:pPr algn="ctr"/>
            <a:r>
              <a:rPr sz="850" b="1" i="0">
                <a:solidFill>
                  <a:srgbClr val="FFFFFF"/>
                </a:solidFill>
                <a:latin typeface="Calibri"/>
              </a:rPr>
              <a:t>CFO / CPO / Board</a:t>
            </a:r>
          </a:p>
        </p:txBody>
      </p:sp>
      <p:sp>
        <p:nvSpPr>
          <p:cNvPr id="45" name="Rectangle 44"/>
          <p:cNvSpPr/>
          <p:nvPr/>
        </p:nvSpPr>
        <p:spPr>
          <a:xfrm>
            <a:off x="5065776" y="2148840"/>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1496" y="2176272"/>
            <a:ext cx="2048256" cy="256032"/>
          </a:xfrm>
          <a:prstGeom prst="rect">
            <a:avLst/>
          </a:prstGeom>
          <a:noFill/>
        </p:spPr>
        <p:txBody>
          <a:bodyPr wrap="square">
            <a:spAutoFit/>
          </a:bodyPr>
          <a:lstStyle/>
          <a:p>
            <a:pPr algn="l"/>
            <a:r>
              <a:rPr sz="900" b="0" i="0">
                <a:solidFill>
                  <a:srgbClr val="00338D"/>
                </a:solidFill>
                <a:latin typeface="Calibri"/>
              </a:rPr>
              <a:t>SOD Conflicts</a:t>
            </a:r>
          </a:p>
        </p:txBody>
      </p:sp>
      <p:sp>
        <p:nvSpPr>
          <p:cNvPr id="47" name="Rectangle 46"/>
          <p:cNvSpPr/>
          <p:nvPr/>
        </p:nvSpPr>
        <p:spPr>
          <a:xfrm>
            <a:off x="5065776" y="2496312"/>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11496" y="2523744"/>
            <a:ext cx="2048256" cy="256032"/>
          </a:xfrm>
          <a:prstGeom prst="rect">
            <a:avLst/>
          </a:prstGeom>
          <a:noFill/>
        </p:spPr>
        <p:txBody>
          <a:bodyPr wrap="square">
            <a:spAutoFit/>
          </a:bodyPr>
          <a:lstStyle/>
          <a:p>
            <a:pPr algn="l"/>
            <a:r>
              <a:rPr sz="900" b="0" i="0">
                <a:solidFill>
                  <a:srgbClr val="00338D"/>
                </a:solidFill>
                <a:latin typeface="Calibri"/>
              </a:rPr>
              <a:t>High-Value POs</a:t>
            </a:r>
          </a:p>
        </p:txBody>
      </p:sp>
      <p:sp>
        <p:nvSpPr>
          <p:cNvPr id="49" name="Rectangle 48"/>
          <p:cNvSpPr/>
          <p:nvPr/>
        </p:nvSpPr>
        <p:spPr>
          <a:xfrm>
            <a:off x="5065776" y="2843784"/>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11496" y="2871216"/>
            <a:ext cx="2048256" cy="256032"/>
          </a:xfrm>
          <a:prstGeom prst="rect">
            <a:avLst/>
          </a:prstGeom>
          <a:noFill/>
        </p:spPr>
        <p:txBody>
          <a:bodyPr wrap="square">
            <a:spAutoFit/>
          </a:bodyPr>
          <a:lstStyle/>
          <a:p>
            <a:pPr algn="l"/>
            <a:r>
              <a:rPr sz="900" b="0" i="0">
                <a:solidFill>
                  <a:srgbClr val="00338D"/>
                </a:solidFill>
                <a:latin typeface="Calibri"/>
              </a:rPr>
              <a:t>P2P Cycle Time</a:t>
            </a:r>
          </a:p>
        </p:txBody>
      </p:sp>
      <p:sp>
        <p:nvSpPr>
          <p:cNvPr id="51" name="Rectangle 50"/>
          <p:cNvSpPr/>
          <p:nvPr/>
        </p:nvSpPr>
        <p:spPr>
          <a:xfrm>
            <a:off x="5065776" y="3191256"/>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11496" y="3218688"/>
            <a:ext cx="2048256" cy="256032"/>
          </a:xfrm>
          <a:prstGeom prst="rect">
            <a:avLst/>
          </a:prstGeom>
          <a:noFill/>
        </p:spPr>
        <p:txBody>
          <a:bodyPr wrap="square">
            <a:spAutoFit/>
          </a:bodyPr>
          <a:lstStyle/>
          <a:p>
            <a:pPr algn="l"/>
            <a:r>
              <a:rPr sz="900" b="0" i="0">
                <a:solidFill>
                  <a:srgbClr val="00338D"/>
                </a:solidFill>
                <a:latin typeface="Calibri"/>
              </a:rPr>
              <a:t>Risk Panel</a:t>
            </a:r>
          </a:p>
        </p:txBody>
      </p:sp>
      <p:sp>
        <p:nvSpPr>
          <p:cNvPr id="53" name="Rectangle 52"/>
          <p:cNvSpPr/>
          <p:nvPr/>
        </p:nvSpPr>
        <p:spPr>
          <a:xfrm>
            <a:off x="5065776" y="3657600"/>
            <a:ext cx="2139696" cy="2331720"/>
          </a:xfrm>
          <a:prstGeom prst="rect">
            <a:avLst/>
          </a:prstGeom>
          <a:solidFill>
            <a:srgbClr val="E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65776" y="4389120"/>
            <a:ext cx="2139696" cy="914400"/>
          </a:xfrm>
          <a:prstGeom prst="rect">
            <a:avLst/>
          </a:prstGeom>
          <a:noFill/>
        </p:spPr>
        <p:txBody>
          <a:bodyPr wrap="square">
            <a:spAutoFit/>
          </a:bodyPr>
          <a:lstStyle/>
          <a:p>
            <a:pPr algn="ctr"/>
            <a:r>
              <a:rPr sz="800" b="0" i="1">
                <a:solidFill>
                  <a:srgbClr val="63666A"/>
                </a:solidFill>
                <a:latin typeface="Calibri"/>
              </a:rPr>
              <a:t>[Insert Leadership
Dashboard
Screenshot]</a:t>
            </a:r>
          </a:p>
        </p:txBody>
      </p:sp>
      <p:sp>
        <p:nvSpPr>
          <p:cNvPr id="55" name="Rectangle 54"/>
          <p:cNvSpPr/>
          <p:nvPr/>
        </p:nvSpPr>
        <p:spPr>
          <a:xfrm>
            <a:off x="7397496" y="1188720"/>
            <a:ext cx="2286000" cy="5029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397496" y="1188720"/>
            <a:ext cx="2286000" cy="502920"/>
          </a:xfrm>
          <a:prstGeom prst="rect">
            <a:avLst/>
          </a:prstGeom>
          <a:solidFill>
            <a:srgbClr val="009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70648" y="1261872"/>
            <a:ext cx="2148840" cy="384048"/>
          </a:xfrm>
          <a:prstGeom prst="rect">
            <a:avLst/>
          </a:prstGeom>
          <a:noFill/>
        </p:spPr>
        <p:txBody>
          <a:bodyPr wrap="square">
            <a:spAutoFit/>
          </a:bodyPr>
          <a:lstStyle/>
          <a:p>
            <a:pPr algn="l"/>
            <a:r>
              <a:rPr sz="1500" b="1" i="0">
                <a:solidFill>
                  <a:srgbClr val="FFFFFF"/>
                </a:solidFill>
                <a:latin typeface="Calibri"/>
              </a:rPr>
              <a:t>Vendor Perf.</a:t>
            </a:r>
          </a:p>
        </p:txBody>
      </p:sp>
      <p:sp>
        <p:nvSpPr>
          <p:cNvPr id="58" name="Rectangle 57"/>
          <p:cNvSpPr/>
          <p:nvPr/>
        </p:nvSpPr>
        <p:spPr>
          <a:xfrm>
            <a:off x="7470648" y="1783080"/>
            <a:ext cx="2139696" cy="274320"/>
          </a:xfrm>
          <a:prstGeom prst="rect">
            <a:avLst/>
          </a:prstGeom>
          <a:solidFill>
            <a:srgbClr val="009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88936" y="1792224"/>
            <a:ext cx="2103120" cy="256032"/>
          </a:xfrm>
          <a:prstGeom prst="rect">
            <a:avLst/>
          </a:prstGeom>
          <a:noFill/>
        </p:spPr>
        <p:txBody>
          <a:bodyPr wrap="square">
            <a:spAutoFit/>
          </a:bodyPr>
          <a:lstStyle/>
          <a:p>
            <a:pPr algn="ctr"/>
            <a:r>
              <a:rPr sz="850" b="1" i="0">
                <a:solidFill>
                  <a:srgbClr val="FFFFFF"/>
                </a:solidFill>
                <a:latin typeface="Calibri"/>
              </a:rPr>
              <a:t>Vendor Management</a:t>
            </a:r>
          </a:p>
        </p:txBody>
      </p:sp>
      <p:sp>
        <p:nvSpPr>
          <p:cNvPr id="60" name="Rectangle 59"/>
          <p:cNvSpPr/>
          <p:nvPr/>
        </p:nvSpPr>
        <p:spPr>
          <a:xfrm>
            <a:off x="7470648" y="2148840"/>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516368" y="2176272"/>
            <a:ext cx="2048256" cy="256032"/>
          </a:xfrm>
          <a:prstGeom prst="rect">
            <a:avLst/>
          </a:prstGeom>
          <a:noFill/>
        </p:spPr>
        <p:txBody>
          <a:bodyPr wrap="square">
            <a:spAutoFit/>
          </a:bodyPr>
          <a:lstStyle/>
          <a:p>
            <a:pPr algn="l"/>
            <a:r>
              <a:rPr sz="900" b="0" i="0">
                <a:solidFill>
                  <a:srgbClr val="00338D"/>
                </a:solidFill>
                <a:latin typeface="Calibri"/>
              </a:rPr>
              <a:t>Delivery Lead Time</a:t>
            </a:r>
          </a:p>
        </p:txBody>
      </p:sp>
      <p:sp>
        <p:nvSpPr>
          <p:cNvPr id="62" name="Rectangle 61"/>
          <p:cNvSpPr/>
          <p:nvPr/>
        </p:nvSpPr>
        <p:spPr>
          <a:xfrm>
            <a:off x="7470648" y="2496312"/>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516368" y="2523744"/>
            <a:ext cx="2048256" cy="256032"/>
          </a:xfrm>
          <a:prstGeom prst="rect">
            <a:avLst/>
          </a:prstGeom>
          <a:noFill/>
        </p:spPr>
        <p:txBody>
          <a:bodyPr wrap="square">
            <a:spAutoFit/>
          </a:bodyPr>
          <a:lstStyle/>
          <a:p>
            <a:pPr algn="l"/>
            <a:r>
              <a:rPr sz="900" b="0" i="0">
                <a:solidFill>
                  <a:srgbClr val="00338D"/>
                </a:solidFill>
                <a:latin typeface="Calibri"/>
              </a:rPr>
              <a:t>Top Vendor Spend</a:t>
            </a:r>
          </a:p>
        </p:txBody>
      </p:sp>
      <p:sp>
        <p:nvSpPr>
          <p:cNvPr id="64" name="Rectangle 63"/>
          <p:cNvSpPr/>
          <p:nvPr/>
        </p:nvSpPr>
        <p:spPr>
          <a:xfrm>
            <a:off x="7470648" y="2843784"/>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516368" y="2871216"/>
            <a:ext cx="2048256" cy="256032"/>
          </a:xfrm>
          <a:prstGeom prst="rect">
            <a:avLst/>
          </a:prstGeom>
          <a:noFill/>
        </p:spPr>
        <p:txBody>
          <a:bodyPr wrap="square">
            <a:spAutoFit/>
          </a:bodyPr>
          <a:lstStyle/>
          <a:p>
            <a:pPr algn="l"/>
            <a:r>
              <a:rPr sz="900" b="0" i="0">
                <a:solidFill>
                  <a:srgbClr val="00338D"/>
                </a:solidFill>
                <a:latin typeface="Calibri"/>
              </a:rPr>
              <a:t>MSME Tracking</a:t>
            </a:r>
          </a:p>
        </p:txBody>
      </p:sp>
      <p:sp>
        <p:nvSpPr>
          <p:cNvPr id="66" name="Rectangle 65"/>
          <p:cNvSpPr/>
          <p:nvPr/>
        </p:nvSpPr>
        <p:spPr>
          <a:xfrm>
            <a:off x="7470648" y="3191256"/>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516368" y="3218688"/>
            <a:ext cx="2048256" cy="256032"/>
          </a:xfrm>
          <a:prstGeom prst="rect">
            <a:avLst/>
          </a:prstGeom>
          <a:noFill/>
        </p:spPr>
        <p:txBody>
          <a:bodyPr wrap="square">
            <a:spAutoFit/>
          </a:bodyPr>
          <a:lstStyle/>
          <a:p>
            <a:pPr algn="l"/>
            <a:r>
              <a:rPr sz="900" b="0" i="0">
                <a:solidFill>
                  <a:srgbClr val="00338D"/>
                </a:solidFill>
                <a:latin typeface="Calibri"/>
              </a:rPr>
              <a:t>Compliance Rate</a:t>
            </a:r>
          </a:p>
        </p:txBody>
      </p:sp>
      <p:sp>
        <p:nvSpPr>
          <p:cNvPr id="68" name="Rectangle 67"/>
          <p:cNvSpPr/>
          <p:nvPr/>
        </p:nvSpPr>
        <p:spPr>
          <a:xfrm>
            <a:off x="7470648" y="3657600"/>
            <a:ext cx="2139696" cy="2331720"/>
          </a:xfrm>
          <a:prstGeom prst="rect">
            <a:avLst/>
          </a:prstGeom>
          <a:solidFill>
            <a:srgbClr val="E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70648" y="4389120"/>
            <a:ext cx="2139696" cy="914400"/>
          </a:xfrm>
          <a:prstGeom prst="rect">
            <a:avLst/>
          </a:prstGeom>
          <a:noFill/>
        </p:spPr>
        <p:txBody>
          <a:bodyPr wrap="square">
            <a:spAutoFit/>
          </a:bodyPr>
          <a:lstStyle/>
          <a:p>
            <a:pPr algn="ctr"/>
            <a:r>
              <a:rPr sz="800" b="0" i="1">
                <a:solidFill>
                  <a:srgbClr val="63666A"/>
                </a:solidFill>
                <a:latin typeface="Calibri"/>
              </a:rPr>
              <a:t>[Insert Vendor Perf.
Dashboard
Screenshot]</a:t>
            </a:r>
          </a:p>
        </p:txBody>
      </p:sp>
      <p:sp>
        <p:nvSpPr>
          <p:cNvPr id="70" name="Rectangle 69"/>
          <p:cNvSpPr/>
          <p:nvPr/>
        </p:nvSpPr>
        <p:spPr>
          <a:xfrm>
            <a:off x="9802368" y="1188720"/>
            <a:ext cx="2286000" cy="5029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802368" y="1188720"/>
            <a:ext cx="2286000" cy="502920"/>
          </a:xfrm>
          <a:prstGeom prst="rect">
            <a:avLst/>
          </a:prstGeom>
          <a:solidFill>
            <a:srgbClr val="8F7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875520" y="1261872"/>
            <a:ext cx="2148840" cy="384048"/>
          </a:xfrm>
          <a:prstGeom prst="rect">
            <a:avLst/>
          </a:prstGeom>
          <a:noFill/>
        </p:spPr>
        <p:txBody>
          <a:bodyPr wrap="square">
            <a:spAutoFit/>
          </a:bodyPr>
          <a:lstStyle/>
          <a:p>
            <a:pPr algn="l"/>
            <a:r>
              <a:rPr sz="1500" b="1" i="0">
                <a:solidFill>
                  <a:srgbClr val="FFFFFF"/>
                </a:solidFill>
                <a:latin typeface="Calibri"/>
              </a:rPr>
              <a:t>Utilization</a:t>
            </a:r>
          </a:p>
        </p:txBody>
      </p:sp>
      <p:sp>
        <p:nvSpPr>
          <p:cNvPr id="73" name="Rectangle 72"/>
          <p:cNvSpPr/>
          <p:nvPr/>
        </p:nvSpPr>
        <p:spPr>
          <a:xfrm>
            <a:off x="9875520" y="1783080"/>
            <a:ext cx="2139696" cy="274320"/>
          </a:xfrm>
          <a:prstGeom prst="rect">
            <a:avLst/>
          </a:prstGeom>
          <a:solidFill>
            <a:srgbClr val="8F7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893808" y="1792224"/>
            <a:ext cx="2103120" cy="256032"/>
          </a:xfrm>
          <a:prstGeom prst="rect">
            <a:avLst/>
          </a:prstGeom>
          <a:noFill/>
        </p:spPr>
        <p:txBody>
          <a:bodyPr wrap="square">
            <a:spAutoFit/>
          </a:bodyPr>
          <a:lstStyle/>
          <a:p>
            <a:pPr algn="ctr"/>
            <a:r>
              <a:rPr sz="850" b="1" i="0">
                <a:solidFill>
                  <a:srgbClr val="FFFFFF"/>
                </a:solidFill>
                <a:latin typeface="Calibri"/>
              </a:rPr>
              <a:t>Budget Owners / Finance</a:t>
            </a:r>
          </a:p>
        </p:txBody>
      </p:sp>
      <p:sp>
        <p:nvSpPr>
          <p:cNvPr id="75" name="Rectangle 74"/>
          <p:cNvSpPr/>
          <p:nvPr/>
        </p:nvSpPr>
        <p:spPr>
          <a:xfrm>
            <a:off x="9875520" y="2148840"/>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921240" y="2176272"/>
            <a:ext cx="2048256" cy="256032"/>
          </a:xfrm>
          <a:prstGeom prst="rect">
            <a:avLst/>
          </a:prstGeom>
          <a:noFill/>
        </p:spPr>
        <p:txBody>
          <a:bodyPr wrap="square">
            <a:spAutoFit/>
          </a:bodyPr>
          <a:lstStyle/>
          <a:p>
            <a:pPr algn="l"/>
            <a:r>
              <a:rPr sz="900" b="0" i="0">
                <a:solidFill>
                  <a:srgbClr val="00338D"/>
                </a:solidFill>
                <a:latin typeface="Calibri"/>
              </a:rPr>
              <a:t>CAPEX Utilization %</a:t>
            </a:r>
          </a:p>
        </p:txBody>
      </p:sp>
      <p:sp>
        <p:nvSpPr>
          <p:cNvPr id="77" name="Rectangle 76"/>
          <p:cNvSpPr/>
          <p:nvPr/>
        </p:nvSpPr>
        <p:spPr>
          <a:xfrm>
            <a:off x="9875520" y="2496312"/>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21240" y="2523744"/>
            <a:ext cx="2048256" cy="256032"/>
          </a:xfrm>
          <a:prstGeom prst="rect">
            <a:avLst/>
          </a:prstGeom>
          <a:noFill/>
        </p:spPr>
        <p:txBody>
          <a:bodyPr wrap="square">
            <a:spAutoFit/>
          </a:bodyPr>
          <a:lstStyle/>
          <a:p>
            <a:pPr algn="l"/>
            <a:r>
              <a:rPr sz="900" b="0" i="0">
                <a:solidFill>
                  <a:srgbClr val="00338D"/>
                </a:solidFill>
                <a:latin typeface="Calibri"/>
              </a:rPr>
              <a:t>OPEX Utilization %</a:t>
            </a:r>
          </a:p>
        </p:txBody>
      </p:sp>
      <p:sp>
        <p:nvSpPr>
          <p:cNvPr id="79" name="Rectangle 78"/>
          <p:cNvSpPr/>
          <p:nvPr/>
        </p:nvSpPr>
        <p:spPr>
          <a:xfrm>
            <a:off x="9875520" y="2843784"/>
            <a:ext cx="21396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921240" y="2871216"/>
            <a:ext cx="2048256" cy="256032"/>
          </a:xfrm>
          <a:prstGeom prst="rect">
            <a:avLst/>
          </a:prstGeom>
          <a:noFill/>
        </p:spPr>
        <p:txBody>
          <a:bodyPr wrap="square">
            <a:spAutoFit/>
          </a:bodyPr>
          <a:lstStyle/>
          <a:p>
            <a:pPr algn="l"/>
            <a:r>
              <a:rPr sz="900" b="0" i="0">
                <a:solidFill>
                  <a:srgbClr val="00338D"/>
                </a:solidFill>
                <a:latin typeface="Calibri"/>
              </a:rPr>
              <a:t>Profit Centre Drill-Down</a:t>
            </a:r>
          </a:p>
        </p:txBody>
      </p:sp>
      <p:sp>
        <p:nvSpPr>
          <p:cNvPr id="81" name="Rectangle 80"/>
          <p:cNvSpPr/>
          <p:nvPr/>
        </p:nvSpPr>
        <p:spPr>
          <a:xfrm>
            <a:off x="9875520" y="3657600"/>
            <a:ext cx="2139696" cy="2331720"/>
          </a:xfrm>
          <a:prstGeom prst="rect">
            <a:avLst/>
          </a:prstGeom>
          <a:solidFill>
            <a:srgbClr val="E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875520" y="4389120"/>
            <a:ext cx="2139696" cy="914400"/>
          </a:xfrm>
          <a:prstGeom prst="rect">
            <a:avLst/>
          </a:prstGeom>
          <a:noFill/>
        </p:spPr>
        <p:txBody>
          <a:bodyPr wrap="square">
            <a:spAutoFit/>
          </a:bodyPr>
          <a:lstStyle/>
          <a:p>
            <a:pPr algn="ctr"/>
            <a:r>
              <a:rPr sz="800" b="0" i="1">
                <a:solidFill>
                  <a:srgbClr val="63666A"/>
                </a:solidFill>
                <a:latin typeface="Calibri"/>
              </a:rPr>
              <a:t>[Insert Utilization
Dashboard
Screenshot]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BC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92240"/>
            <a:ext cx="12188952"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10528"/>
            <a:ext cx="9144000" cy="274320"/>
          </a:xfrm>
          <a:prstGeom prst="rect">
            <a:avLst/>
          </a:prstGeom>
          <a:noFill/>
        </p:spPr>
        <p:txBody>
          <a:bodyPr wrap="square">
            <a:spAutoFit/>
          </a:bodyPr>
          <a:lstStyle/>
          <a:p>
            <a:pPr algn="l"/>
            <a:r>
              <a:rPr sz="800" b="0" i="0">
                <a:solidFill>
                  <a:srgbClr val="B0C4DE"/>
                </a:solidFill>
                <a:latin typeface="Calibri"/>
              </a:rPr>
              <a:t>KPMG India — IntelliSource | SOD Conflict Detection</a:t>
            </a:r>
          </a:p>
        </p:txBody>
      </p:sp>
      <p:sp>
        <p:nvSpPr>
          <p:cNvPr id="6" name="TextBox 5"/>
          <p:cNvSpPr txBox="1"/>
          <p:nvPr/>
        </p:nvSpPr>
        <p:spPr>
          <a:xfrm>
            <a:off x="10515600" y="6510528"/>
            <a:ext cx="1463040" cy="274320"/>
          </a:xfrm>
          <a:prstGeom prst="rect">
            <a:avLst/>
          </a:prstGeom>
          <a:noFill/>
        </p:spPr>
        <p:txBody>
          <a:bodyPr wrap="square">
            <a:spAutoFit/>
          </a:bodyPr>
          <a:lstStyle/>
          <a:p>
            <a:pPr algn="r"/>
            <a:r>
              <a:rPr sz="800" b="1" i="0">
                <a:solidFill>
                  <a:srgbClr val="8F7326"/>
                </a:solidFill>
                <a:latin typeface="Calibri"/>
              </a:rPr>
              <a:t>CONFIDENTIAL</a:t>
            </a:r>
          </a:p>
        </p:txBody>
      </p:sp>
      <p:sp>
        <p:nvSpPr>
          <p:cNvPr id="7" name="TextBox 6"/>
          <p:cNvSpPr txBox="1"/>
          <p:nvPr/>
        </p:nvSpPr>
        <p:spPr>
          <a:xfrm>
            <a:off x="274320" y="274320"/>
            <a:ext cx="10972800" cy="640080"/>
          </a:xfrm>
          <a:prstGeom prst="rect">
            <a:avLst/>
          </a:prstGeom>
          <a:noFill/>
        </p:spPr>
        <p:txBody>
          <a:bodyPr wrap="square">
            <a:spAutoFit/>
          </a:bodyPr>
          <a:lstStyle/>
          <a:p>
            <a:pPr algn="l"/>
            <a:r>
              <a:rPr sz="3600" b="1" i="0">
                <a:solidFill>
                  <a:srgbClr val="FFFFFF"/>
                </a:solidFill>
                <a:latin typeface="Calibri"/>
              </a:rPr>
              <a:t>The Proof.</a:t>
            </a:r>
          </a:p>
        </p:txBody>
      </p:sp>
      <p:sp>
        <p:nvSpPr>
          <p:cNvPr id="8" name="Rectangle 7"/>
          <p:cNvSpPr/>
          <p:nvPr/>
        </p:nvSpPr>
        <p:spPr>
          <a:xfrm>
            <a:off x="182880" y="1005840"/>
            <a:ext cx="11795760" cy="27432"/>
          </a:xfrm>
          <a:prstGeom prst="rect">
            <a:avLst/>
          </a:prstGeom>
          <a:solidFill>
            <a:srgbClr val="8F7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3200400" cy="2011680"/>
          </a:xfrm>
          <a:prstGeom prst="rect">
            <a:avLst/>
          </a:prstGeom>
          <a:solidFill>
            <a:srgbClr val="BC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188720"/>
            <a:ext cx="3200400" cy="1280160"/>
          </a:xfrm>
          <a:prstGeom prst="rect">
            <a:avLst/>
          </a:prstGeom>
          <a:noFill/>
        </p:spPr>
        <p:txBody>
          <a:bodyPr wrap="square">
            <a:spAutoFit/>
          </a:bodyPr>
          <a:lstStyle/>
          <a:p>
            <a:pPr algn="ctr"/>
            <a:r>
              <a:rPr sz="8000" b="1" i="0">
                <a:solidFill>
                  <a:srgbClr val="FFFFFF"/>
                </a:solidFill>
                <a:latin typeface="Calibri"/>
              </a:rPr>
              <a:t>47</a:t>
            </a:r>
          </a:p>
        </p:txBody>
      </p:sp>
      <p:sp>
        <p:nvSpPr>
          <p:cNvPr id="11" name="TextBox 10"/>
          <p:cNvSpPr txBox="1"/>
          <p:nvPr/>
        </p:nvSpPr>
        <p:spPr>
          <a:xfrm>
            <a:off x="274320" y="2331720"/>
            <a:ext cx="3200400" cy="685800"/>
          </a:xfrm>
          <a:prstGeom prst="rect">
            <a:avLst/>
          </a:prstGeom>
          <a:noFill/>
        </p:spPr>
        <p:txBody>
          <a:bodyPr wrap="square">
            <a:spAutoFit/>
          </a:bodyPr>
          <a:lstStyle/>
          <a:p>
            <a:pPr algn="ctr"/>
            <a:r>
              <a:rPr sz="1300" b="1" i="0">
                <a:solidFill>
                  <a:srgbClr val="FFFFFF"/>
                </a:solidFill>
                <a:latin typeface="Calibri"/>
              </a:rPr>
              <a:t>SOD Conflicts
Found — First Upload</a:t>
            </a:r>
          </a:p>
        </p:txBody>
      </p:sp>
      <p:sp>
        <p:nvSpPr>
          <p:cNvPr id="12" name="Rectangle 11"/>
          <p:cNvSpPr/>
          <p:nvPr/>
        </p:nvSpPr>
        <p:spPr>
          <a:xfrm>
            <a:off x="3657600" y="1143000"/>
            <a:ext cx="2743200" cy="2011680"/>
          </a:xfrm>
          <a:prstGeom prst="rect">
            <a:avLst/>
          </a:prstGeom>
          <a:solidFill>
            <a:srgbClr val="636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1188720"/>
            <a:ext cx="2743200" cy="1280160"/>
          </a:xfrm>
          <a:prstGeom prst="rect">
            <a:avLst/>
          </a:prstGeom>
          <a:noFill/>
        </p:spPr>
        <p:txBody>
          <a:bodyPr wrap="square">
            <a:spAutoFit/>
          </a:bodyPr>
          <a:lstStyle/>
          <a:p>
            <a:pPr algn="ctr"/>
            <a:r>
              <a:rPr sz="8000" b="1" i="0">
                <a:solidFill>
                  <a:srgbClr val="FFFFFF"/>
                </a:solidFill>
                <a:latin typeface="Calibri"/>
              </a:rPr>
              <a:t>11</a:t>
            </a:r>
          </a:p>
        </p:txBody>
      </p:sp>
      <p:sp>
        <p:nvSpPr>
          <p:cNvPr id="14" name="TextBox 13"/>
          <p:cNvSpPr txBox="1"/>
          <p:nvPr/>
        </p:nvSpPr>
        <p:spPr>
          <a:xfrm>
            <a:off x="3657600" y="2331720"/>
            <a:ext cx="2743200" cy="685800"/>
          </a:xfrm>
          <a:prstGeom prst="rect">
            <a:avLst/>
          </a:prstGeom>
          <a:noFill/>
        </p:spPr>
        <p:txBody>
          <a:bodyPr wrap="square">
            <a:spAutoFit/>
          </a:bodyPr>
          <a:lstStyle/>
          <a:p>
            <a:pPr algn="ctr"/>
            <a:r>
              <a:rPr sz="1300" b="1" i="0">
                <a:solidFill>
                  <a:srgbClr val="FFFFFF"/>
                </a:solidFill>
                <a:latin typeface="Calibri"/>
              </a:rPr>
              <a:t>Years SAP Running
Without Surfacing One</a:t>
            </a:r>
          </a:p>
        </p:txBody>
      </p:sp>
      <p:sp>
        <p:nvSpPr>
          <p:cNvPr id="15" name="Rectangle 14"/>
          <p:cNvSpPr/>
          <p:nvPr/>
        </p:nvSpPr>
        <p:spPr>
          <a:xfrm>
            <a:off x="6583680" y="1143000"/>
            <a:ext cx="3200400" cy="201168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188720"/>
            <a:ext cx="3200400" cy="1280160"/>
          </a:xfrm>
          <a:prstGeom prst="rect">
            <a:avLst/>
          </a:prstGeom>
          <a:noFill/>
        </p:spPr>
        <p:txBody>
          <a:bodyPr wrap="square">
            <a:spAutoFit/>
          </a:bodyPr>
          <a:lstStyle/>
          <a:p>
            <a:pPr algn="ctr"/>
            <a:r>
              <a:rPr sz="8000" b="1" i="0">
                <a:solidFill>
                  <a:srgbClr val="FFFFFF"/>
                </a:solidFill>
                <a:latin typeface="Calibri"/>
              </a:rPr>
              <a:t>1</a:t>
            </a:r>
          </a:p>
        </p:txBody>
      </p:sp>
      <p:sp>
        <p:nvSpPr>
          <p:cNvPr id="17" name="TextBox 16"/>
          <p:cNvSpPr txBox="1"/>
          <p:nvPr/>
        </p:nvSpPr>
        <p:spPr>
          <a:xfrm>
            <a:off x="6583680" y="2331720"/>
            <a:ext cx="3200400" cy="685800"/>
          </a:xfrm>
          <a:prstGeom prst="rect">
            <a:avLst/>
          </a:prstGeom>
          <a:noFill/>
        </p:spPr>
        <p:txBody>
          <a:bodyPr wrap="square">
            <a:spAutoFit/>
          </a:bodyPr>
          <a:lstStyle/>
          <a:p>
            <a:pPr algn="ctr"/>
            <a:r>
              <a:rPr sz="1300" b="1" i="0">
                <a:solidFill>
                  <a:srgbClr val="FFFFFF"/>
                </a:solidFill>
                <a:latin typeface="Calibri"/>
              </a:rPr>
              <a:t>Day to Escalate All
47 to Internal Audit</a:t>
            </a:r>
          </a:p>
        </p:txBody>
      </p:sp>
      <p:sp>
        <p:nvSpPr>
          <p:cNvPr id="18" name="Rectangle 17"/>
          <p:cNvSpPr/>
          <p:nvPr/>
        </p:nvSpPr>
        <p:spPr>
          <a:xfrm>
            <a:off x="182880" y="3291840"/>
            <a:ext cx="11795760" cy="27432"/>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3429000"/>
            <a:ext cx="11612880" cy="2834640"/>
          </a:xfrm>
          <a:prstGeom prst="rect">
            <a:avLst/>
          </a:prstGeom>
          <a:noFill/>
        </p:spPr>
        <p:txBody>
          <a:bodyPr wrap="square">
            <a:spAutoFit/>
          </a:bodyPr>
          <a:lstStyle/>
          <a:p>
            <a:pPr algn="l"/>
            <a:r>
              <a:rPr sz="1300" b="0" i="0">
                <a:solidFill>
                  <a:srgbClr val="D0E8FF"/>
                </a:solidFill>
                <a:latin typeface="Calibri"/>
              </a:rPr>
              <a:t>One client. Large enterprise. SAP live for eleven years across 3 company codes.
First upload to IntelliSource. Ninety seconds to process.
Invoice vs. Payment Segregation of Duty check: same user who posted the invoice also cleared the payment — 47 times. Not detected by SAP authorisation matrix. Not caught by internal audit. Not visible in any standard report.
Every conflict surfaced with the document number, vendor, user name, and date. Internal audit had all 47 escalated and under review within the same business 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09728"/>
            <a:ext cx="9144000" cy="548640"/>
          </a:xfrm>
          <a:prstGeom prst="rect">
            <a:avLst/>
          </a:prstGeom>
          <a:noFill/>
        </p:spPr>
        <p:txBody>
          <a:bodyPr wrap="square">
            <a:spAutoFit/>
          </a:bodyPr>
          <a:lstStyle/>
          <a:p>
            <a:pPr algn="l"/>
            <a:r>
              <a:rPr sz="2800" b="1" i="0">
                <a:solidFill>
                  <a:srgbClr val="FFFFFF"/>
                </a:solidFill>
                <a:latin typeface="Calibri"/>
              </a:rPr>
              <a:t>IntelliSource in 60 Seconds</a:t>
            </a:r>
          </a:p>
        </p:txBody>
      </p:sp>
      <p:sp>
        <p:nvSpPr>
          <p:cNvPr id="6" name="TextBox 5"/>
          <p:cNvSpPr txBox="1"/>
          <p:nvPr/>
        </p:nvSpPr>
        <p:spPr>
          <a:xfrm>
            <a:off x="182880" y="658368"/>
            <a:ext cx="9144000" cy="320040"/>
          </a:xfrm>
          <a:prstGeom prst="rect">
            <a:avLst/>
          </a:prstGeom>
          <a:noFill/>
        </p:spPr>
        <p:txBody>
          <a:bodyPr wrap="square">
            <a:spAutoFit/>
          </a:bodyPr>
          <a:lstStyle/>
          <a:p>
            <a:pPr algn="l"/>
            <a:r>
              <a:rPr sz="1300" b="0" i="0">
                <a:solidFill>
                  <a:srgbClr val="0091DA"/>
                </a:solidFill>
                <a:latin typeface="Calibri"/>
              </a:rPr>
              <a:t>Presenter Script</a:t>
            </a:r>
          </a:p>
        </p:txBody>
      </p:sp>
      <p:sp>
        <p:nvSpPr>
          <p:cNvPr id="7" name="Rectangle 6"/>
          <p:cNvSpPr/>
          <p:nvPr/>
        </p:nvSpPr>
        <p:spPr>
          <a:xfrm>
            <a:off x="0" y="6492240"/>
            <a:ext cx="12188952"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9144000" cy="274320"/>
          </a:xfrm>
          <a:prstGeom prst="rect">
            <a:avLst/>
          </a:prstGeom>
          <a:noFill/>
        </p:spPr>
        <p:txBody>
          <a:bodyPr wrap="square">
            <a:spAutoFit/>
          </a:bodyPr>
          <a:lstStyle/>
          <a:p>
            <a:pPr algn="l"/>
            <a:r>
              <a:rPr sz="800" b="0" i="0">
                <a:solidFill>
                  <a:srgbClr val="B0C4DE"/>
                </a:solidFill>
                <a:latin typeface="Calibri"/>
              </a:rPr>
              <a:t>KPMG India — IntelliSource | P2P Intelligence &amp; Analytics Platform</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800" b="1" i="0">
                <a:solidFill>
                  <a:srgbClr val="8F7326"/>
                </a:solidFill>
                <a:latin typeface="Calibri"/>
              </a:rPr>
              <a:t>CONFIDENTIAL</a:t>
            </a:r>
          </a:p>
        </p:txBody>
      </p:sp>
      <p:sp>
        <p:nvSpPr>
          <p:cNvPr id="10" name="Rectangle 9"/>
          <p:cNvSpPr/>
          <p:nvPr/>
        </p:nvSpPr>
        <p:spPr>
          <a:xfrm>
            <a:off x="182880" y="1143000"/>
            <a:ext cx="7132320" cy="507492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207008"/>
            <a:ext cx="6858000" cy="320040"/>
          </a:xfrm>
          <a:prstGeom prst="rect">
            <a:avLst/>
          </a:prstGeom>
          <a:noFill/>
        </p:spPr>
        <p:txBody>
          <a:bodyPr wrap="square">
            <a:spAutoFit/>
          </a:bodyPr>
          <a:lstStyle/>
          <a:p>
            <a:pPr algn="l"/>
            <a:r>
              <a:rPr sz="1000" b="1" i="0">
                <a:solidFill>
                  <a:srgbClr val="8F7326"/>
                </a:solidFill>
                <a:latin typeface="Calibri"/>
              </a:rPr>
              <a:t>PRESENTER SCRIPT  —  60 SECONDS</a:t>
            </a:r>
          </a:p>
        </p:txBody>
      </p:sp>
      <p:sp>
        <p:nvSpPr>
          <p:cNvPr id="12" name="TextBox 11"/>
          <p:cNvSpPr txBox="1"/>
          <p:nvPr/>
        </p:nvSpPr>
        <p:spPr>
          <a:xfrm>
            <a:off x="320040" y="1600200"/>
            <a:ext cx="6903720" cy="4434840"/>
          </a:xfrm>
          <a:prstGeom prst="rect">
            <a:avLst/>
          </a:prstGeom>
          <a:noFill/>
        </p:spPr>
        <p:txBody>
          <a:bodyPr wrap="square">
            <a:spAutoFit/>
          </a:bodyPr>
          <a:lstStyle/>
          <a:p>
            <a:pPr algn="l"/>
            <a:r>
              <a:rPr sz="1100" b="0" i="0">
                <a:solidFill>
                  <a:srgbClr val="FFFFFF"/>
                </a:solidFill>
                <a:latin typeface="Calibri"/>
              </a:rPr>
              <a:t>Your Finance team runs FBL1N. Your Procurement team runs ME2M. Your audit team runs their own report. Three exports, three Excel files, three versions of the truth — and by the time someone VLOOKUPs them together, the payment is already gone.
IntelliSource eliminates that gap.
One platform. Five dashboards. Every P2P metric your CFO, CPO, and Finance Controller needs — live, from SAP data, the moment it is uploaded.
But here is what makes clients pay for it: IntelliSource finds what SAP was never designed to show you.
Your authorisation matrix prevents one person from posting and clearing a payment — in theory. IntelliSource checks every invoice and every payment in your system and surfaces each violation with a name, a document number, and a date.
One client. First upload. 47 SOD conflicts. SAP had been running eleven years. None of them visible.
That is not a dashboard. That is a governance layer your organisation does not have — and your auditors are going to ask for it.
IntelliSource. From KPMG. Because procurement intelligence should not require a data analyst.</a:t>
            </a:r>
          </a:p>
        </p:txBody>
      </p:sp>
      <p:sp>
        <p:nvSpPr>
          <p:cNvPr id="13" name="Rectangle 12"/>
          <p:cNvSpPr/>
          <p:nvPr/>
        </p:nvSpPr>
        <p:spPr>
          <a:xfrm>
            <a:off x="7498079" y="1143000"/>
            <a:ext cx="4480560" cy="5074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35239" y="1207008"/>
            <a:ext cx="4206240" cy="320040"/>
          </a:xfrm>
          <a:prstGeom prst="rect">
            <a:avLst/>
          </a:prstGeom>
          <a:noFill/>
        </p:spPr>
        <p:txBody>
          <a:bodyPr wrap="square">
            <a:spAutoFit/>
          </a:bodyPr>
          <a:lstStyle/>
          <a:p>
            <a:pPr algn="l"/>
            <a:r>
              <a:rPr sz="1000" b="1" i="0">
                <a:solidFill>
                  <a:srgbClr val="00338D"/>
                </a:solidFill>
                <a:latin typeface="Calibri"/>
              </a:rPr>
              <a:t>TIMING GUIDE</a:t>
            </a:r>
          </a:p>
        </p:txBody>
      </p:sp>
      <p:sp>
        <p:nvSpPr>
          <p:cNvPr id="15" name="Rectangle 14"/>
          <p:cNvSpPr/>
          <p:nvPr/>
        </p:nvSpPr>
        <p:spPr>
          <a:xfrm>
            <a:off x="7589519" y="1600200"/>
            <a:ext cx="42976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89519" y="1600200"/>
            <a:ext cx="54864" cy="777240"/>
          </a:xfrm>
          <a:prstGeom prst="rect">
            <a:avLst/>
          </a:prstGeom>
          <a:solidFill>
            <a:srgbClr val="BC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79" y="1664208"/>
            <a:ext cx="1005840" cy="274320"/>
          </a:xfrm>
          <a:prstGeom prst="rect">
            <a:avLst/>
          </a:prstGeom>
          <a:noFill/>
        </p:spPr>
        <p:txBody>
          <a:bodyPr wrap="square">
            <a:spAutoFit/>
          </a:bodyPr>
          <a:lstStyle/>
          <a:p>
            <a:pPr algn="l"/>
            <a:r>
              <a:rPr sz="900" b="1" i="0">
                <a:solidFill>
                  <a:srgbClr val="BC204B"/>
                </a:solidFill>
                <a:latin typeface="Calibri"/>
              </a:rPr>
              <a:t>0–10 sec</a:t>
            </a:r>
          </a:p>
        </p:txBody>
      </p:sp>
      <p:sp>
        <p:nvSpPr>
          <p:cNvPr id="18" name="TextBox 17"/>
          <p:cNvSpPr txBox="1"/>
          <p:nvPr/>
        </p:nvSpPr>
        <p:spPr>
          <a:xfrm>
            <a:off x="7726679" y="1947672"/>
            <a:ext cx="4023360" cy="384048"/>
          </a:xfrm>
          <a:prstGeom prst="rect">
            <a:avLst/>
          </a:prstGeom>
          <a:noFill/>
        </p:spPr>
        <p:txBody>
          <a:bodyPr wrap="square">
            <a:spAutoFit/>
          </a:bodyPr>
          <a:lstStyle/>
          <a:p>
            <a:pPr algn="l"/>
            <a:r>
              <a:rPr sz="900" b="0" i="0">
                <a:solidFill>
                  <a:srgbClr val="63666A"/>
                </a:solidFill>
                <a:latin typeface="Calibri"/>
              </a:rPr>
              <a:t>The problem — 3 exports, 3 versions of truth</a:t>
            </a:r>
          </a:p>
        </p:txBody>
      </p:sp>
      <p:sp>
        <p:nvSpPr>
          <p:cNvPr id="19" name="Rectangle 18"/>
          <p:cNvSpPr/>
          <p:nvPr/>
        </p:nvSpPr>
        <p:spPr>
          <a:xfrm>
            <a:off x="7589519" y="2468880"/>
            <a:ext cx="42976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89519" y="2468880"/>
            <a:ext cx="54864" cy="77724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26679" y="2532888"/>
            <a:ext cx="1005840" cy="274320"/>
          </a:xfrm>
          <a:prstGeom prst="rect">
            <a:avLst/>
          </a:prstGeom>
          <a:noFill/>
        </p:spPr>
        <p:txBody>
          <a:bodyPr wrap="square">
            <a:spAutoFit/>
          </a:bodyPr>
          <a:lstStyle/>
          <a:p>
            <a:pPr algn="l"/>
            <a:r>
              <a:rPr sz="900" b="1" i="0">
                <a:solidFill>
                  <a:srgbClr val="005EB8"/>
                </a:solidFill>
                <a:latin typeface="Calibri"/>
              </a:rPr>
              <a:t>10–20 sec</a:t>
            </a:r>
          </a:p>
        </p:txBody>
      </p:sp>
      <p:sp>
        <p:nvSpPr>
          <p:cNvPr id="22" name="TextBox 21"/>
          <p:cNvSpPr txBox="1"/>
          <p:nvPr/>
        </p:nvSpPr>
        <p:spPr>
          <a:xfrm>
            <a:off x="7726679" y="2816352"/>
            <a:ext cx="4023360" cy="384048"/>
          </a:xfrm>
          <a:prstGeom prst="rect">
            <a:avLst/>
          </a:prstGeom>
          <a:noFill/>
        </p:spPr>
        <p:txBody>
          <a:bodyPr wrap="square">
            <a:spAutoFit/>
          </a:bodyPr>
          <a:lstStyle/>
          <a:p>
            <a:pPr algn="l"/>
            <a:r>
              <a:rPr sz="900" b="0" i="0">
                <a:solidFill>
                  <a:srgbClr val="63666A"/>
                </a:solidFill>
                <a:latin typeface="Calibri"/>
              </a:rPr>
              <a:t>IntelliSource intro — one platform, 5 dashboards</a:t>
            </a:r>
          </a:p>
        </p:txBody>
      </p:sp>
      <p:sp>
        <p:nvSpPr>
          <p:cNvPr id="23" name="Rectangle 22"/>
          <p:cNvSpPr/>
          <p:nvPr/>
        </p:nvSpPr>
        <p:spPr>
          <a:xfrm>
            <a:off x="7589519" y="3337560"/>
            <a:ext cx="42976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89519" y="3337560"/>
            <a:ext cx="54864" cy="77724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26679" y="3401568"/>
            <a:ext cx="1005840" cy="274320"/>
          </a:xfrm>
          <a:prstGeom prst="rect">
            <a:avLst/>
          </a:prstGeom>
          <a:noFill/>
        </p:spPr>
        <p:txBody>
          <a:bodyPr wrap="square">
            <a:spAutoFit/>
          </a:bodyPr>
          <a:lstStyle/>
          <a:p>
            <a:pPr algn="l"/>
            <a:r>
              <a:rPr sz="900" b="1" i="0">
                <a:solidFill>
                  <a:srgbClr val="00338D"/>
                </a:solidFill>
                <a:latin typeface="Calibri"/>
              </a:rPr>
              <a:t>20–35 sec</a:t>
            </a:r>
          </a:p>
        </p:txBody>
      </p:sp>
      <p:sp>
        <p:nvSpPr>
          <p:cNvPr id="26" name="TextBox 25"/>
          <p:cNvSpPr txBox="1"/>
          <p:nvPr/>
        </p:nvSpPr>
        <p:spPr>
          <a:xfrm>
            <a:off x="7726679" y="3685032"/>
            <a:ext cx="4023360" cy="384048"/>
          </a:xfrm>
          <a:prstGeom prst="rect">
            <a:avLst/>
          </a:prstGeom>
          <a:noFill/>
        </p:spPr>
        <p:txBody>
          <a:bodyPr wrap="square">
            <a:spAutoFit/>
          </a:bodyPr>
          <a:lstStyle/>
          <a:p>
            <a:pPr algn="l"/>
            <a:r>
              <a:rPr sz="900" b="0" i="0">
                <a:solidFill>
                  <a:srgbClr val="63666A"/>
                </a:solidFill>
                <a:latin typeface="Calibri"/>
              </a:rPr>
              <a:t>The differentiator — what SAP cannot show you</a:t>
            </a:r>
          </a:p>
        </p:txBody>
      </p:sp>
      <p:sp>
        <p:nvSpPr>
          <p:cNvPr id="27" name="Rectangle 26"/>
          <p:cNvSpPr/>
          <p:nvPr/>
        </p:nvSpPr>
        <p:spPr>
          <a:xfrm>
            <a:off x="7589519" y="4206240"/>
            <a:ext cx="42976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89519" y="4206240"/>
            <a:ext cx="54864" cy="777240"/>
          </a:xfrm>
          <a:prstGeom prst="rect">
            <a:avLst/>
          </a:prstGeom>
          <a:solidFill>
            <a:srgbClr val="8F7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26679" y="4270248"/>
            <a:ext cx="1005840" cy="274320"/>
          </a:xfrm>
          <a:prstGeom prst="rect">
            <a:avLst/>
          </a:prstGeom>
          <a:noFill/>
        </p:spPr>
        <p:txBody>
          <a:bodyPr wrap="square">
            <a:spAutoFit/>
          </a:bodyPr>
          <a:lstStyle/>
          <a:p>
            <a:pPr algn="l"/>
            <a:r>
              <a:rPr sz="900" b="1" i="0">
                <a:solidFill>
                  <a:srgbClr val="8F7326"/>
                </a:solidFill>
                <a:latin typeface="Calibri"/>
              </a:rPr>
              <a:t>35–50 sec</a:t>
            </a:r>
          </a:p>
        </p:txBody>
      </p:sp>
      <p:sp>
        <p:nvSpPr>
          <p:cNvPr id="30" name="TextBox 29"/>
          <p:cNvSpPr txBox="1"/>
          <p:nvPr/>
        </p:nvSpPr>
        <p:spPr>
          <a:xfrm>
            <a:off x="7726679" y="4553712"/>
            <a:ext cx="4023360" cy="384048"/>
          </a:xfrm>
          <a:prstGeom prst="rect">
            <a:avLst/>
          </a:prstGeom>
          <a:noFill/>
        </p:spPr>
        <p:txBody>
          <a:bodyPr wrap="square">
            <a:spAutoFit/>
          </a:bodyPr>
          <a:lstStyle/>
          <a:p>
            <a:pPr algn="l"/>
            <a:r>
              <a:rPr sz="900" b="0" i="0">
                <a:solidFill>
                  <a:srgbClr val="63666A"/>
                </a:solidFill>
                <a:latin typeface="Calibri"/>
              </a:rPr>
              <a:t>The SOD story — 47 conflicts, 11 years invisible</a:t>
            </a:r>
          </a:p>
        </p:txBody>
      </p:sp>
      <p:sp>
        <p:nvSpPr>
          <p:cNvPr id="31" name="Rectangle 30"/>
          <p:cNvSpPr/>
          <p:nvPr/>
        </p:nvSpPr>
        <p:spPr>
          <a:xfrm>
            <a:off x="7589519" y="5074920"/>
            <a:ext cx="42976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589519" y="5074920"/>
            <a:ext cx="54864" cy="77724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26679" y="5138928"/>
            <a:ext cx="1005840" cy="274320"/>
          </a:xfrm>
          <a:prstGeom prst="rect">
            <a:avLst/>
          </a:prstGeom>
          <a:noFill/>
        </p:spPr>
        <p:txBody>
          <a:bodyPr wrap="square">
            <a:spAutoFit/>
          </a:bodyPr>
          <a:lstStyle/>
          <a:p>
            <a:pPr algn="l"/>
            <a:r>
              <a:rPr sz="900" b="1" i="0">
                <a:solidFill>
                  <a:srgbClr val="007A33"/>
                </a:solidFill>
                <a:latin typeface="Calibri"/>
              </a:rPr>
              <a:t>50–60 sec</a:t>
            </a:r>
          </a:p>
        </p:txBody>
      </p:sp>
      <p:sp>
        <p:nvSpPr>
          <p:cNvPr id="34" name="TextBox 33"/>
          <p:cNvSpPr txBox="1"/>
          <p:nvPr/>
        </p:nvSpPr>
        <p:spPr>
          <a:xfrm>
            <a:off x="7726679" y="5422392"/>
            <a:ext cx="4023360" cy="384048"/>
          </a:xfrm>
          <a:prstGeom prst="rect">
            <a:avLst/>
          </a:prstGeom>
          <a:noFill/>
        </p:spPr>
        <p:txBody>
          <a:bodyPr wrap="square">
            <a:spAutoFit/>
          </a:bodyPr>
          <a:lstStyle/>
          <a:p>
            <a:pPr algn="l"/>
            <a:r>
              <a:rPr sz="900" b="0" i="0">
                <a:solidFill>
                  <a:srgbClr val="63666A"/>
                </a:solidFill>
                <a:latin typeface="Calibri"/>
              </a:rPr>
              <a:t>Close — governance layer, auditor demand</a:t>
            </a:r>
          </a:p>
        </p:txBody>
      </p:sp>
      <p:sp>
        <p:nvSpPr>
          <p:cNvPr id="35" name="TextBox 34"/>
          <p:cNvSpPr txBox="1"/>
          <p:nvPr/>
        </p:nvSpPr>
        <p:spPr>
          <a:xfrm>
            <a:off x="7589519" y="6035040"/>
            <a:ext cx="4297680" cy="365760"/>
          </a:xfrm>
          <a:prstGeom prst="rect">
            <a:avLst/>
          </a:prstGeom>
          <a:noFill/>
        </p:spPr>
        <p:txBody>
          <a:bodyPr wrap="square">
            <a:spAutoFit/>
          </a:bodyPr>
          <a:lstStyle/>
          <a:p>
            <a:pPr algn="l"/>
            <a:r>
              <a:rPr sz="900" b="1" i="1">
                <a:solidFill>
                  <a:srgbClr val="BC204B"/>
                </a:solidFill>
                <a:latin typeface="Calibri"/>
              </a:rPr>
              <a:t>💡  Pause after the 47 number. Let it land.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09728"/>
            <a:ext cx="9144000" cy="548640"/>
          </a:xfrm>
          <a:prstGeom prst="rect">
            <a:avLst/>
          </a:prstGeom>
          <a:noFill/>
        </p:spPr>
        <p:txBody>
          <a:bodyPr wrap="square">
            <a:spAutoFit/>
          </a:bodyPr>
          <a:lstStyle/>
          <a:p>
            <a:pPr algn="l"/>
            <a:r>
              <a:rPr sz="2800" b="1" i="0">
                <a:solidFill>
                  <a:srgbClr val="FFFFFF"/>
                </a:solidFill>
                <a:latin typeface="Calibri"/>
              </a:rPr>
              <a:t>Data Architecture</a:t>
            </a:r>
          </a:p>
        </p:txBody>
      </p:sp>
      <p:sp>
        <p:nvSpPr>
          <p:cNvPr id="6" name="TextBox 5"/>
          <p:cNvSpPr txBox="1"/>
          <p:nvPr/>
        </p:nvSpPr>
        <p:spPr>
          <a:xfrm>
            <a:off x="182880" y="658368"/>
            <a:ext cx="9144000" cy="320040"/>
          </a:xfrm>
          <a:prstGeom prst="rect">
            <a:avLst/>
          </a:prstGeom>
          <a:noFill/>
        </p:spPr>
        <p:txBody>
          <a:bodyPr wrap="square">
            <a:spAutoFit/>
          </a:bodyPr>
          <a:lstStyle/>
          <a:p>
            <a:pPr algn="l"/>
            <a:r>
              <a:rPr sz="1300" b="0" i="0">
                <a:solidFill>
                  <a:srgbClr val="0091DA"/>
                </a:solidFill>
                <a:latin typeface="Calibri"/>
              </a:rPr>
              <a:t>SAP Source → IntelliSource Table → Dashboard KPI</a:t>
            </a:r>
          </a:p>
        </p:txBody>
      </p:sp>
      <p:sp>
        <p:nvSpPr>
          <p:cNvPr id="7" name="Rectangle 6"/>
          <p:cNvSpPr/>
          <p:nvPr/>
        </p:nvSpPr>
        <p:spPr>
          <a:xfrm>
            <a:off x="0" y="6492240"/>
            <a:ext cx="12188952"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9144000" cy="274320"/>
          </a:xfrm>
          <a:prstGeom prst="rect">
            <a:avLst/>
          </a:prstGeom>
          <a:noFill/>
        </p:spPr>
        <p:txBody>
          <a:bodyPr wrap="square">
            <a:spAutoFit/>
          </a:bodyPr>
          <a:lstStyle/>
          <a:p>
            <a:pPr algn="l"/>
            <a:r>
              <a:rPr sz="800" b="0" i="0">
                <a:solidFill>
                  <a:srgbClr val="B0C4DE"/>
                </a:solidFill>
                <a:latin typeface="Calibri"/>
              </a:rPr>
              <a:t>KPMG India — IntelliSource | P2P Intelligence &amp; Analytics Platform</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800" b="1" i="0">
                <a:solidFill>
                  <a:srgbClr val="8F7326"/>
                </a:solidFill>
                <a:latin typeface="Calibri"/>
              </a:rPr>
              <a:t>CONFIDENTIAL</a:t>
            </a:r>
          </a:p>
        </p:txBody>
      </p:sp>
      <p:sp>
        <p:nvSpPr>
          <p:cNvPr id="10" name="Rectangle 9"/>
          <p:cNvSpPr/>
          <p:nvPr/>
        </p:nvSpPr>
        <p:spPr>
          <a:xfrm>
            <a:off x="182880" y="1188720"/>
            <a:ext cx="2240280"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6032" y="1243584"/>
            <a:ext cx="2148840" cy="274320"/>
          </a:xfrm>
          <a:prstGeom prst="rect">
            <a:avLst/>
          </a:prstGeom>
          <a:noFill/>
        </p:spPr>
        <p:txBody>
          <a:bodyPr wrap="square">
            <a:spAutoFit/>
          </a:bodyPr>
          <a:lstStyle/>
          <a:p>
            <a:pPr algn="l"/>
            <a:r>
              <a:rPr sz="1000" b="1" i="0">
                <a:solidFill>
                  <a:srgbClr val="FFFFFF"/>
                </a:solidFill>
                <a:latin typeface="Calibri"/>
              </a:rPr>
              <a:t>SAP Transaction / Table</a:t>
            </a:r>
          </a:p>
        </p:txBody>
      </p:sp>
      <p:sp>
        <p:nvSpPr>
          <p:cNvPr id="12" name="Rectangle 11"/>
          <p:cNvSpPr/>
          <p:nvPr/>
        </p:nvSpPr>
        <p:spPr>
          <a:xfrm>
            <a:off x="2468880" y="1188720"/>
            <a:ext cx="2423160" cy="36576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42032" y="1243584"/>
            <a:ext cx="2331720" cy="274320"/>
          </a:xfrm>
          <a:prstGeom prst="rect">
            <a:avLst/>
          </a:prstGeom>
          <a:noFill/>
        </p:spPr>
        <p:txBody>
          <a:bodyPr wrap="square">
            <a:spAutoFit/>
          </a:bodyPr>
          <a:lstStyle/>
          <a:p>
            <a:pPr algn="l"/>
            <a:r>
              <a:rPr sz="1000" b="1" i="0">
                <a:solidFill>
                  <a:srgbClr val="FFFFFF"/>
                </a:solidFill>
                <a:latin typeface="Calibri"/>
              </a:rPr>
              <a:t>IntelliSource Table</a:t>
            </a:r>
          </a:p>
        </p:txBody>
      </p:sp>
      <p:sp>
        <p:nvSpPr>
          <p:cNvPr id="14" name="Rectangle 13"/>
          <p:cNvSpPr/>
          <p:nvPr/>
        </p:nvSpPr>
        <p:spPr>
          <a:xfrm>
            <a:off x="4937760" y="1188720"/>
            <a:ext cx="3154680" cy="365760"/>
          </a:xfrm>
          <a:prstGeom prst="rect">
            <a:avLst/>
          </a:prstGeom>
          <a:solidFill>
            <a:srgbClr val="636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10912" y="1243584"/>
            <a:ext cx="3063240" cy="274320"/>
          </a:xfrm>
          <a:prstGeom prst="rect">
            <a:avLst/>
          </a:prstGeom>
          <a:noFill/>
        </p:spPr>
        <p:txBody>
          <a:bodyPr wrap="square">
            <a:spAutoFit/>
          </a:bodyPr>
          <a:lstStyle/>
          <a:p>
            <a:pPr algn="l"/>
            <a:r>
              <a:rPr sz="1000" b="1" i="0">
                <a:solidFill>
                  <a:srgbClr val="FFFFFF"/>
                </a:solidFill>
                <a:latin typeface="Calibri"/>
              </a:rPr>
              <a:t>What It Captures</a:t>
            </a:r>
          </a:p>
        </p:txBody>
      </p:sp>
      <p:sp>
        <p:nvSpPr>
          <p:cNvPr id="16" name="Rectangle 15"/>
          <p:cNvSpPr/>
          <p:nvPr/>
        </p:nvSpPr>
        <p:spPr>
          <a:xfrm>
            <a:off x="8138160" y="1188720"/>
            <a:ext cx="3886200" cy="365760"/>
          </a:xfrm>
          <a:prstGeom prst="rect">
            <a:avLst/>
          </a:prstGeom>
          <a:solidFill>
            <a:srgbClr val="009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1243584"/>
            <a:ext cx="3794760" cy="274320"/>
          </a:xfrm>
          <a:prstGeom prst="rect">
            <a:avLst/>
          </a:prstGeom>
          <a:noFill/>
        </p:spPr>
        <p:txBody>
          <a:bodyPr wrap="square">
            <a:spAutoFit/>
          </a:bodyPr>
          <a:lstStyle/>
          <a:p>
            <a:pPr algn="l"/>
            <a:r>
              <a:rPr sz="1000" b="1" i="0">
                <a:solidFill>
                  <a:srgbClr val="FFFFFF"/>
                </a:solidFill>
                <a:latin typeface="Calibri"/>
              </a:rPr>
              <a:t>Drives These KPIs</a:t>
            </a:r>
          </a:p>
        </p:txBody>
      </p:sp>
      <p:sp>
        <p:nvSpPr>
          <p:cNvPr id="18" name="Rectangle 17"/>
          <p:cNvSpPr/>
          <p:nvPr/>
        </p:nvSpPr>
        <p:spPr>
          <a:xfrm>
            <a:off x="182880" y="1572768"/>
            <a:ext cx="2240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6032" y="1664208"/>
            <a:ext cx="2148840" cy="320040"/>
          </a:xfrm>
          <a:prstGeom prst="rect">
            <a:avLst/>
          </a:prstGeom>
          <a:noFill/>
        </p:spPr>
        <p:txBody>
          <a:bodyPr wrap="square">
            <a:spAutoFit/>
          </a:bodyPr>
          <a:lstStyle/>
          <a:p>
            <a:pPr algn="l"/>
            <a:r>
              <a:rPr sz="1000" b="0" i="0">
                <a:solidFill>
                  <a:srgbClr val="1A1A1A"/>
                </a:solidFill>
                <a:latin typeface="Calibri"/>
              </a:rPr>
              <a:t>ME5A / EBAN</a:t>
            </a:r>
          </a:p>
        </p:txBody>
      </p:sp>
      <p:sp>
        <p:nvSpPr>
          <p:cNvPr id="20" name="Rectangle 19"/>
          <p:cNvSpPr/>
          <p:nvPr/>
        </p:nvSpPr>
        <p:spPr>
          <a:xfrm>
            <a:off x="2468880" y="1572768"/>
            <a:ext cx="24231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42032" y="1664208"/>
            <a:ext cx="2331720" cy="320040"/>
          </a:xfrm>
          <a:prstGeom prst="rect">
            <a:avLst/>
          </a:prstGeom>
          <a:noFill/>
        </p:spPr>
        <p:txBody>
          <a:bodyPr wrap="square">
            <a:spAutoFit/>
          </a:bodyPr>
          <a:lstStyle/>
          <a:p>
            <a:pPr algn="l"/>
            <a:r>
              <a:rPr sz="1000" b="1" i="0">
                <a:solidFill>
                  <a:srgbClr val="00338D"/>
                </a:solidFill>
                <a:latin typeface="Calibri"/>
              </a:rPr>
              <a:t>pr_dump</a:t>
            </a:r>
          </a:p>
        </p:txBody>
      </p:sp>
      <p:sp>
        <p:nvSpPr>
          <p:cNvPr id="22" name="Rectangle 21"/>
          <p:cNvSpPr/>
          <p:nvPr/>
        </p:nvSpPr>
        <p:spPr>
          <a:xfrm>
            <a:off x="4937760" y="1572768"/>
            <a:ext cx="3154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10912" y="1664208"/>
            <a:ext cx="3063240" cy="320040"/>
          </a:xfrm>
          <a:prstGeom prst="rect">
            <a:avLst/>
          </a:prstGeom>
          <a:noFill/>
        </p:spPr>
        <p:txBody>
          <a:bodyPr wrap="square">
            <a:spAutoFit/>
          </a:bodyPr>
          <a:lstStyle/>
          <a:p>
            <a:pPr algn="l"/>
            <a:r>
              <a:rPr sz="1000" b="0" i="0">
                <a:solidFill>
                  <a:srgbClr val="1A1A1A"/>
                </a:solidFill>
                <a:latin typeface="Calibri"/>
              </a:rPr>
              <a:t>Purchase Requisitions</a:t>
            </a:r>
          </a:p>
        </p:txBody>
      </p:sp>
      <p:sp>
        <p:nvSpPr>
          <p:cNvPr id="24" name="Rectangle 23"/>
          <p:cNvSpPr/>
          <p:nvPr/>
        </p:nvSpPr>
        <p:spPr>
          <a:xfrm>
            <a:off x="8138160" y="1572768"/>
            <a:ext cx="3886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1664208"/>
            <a:ext cx="3794760" cy="320040"/>
          </a:xfrm>
          <a:prstGeom prst="rect">
            <a:avLst/>
          </a:prstGeom>
          <a:noFill/>
        </p:spPr>
        <p:txBody>
          <a:bodyPr wrap="square">
            <a:spAutoFit/>
          </a:bodyPr>
          <a:lstStyle/>
          <a:p>
            <a:pPr algn="l"/>
            <a:r>
              <a:rPr sz="1000" b="0" i="0">
                <a:solidFill>
                  <a:srgbClr val="1A1A1A"/>
                </a:solidFill>
                <a:latin typeface="Calibri"/>
              </a:rPr>
              <a:t>Procurement · Leadership</a:t>
            </a:r>
          </a:p>
        </p:txBody>
      </p:sp>
      <p:sp>
        <p:nvSpPr>
          <p:cNvPr id="26" name="Rectangle 25"/>
          <p:cNvSpPr/>
          <p:nvPr/>
        </p:nvSpPr>
        <p:spPr>
          <a:xfrm>
            <a:off x="182880" y="2048256"/>
            <a:ext cx="22402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6032" y="2139696"/>
            <a:ext cx="2148840" cy="320040"/>
          </a:xfrm>
          <a:prstGeom prst="rect">
            <a:avLst/>
          </a:prstGeom>
          <a:noFill/>
        </p:spPr>
        <p:txBody>
          <a:bodyPr wrap="square">
            <a:spAutoFit/>
          </a:bodyPr>
          <a:lstStyle/>
          <a:p>
            <a:pPr algn="l"/>
            <a:r>
              <a:rPr sz="1000" b="0" i="0">
                <a:solidFill>
                  <a:srgbClr val="1A1A1A"/>
                </a:solidFill>
                <a:latin typeface="Calibri"/>
              </a:rPr>
              <a:t>ME2M / EKKO</a:t>
            </a:r>
          </a:p>
        </p:txBody>
      </p:sp>
      <p:sp>
        <p:nvSpPr>
          <p:cNvPr id="28" name="Rectangle 27"/>
          <p:cNvSpPr/>
          <p:nvPr/>
        </p:nvSpPr>
        <p:spPr>
          <a:xfrm>
            <a:off x="2468880" y="2048256"/>
            <a:ext cx="242316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42032" y="2139696"/>
            <a:ext cx="2331720" cy="320040"/>
          </a:xfrm>
          <a:prstGeom prst="rect">
            <a:avLst/>
          </a:prstGeom>
          <a:noFill/>
        </p:spPr>
        <p:txBody>
          <a:bodyPr wrap="square">
            <a:spAutoFit/>
          </a:bodyPr>
          <a:lstStyle/>
          <a:p>
            <a:pPr algn="l"/>
            <a:r>
              <a:rPr sz="1000" b="1" i="0">
                <a:solidFill>
                  <a:srgbClr val="00338D"/>
                </a:solidFill>
                <a:latin typeface="Calibri"/>
              </a:rPr>
              <a:t>po_dump</a:t>
            </a:r>
          </a:p>
        </p:txBody>
      </p:sp>
      <p:sp>
        <p:nvSpPr>
          <p:cNvPr id="30" name="Rectangle 29"/>
          <p:cNvSpPr/>
          <p:nvPr/>
        </p:nvSpPr>
        <p:spPr>
          <a:xfrm>
            <a:off x="4937760" y="2048256"/>
            <a:ext cx="31546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10912" y="2139696"/>
            <a:ext cx="3063240" cy="320040"/>
          </a:xfrm>
          <a:prstGeom prst="rect">
            <a:avLst/>
          </a:prstGeom>
          <a:noFill/>
        </p:spPr>
        <p:txBody>
          <a:bodyPr wrap="square">
            <a:spAutoFit/>
          </a:bodyPr>
          <a:lstStyle/>
          <a:p>
            <a:pPr algn="l"/>
            <a:r>
              <a:rPr sz="1000" b="0" i="0">
                <a:solidFill>
                  <a:srgbClr val="1A1A1A"/>
                </a:solidFill>
                <a:latin typeface="Calibri"/>
              </a:rPr>
              <a:t>Purchase Orders</a:t>
            </a:r>
          </a:p>
        </p:txBody>
      </p:sp>
      <p:sp>
        <p:nvSpPr>
          <p:cNvPr id="32" name="Rectangle 31"/>
          <p:cNvSpPr/>
          <p:nvPr/>
        </p:nvSpPr>
        <p:spPr>
          <a:xfrm>
            <a:off x="8138160" y="2048256"/>
            <a:ext cx="388620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1312" y="2139696"/>
            <a:ext cx="3794760" cy="320040"/>
          </a:xfrm>
          <a:prstGeom prst="rect">
            <a:avLst/>
          </a:prstGeom>
          <a:noFill/>
        </p:spPr>
        <p:txBody>
          <a:bodyPr wrap="square">
            <a:spAutoFit/>
          </a:bodyPr>
          <a:lstStyle/>
          <a:p>
            <a:pPr algn="l"/>
            <a:r>
              <a:rPr sz="1000" b="0" i="0">
                <a:solidFill>
                  <a:srgbClr val="1A1A1A"/>
                </a:solidFill>
                <a:latin typeface="Calibri"/>
              </a:rPr>
              <a:t>All 5 Dashboards</a:t>
            </a:r>
          </a:p>
        </p:txBody>
      </p:sp>
      <p:sp>
        <p:nvSpPr>
          <p:cNvPr id="34" name="Rectangle 33"/>
          <p:cNvSpPr/>
          <p:nvPr/>
        </p:nvSpPr>
        <p:spPr>
          <a:xfrm>
            <a:off x="182880" y="2523744"/>
            <a:ext cx="2240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6032" y="2615184"/>
            <a:ext cx="2148840" cy="320040"/>
          </a:xfrm>
          <a:prstGeom prst="rect">
            <a:avLst/>
          </a:prstGeom>
          <a:noFill/>
        </p:spPr>
        <p:txBody>
          <a:bodyPr wrap="square">
            <a:spAutoFit/>
          </a:bodyPr>
          <a:lstStyle/>
          <a:p>
            <a:pPr algn="l"/>
            <a:r>
              <a:rPr sz="1000" b="0" i="0">
                <a:solidFill>
                  <a:srgbClr val="1A1A1A"/>
                </a:solidFill>
                <a:latin typeface="Calibri"/>
              </a:rPr>
              <a:t>MB51 / MKPF</a:t>
            </a:r>
          </a:p>
        </p:txBody>
      </p:sp>
      <p:sp>
        <p:nvSpPr>
          <p:cNvPr id="36" name="Rectangle 35"/>
          <p:cNvSpPr/>
          <p:nvPr/>
        </p:nvSpPr>
        <p:spPr>
          <a:xfrm>
            <a:off x="2468880" y="2523744"/>
            <a:ext cx="24231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42032" y="2615184"/>
            <a:ext cx="2331720" cy="320040"/>
          </a:xfrm>
          <a:prstGeom prst="rect">
            <a:avLst/>
          </a:prstGeom>
          <a:noFill/>
        </p:spPr>
        <p:txBody>
          <a:bodyPr wrap="square">
            <a:spAutoFit/>
          </a:bodyPr>
          <a:lstStyle/>
          <a:p>
            <a:pPr algn="l"/>
            <a:r>
              <a:rPr sz="1000" b="1" i="0">
                <a:solidFill>
                  <a:srgbClr val="00338D"/>
                </a:solidFill>
                <a:latin typeface="Calibri"/>
              </a:rPr>
              <a:t>grn_dump</a:t>
            </a:r>
          </a:p>
        </p:txBody>
      </p:sp>
      <p:sp>
        <p:nvSpPr>
          <p:cNvPr id="38" name="Rectangle 37"/>
          <p:cNvSpPr/>
          <p:nvPr/>
        </p:nvSpPr>
        <p:spPr>
          <a:xfrm>
            <a:off x="4937760" y="2523744"/>
            <a:ext cx="3154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10912" y="2615184"/>
            <a:ext cx="3063240" cy="320040"/>
          </a:xfrm>
          <a:prstGeom prst="rect">
            <a:avLst/>
          </a:prstGeom>
          <a:noFill/>
        </p:spPr>
        <p:txBody>
          <a:bodyPr wrap="square">
            <a:spAutoFit/>
          </a:bodyPr>
          <a:lstStyle/>
          <a:p>
            <a:pPr algn="l"/>
            <a:r>
              <a:rPr sz="1000" b="0" i="0">
                <a:solidFill>
                  <a:srgbClr val="1A1A1A"/>
                </a:solidFill>
                <a:latin typeface="Calibri"/>
              </a:rPr>
              <a:t>Goods Receipts (GRN)</a:t>
            </a:r>
          </a:p>
        </p:txBody>
      </p:sp>
      <p:sp>
        <p:nvSpPr>
          <p:cNvPr id="40" name="Rectangle 39"/>
          <p:cNvSpPr/>
          <p:nvPr/>
        </p:nvSpPr>
        <p:spPr>
          <a:xfrm>
            <a:off x="8138160" y="2523744"/>
            <a:ext cx="3886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11312" y="2615184"/>
            <a:ext cx="3794760" cy="320040"/>
          </a:xfrm>
          <a:prstGeom prst="rect">
            <a:avLst/>
          </a:prstGeom>
          <a:noFill/>
        </p:spPr>
        <p:txBody>
          <a:bodyPr wrap="square">
            <a:spAutoFit/>
          </a:bodyPr>
          <a:lstStyle/>
          <a:p>
            <a:pPr algn="l"/>
            <a:r>
              <a:rPr sz="1000" b="0" i="0">
                <a:solidFill>
                  <a:srgbClr val="1A1A1A"/>
                </a:solidFill>
                <a:latin typeface="Calibri"/>
              </a:rPr>
              <a:t>Financial · Leadership · Vendor</a:t>
            </a:r>
          </a:p>
        </p:txBody>
      </p:sp>
      <p:sp>
        <p:nvSpPr>
          <p:cNvPr id="42" name="Rectangle 41"/>
          <p:cNvSpPr/>
          <p:nvPr/>
        </p:nvSpPr>
        <p:spPr>
          <a:xfrm>
            <a:off x="182880" y="2999232"/>
            <a:ext cx="22402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032" y="3090672"/>
            <a:ext cx="2148840" cy="320040"/>
          </a:xfrm>
          <a:prstGeom prst="rect">
            <a:avLst/>
          </a:prstGeom>
          <a:noFill/>
        </p:spPr>
        <p:txBody>
          <a:bodyPr wrap="square">
            <a:spAutoFit/>
          </a:bodyPr>
          <a:lstStyle/>
          <a:p>
            <a:pPr algn="l"/>
            <a:r>
              <a:rPr sz="1000" b="0" i="0">
                <a:solidFill>
                  <a:srgbClr val="1A1A1A"/>
                </a:solidFill>
                <a:latin typeface="Calibri"/>
              </a:rPr>
              <a:t>MIR6 / RBKP</a:t>
            </a:r>
          </a:p>
        </p:txBody>
      </p:sp>
      <p:sp>
        <p:nvSpPr>
          <p:cNvPr id="44" name="Rectangle 43"/>
          <p:cNvSpPr/>
          <p:nvPr/>
        </p:nvSpPr>
        <p:spPr>
          <a:xfrm>
            <a:off x="2468880" y="2999232"/>
            <a:ext cx="242316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42032" y="3090672"/>
            <a:ext cx="2331720" cy="320040"/>
          </a:xfrm>
          <a:prstGeom prst="rect">
            <a:avLst/>
          </a:prstGeom>
          <a:noFill/>
        </p:spPr>
        <p:txBody>
          <a:bodyPr wrap="square">
            <a:spAutoFit/>
          </a:bodyPr>
          <a:lstStyle/>
          <a:p>
            <a:pPr algn="l"/>
            <a:r>
              <a:rPr sz="1000" b="1" i="0">
                <a:solidFill>
                  <a:srgbClr val="00338D"/>
                </a:solidFill>
                <a:latin typeface="Calibri"/>
              </a:rPr>
              <a:t>po_invoice_dump</a:t>
            </a:r>
          </a:p>
        </p:txBody>
      </p:sp>
      <p:sp>
        <p:nvSpPr>
          <p:cNvPr id="46" name="Rectangle 45"/>
          <p:cNvSpPr/>
          <p:nvPr/>
        </p:nvSpPr>
        <p:spPr>
          <a:xfrm>
            <a:off x="4937760" y="2999232"/>
            <a:ext cx="31546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10912" y="3090672"/>
            <a:ext cx="3063240" cy="320040"/>
          </a:xfrm>
          <a:prstGeom prst="rect">
            <a:avLst/>
          </a:prstGeom>
          <a:noFill/>
        </p:spPr>
        <p:txBody>
          <a:bodyPr wrap="square">
            <a:spAutoFit/>
          </a:bodyPr>
          <a:lstStyle/>
          <a:p>
            <a:pPr algn="l"/>
            <a:r>
              <a:rPr sz="1000" b="0" i="0">
                <a:solidFill>
                  <a:srgbClr val="1A1A1A"/>
                </a:solidFill>
                <a:latin typeface="Calibri"/>
              </a:rPr>
              <a:t>PO Invoice Linkage</a:t>
            </a:r>
          </a:p>
        </p:txBody>
      </p:sp>
      <p:sp>
        <p:nvSpPr>
          <p:cNvPr id="48" name="Rectangle 47"/>
          <p:cNvSpPr/>
          <p:nvPr/>
        </p:nvSpPr>
        <p:spPr>
          <a:xfrm>
            <a:off x="8138160" y="2999232"/>
            <a:ext cx="388620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11312" y="3090672"/>
            <a:ext cx="3794760" cy="320040"/>
          </a:xfrm>
          <a:prstGeom prst="rect">
            <a:avLst/>
          </a:prstGeom>
          <a:noFill/>
        </p:spPr>
        <p:txBody>
          <a:bodyPr wrap="square">
            <a:spAutoFit/>
          </a:bodyPr>
          <a:lstStyle/>
          <a:p>
            <a:pPr algn="l"/>
            <a:r>
              <a:rPr sz="1000" b="0" i="0">
                <a:solidFill>
                  <a:srgbClr val="1A1A1A"/>
                </a:solidFill>
                <a:latin typeface="Calibri"/>
              </a:rPr>
              <a:t>SOD Conflicts · P2P Tracker</a:t>
            </a:r>
          </a:p>
        </p:txBody>
      </p:sp>
      <p:sp>
        <p:nvSpPr>
          <p:cNvPr id="50" name="Rectangle 49"/>
          <p:cNvSpPr/>
          <p:nvPr/>
        </p:nvSpPr>
        <p:spPr>
          <a:xfrm>
            <a:off x="182880" y="3474720"/>
            <a:ext cx="2240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6032" y="3566160"/>
            <a:ext cx="2148840" cy="320040"/>
          </a:xfrm>
          <a:prstGeom prst="rect">
            <a:avLst/>
          </a:prstGeom>
          <a:noFill/>
        </p:spPr>
        <p:txBody>
          <a:bodyPr wrap="square">
            <a:spAutoFit/>
          </a:bodyPr>
          <a:lstStyle/>
          <a:p>
            <a:pPr algn="l"/>
            <a:r>
              <a:rPr sz="1000" b="0" i="0">
                <a:solidFill>
                  <a:srgbClr val="1A1A1A"/>
                </a:solidFill>
                <a:latin typeface="Calibri"/>
              </a:rPr>
              <a:t>FBL1N / BKPF</a:t>
            </a:r>
          </a:p>
        </p:txBody>
      </p:sp>
      <p:sp>
        <p:nvSpPr>
          <p:cNvPr id="52" name="Rectangle 51"/>
          <p:cNvSpPr/>
          <p:nvPr/>
        </p:nvSpPr>
        <p:spPr>
          <a:xfrm>
            <a:off x="2468880" y="3474720"/>
            <a:ext cx="24231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42032" y="3566160"/>
            <a:ext cx="2331720" cy="320040"/>
          </a:xfrm>
          <a:prstGeom prst="rect">
            <a:avLst/>
          </a:prstGeom>
          <a:noFill/>
        </p:spPr>
        <p:txBody>
          <a:bodyPr wrap="square">
            <a:spAutoFit/>
          </a:bodyPr>
          <a:lstStyle/>
          <a:p>
            <a:pPr algn="l"/>
            <a:r>
              <a:rPr sz="1000" b="1" i="0">
                <a:solidFill>
                  <a:srgbClr val="00338D"/>
                </a:solidFill>
                <a:latin typeface="Calibri"/>
              </a:rPr>
              <a:t>invoice_dump</a:t>
            </a:r>
          </a:p>
        </p:txBody>
      </p:sp>
      <p:sp>
        <p:nvSpPr>
          <p:cNvPr id="54" name="Rectangle 53"/>
          <p:cNvSpPr/>
          <p:nvPr/>
        </p:nvSpPr>
        <p:spPr>
          <a:xfrm>
            <a:off x="4937760" y="3474720"/>
            <a:ext cx="3154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10912" y="3566160"/>
            <a:ext cx="3063240" cy="320040"/>
          </a:xfrm>
          <a:prstGeom prst="rect">
            <a:avLst/>
          </a:prstGeom>
          <a:noFill/>
        </p:spPr>
        <p:txBody>
          <a:bodyPr wrap="square">
            <a:spAutoFit/>
          </a:bodyPr>
          <a:lstStyle/>
          <a:p>
            <a:pPr algn="l"/>
            <a:r>
              <a:rPr sz="1000" b="0" i="0">
                <a:solidFill>
                  <a:srgbClr val="1A1A1A"/>
                </a:solidFill>
                <a:latin typeface="Calibri"/>
              </a:rPr>
              <a:t>AP Invoices</a:t>
            </a:r>
          </a:p>
        </p:txBody>
      </p:sp>
      <p:sp>
        <p:nvSpPr>
          <p:cNvPr id="56" name="Rectangle 55"/>
          <p:cNvSpPr/>
          <p:nvPr/>
        </p:nvSpPr>
        <p:spPr>
          <a:xfrm>
            <a:off x="8138160" y="3474720"/>
            <a:ext cx="3886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11312" y="3566160"/>
            <a:ext cx="3794760" cy="320040"/>
          </a:xfrm>
          <a:prstGeom prst="rect">
            <a:avLst/>
          </a:prstGeom>
          <a:noFill/>
        </p:spPr>
        <p:txBody>
          <a:bodyPr wrap="square">
            <a:spAutoFit/>
          </a:bodyPr>
          <a:lstStyle/>
          <a:p>
            <a:pPr algn="l"/>
            <a:r>
              <a:rPr sz="1000" b="0" i="0">
                <a:solidFill>
                  <a:srgbClr val="1A1A1A"/>
                </a:solidFill>
                <a:latin typeface="Calibri"/>
              </a:rPr>
              <a:t>Financial · Leadership</a:t>
            </a:r>
          </a:p>
        </p:txBody>
      </p:sp>
      <p:sp>
        <p:nvSpPr>
          <p:cNvPr id="58" name="Rectangle 57"/>
          <p:cNvSpPr/>
          <p:nvPr/>
        </p:nvSpPr>
        <p:spPr>
          <a:xfrm>
            <a:off x="182880" y="3950208"/>
            <a:ext cx="22402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6032" y="4041648"/>
            <a:ext cx="2148840" cy="320040"/>
          </a:xfrm>
          <a:prstGeom prst="rect">
            <a:avLst/>
          </a:prstGeom>
          <a:noFill/>
        </p:spPr>
        <p:txBody>
          <a:bodyPr wrap="square">
            <a:spAutoFit/>
          </a:bodyPr>
          <a:lstStyle/>
          <a:p>
            <a:pPr algn="l"/>
            <a:r>
              <a:rPr sz="1000" b="0" i="0">
                <a:solidFill>
                  <a:srgbClr val="1A1A1A"/>
                </a:solidFill>
                <a:latin typeface="Calibri"/>
              </a:rPr>
              <a:t>F110 / BKPF</a:t>
            </a:r>
          </a:p>
        </p:txBody>
      </p:sp>
      <p:sp>
        <p:nvSpPr>
          <p:cNvPr id="60" name="Rectangle 59"/>
          <p:cNvSpPr/>
          <p:nvPr/>
        </p:nvSpPr>
        <p:spPr>
          <a:xfrm>
            <a:off x="2468880" y="3950208"/>
            <a:ext cx="242316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42032" y="4041648"/>
            <a:ext cx="2331720" cy="320040"/>
          </a:xfrm>
          <a:prstGeom prst="rect">
            <a:avLst/>
          </a:prstGeom>
          <a:noFill/>
        </p:spPr>
        <p:txBody>
          <a:bodyPr wrap="square">
            <a:spAutoFit/>
          </a:bodyPr>
          <a:lstStyle/>
          <a:p>
            <a:pPr algn="l"/>
            <a:r>
              <a:rPr sz="1000" b="1" i="0">
                <a:solidFill>
                  <a:srgbClr val="00338D"/>
                </a:solidFill>
                <a:latin typeface="Calibri"/>
              </a:rPr>
              <a:t>payment_dump</a:t>
            </a:r>
          </a:p>
        </p:txBody>
      </p:sp>
      <p:sp>
        <p:nvSpPr>
          <p:cNvPr id="62" name="Rectangle 61"/>
          <p:cNvSpPr/>
          <p:nvPr/>
        </p:nvSpPr>
        <p:spPr>
          <a:xfrm>
            <a:off x="4937760" y="3950208"/>
            <a:ext cx="31546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10912" y="4041648"/>
            <a:ext cx="3063240" cy="320040"/>
          </a:xfrm>
          <a:prstGeom prst="rect">
            <a:avLst/>
          </a:prstGeom>
          <a:noFill/>
        </p:spPr>
        <p:txBody>
          <a:bodyPr wrap="square">
            <a:spAutoFit/>
          </a:bodyPr>
          <a:lstStyle/>
          <a:p>
            <a:pPr algn="l"/>
            <a:r>
              <a:rPr sz="1000" b="0" i="0">
                <a:solidFill>
                  <a:srgbClr val="1A1A1A"/>
                </a:solidFill>
                <a:latin typeface="Calibri"/>
              </a:rPr>
              <a:t>Outgoing Payments</a:t>
            </a:r>
          </a:p>
        </p:txBody>
      </p:sp>
      <p:sp>
        <p:nvSpPr>
          <p:cNvPr id="64" name="Rectangle 63"/>
          <p:cNvSpPr/>
          <p:nvPr/>
        </p:nvSpPr>
        <p:spPr>
          <a:xfrm>
            <a:off x="8138160" y="3950208"/>
            <a:ext cx="388620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211312" y="4041648"/>
            <a:ext cx="3794760" cy="320040"/>
          </a:xfrm>
          <a:prstGeom prst="rect">
            <a:avLst/>
          </a:prstGeom>
          <a:noFill/>
        </p:spPr>
        <p:txBody>
          <a:bodyPr wrap="square">
            <a:spAutoFit/>
          </a:bodyPr>
          <a:lstStyle/>
          <a:p>
            <a:pPr algn="l"/>
            <a:r>
              <a:rPr sz="1000" b="0" i="0">
                <a:solidFill>
                  <a:srgbClr val="1A1A1A"/>
                </a:solidFill>
                <a:latin typeface="Calibri"/>
              </a:rPr>
              <a:t>Financial · Leadership · P2P</a:t>
            </a:r>
          </a:p>
        </p:txBody>
      </p:sp>
      <p:sp>
        <p:nvSpPr>
          <p:cNvPr id="66" name="Rectangle 65"/>
          <p:cNvSpPr/>
          <p:nvPr/>
        </p:nvSpPr>
        <p:spPr>
          <a:xfrm>
            <a:off x="182880" y="4425696"/>
            <a:ext cx="2240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56032" y="4517136"/>
            <a:ext cx="2148840" cy="320040"/>
          </a:xfrm>
          <a:prstGeom prst="rect">
            <a:avLst/>
          </a:prstGeom>
          <a:noFill/>
        </p:spPr>
        <p:txBody>
          <a:bodyPr wrap="square">
            <a:spAutoFit/>
          </a:bodyPr>
          <a:lstStyle/>
          <a:p>
            <a:pPr algn="l"/>
            <a:r>
              <a:rPr sz="1000" b="0" i="0">
                <a:solidFill>
                  <a:srgbClr val="1A1A1A"/>
                </a:solidFill>
                <a:latin typeface="Calibri"/>
              </a:rPr>
              <a:t>XK03 / LFA1</a:t>
            </a:r>
          </a:p>
        </p:txBody>
      </p:sp>
      <p:sp>
        <p:nvSpPr>
          <p:cNvPr id="68" name="Rectangle 67"/>
          <p:cNvSpPr/>
          <p:nvPr/>
        </p:nvSpPr>
        <p:spPr>
          <a:xfrm>
            <a:off x="2468880" y="4425696"/>
            <a:ext cx="24231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542032" y="4517136"/>
            <a:ext cx="2331720" cy="320040"/>
          </a:xfrm>
          <a:prstGeom prst="rect">
            <a:avLst/>
          </a:prstGeom>
          <a:noFill/>
        </p:spPr>
        <p:txBody>
          <a:bodyPr wrap="square">
            <a:spAutoFit/>
          </a:bodyPr>
          <a:lstStyle/>
          <a:p>
            <a:pPr algn="l"/>
            <a:r>
              <a:rPr sz="1000" b="1" i="0">
                <a:solidFill>
                  <a:srgbClr val="00338D"/>
                </a:solidFill>
                <a:latin typeface="Calibri"/>
              </a:rPr>
              <a:t>vendor_master</a:t>
            </a:r>
          </a:p>
        </p:txBody>
      </p:sp>
      <p:sp>
        <p:nvSpPr>
          <p:cNvPr id="70" name="Rectangle 69"/>
          <p:cNvSpPr/>
          <p:nvPr/>
        </p:nvSpPr>
        <p:spPr>
          <a:xfrm>
            <a:off x="4937760" y="4425696"/>
            <a:ext cx="3154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010912" y="4517136"/>
            <a:ext cx="3063240" cy="320040"/>
          </a:xfrm>
          <a:prstGeom prst="rect">
            <a:avLst/>
          </a:prstGeom>
          <a:noFill/>
        </p:spPr>
        <p:txBody>
          <a:bodyPr wrap="square">
            <a:spAutoFit/>
          </a:bodyPr>
          <a:lstStyle/>
          <a:p>
            <a:pPr algn="l"/>
            <a:r>
              <a:rPr sz="1000" b="0" i="0">
                <a:solidFill>
                  <a:srgbClr val="1A1A1A"/>
                </a:solidFill>
                <a:latin typeface="Calibri"/>
              </a:rPr>
              <a:t>Vendor Master</a:t>
            </a:r>
          </a:p>
        </p:txBody>
      </p:sp>
      <p:sp>
        <p:nvSpPr>
          <p:cNvPr id="72" name="Rectangle 71"/>
          <p:cNvSpPr/>
          <p:nvPr/>
        </p:nvSpPr>
        <p:spPr>
          <a:xfrm>
            <a:off x="8138160" y="4425696"/>
            <a:ext cx="3886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211312" y="4517136"/>
            <a:ext cx="3794760" cy="320040"/>
          </a:xfrm>
          <a:prstGeom prst="rect">
            <a:avLst/>
          </a:prstGeom>
          <a:noFill/>
        </p:spPr>
        <p:txBody>
          <a:bodyPr wrap="square">
            <a:spAutoFit/>
          </a:bodyPr>
          <a:lstStyle/>
          <a:p>
            <a:pPr algn="l"/>
            <a:r>
              <a:rPr sz="1000" b="0" i="0">
                <a:solidFill>
                  <a:srgbClr val="1A1A1A"/>
                </a:solidFill>
                <a:latin typeface="Calibri"/>
              </a:rPr>
              <a:t>Vendor Performance</a:t>
            </a:r>
          </a:p>
        </p:txBody>
      </p:sp>
      <p:sp>
        <p:nvSpPr>
          <p:cNvPr id="74" name="Rectangle 73"/>
          <p:cNvSpPr/>
          <p:nvPr/>
        </p:nvSpPr>
        <p:spPr>
          <a:xfrm>
            <a:off x="182880" y="4901184"/>
            <a:ext cx="22402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56032" y="4992624"/>
            <a:ext cx="2148840" cy="320040"/>
          </a:xfrm>
          <a:prstGeom prst="rect">
            <a:avLst/>
          </a:prstGeom>
          <a:noFill/>
        </p:spPr>
        <p:txBody>
          <a:bodyPr wrap="square">
            <a:spAutoFit/>
          </a:bodyPr>
          <a:lstStyle/>
          <a:p>
            <a:pPr algn="l"/>
            <a:r>
              <a:rPr sz="1000" b="0" i="0">
                <a:solidFill>
                  <a:srgbClr val="1A1A1A"/>
                </a:solidFill>
                <a:latin typeface="Calibri"/>
              </a:rPr>
              <a:t>AUT10 / CDHDR</a:t>
            </a:r>
          </a:p>
        </p:txBody>
      </p:sp>
      <p:sp>
        <p:nvSpPr>
          <p:cNvPr id="76" name="Rectangle 75"/>
          <p:cNvSpPr/>
          <p:nvPr/>
        </p:nvSpPr>
        <p:spPr>
          <a:xfrm>
            <a:off x="2468880" y="4901184"/>
            <a:ext cx="242316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542032" y="4992624"/>
            <a:ext cx="2331720" cy="320040"/>
          </a:xfrm>
          <a:prstGeom prst="rect">
            <a:avLst/>
          </a:prstGeom>
          <a:noFill/>
        </p:spPr>
        <p:txBody>
          <a:bodyPr wrap="square">
            <a:spAutoFit/>
          </a:bodyPr>
          <a:lstStyle/>
          <a:p>
            <a:pPr algn="l"/>
            <a:r>
              <a:rPr sz="1000" b="1" i="0">
                <a:solidFill>
                  <a:srgbClr val="00338D"/>
                </a:solidFill>
                <a:latin typeface="Calibri"/>
              </a:rPr>
              <a:t>change_log</a:t>
            </a:r>
          </a:p>
        </p:txBody>
      </p:sp>
      <p:sp>
        <p:nvSpPr>
          <p:cNvPr id="78" name="Rectangle 77"/>
          <p:cNvSpPr/>
          <p:nvPr/>
        </p:nvSpPr>
        <p:spPr>
          <a:xfrm>
            <a:off x="4937760" y="4901184"/>
            <a:ext cx="315468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10912" y="4992624"/>
            <a:ext cx="3063240" cy="320040"/>
          </a:xfrm>
          <a:prstGeom prst="rect">
            <a:avLst/>
          </a:prstGeom>
          <a:noFill/>
        </p:spPr>
        <p:txBody>
          <a:bodyPr wrap="square">
            <a:spAutoFit/>
          </a:bodyPr>
          <a:lstStyle/>
          <a:p>
            <a:pPr algn="l"/>
            <a:r>
              <a:rPr sz="1000" b="0" i="0">
                <a:solidFill>
                  <a:srgbClr val="1A1A1A"/>
                </a:solidFill>
                <a:latin typeface="Calibri"/>
              </a:rPr>
              <a:t>PO Change History</a:t>
            </a:r>
          </a:p>
        </p:txBody>
      </p:sp>
      <p:sp>
        <p:nvSpPr>
          <p:cNvPr id="80" name="Rectangle 79"/>
          <p:cNvSpPr/>
          <p:nvPr/>
        </p:nvSpPr>
        <p:spPr>
          <a:xfrm>
            <a:off x="8138160" y="4901184"/>
            <a:ext cx="3886200" cy="4389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211312" y="4992624"/>
            <a:ext cx="3794760" cy="320040"/>
          </a:xfrm>
          <a:prstGeom prst="rect">
            <a:avLst/>
          </a:prstGeom>
          <a:noFill/>
        </p:spPr>
        <p:txBody>
          <a:bodyPr wrap="square">
            <a:spAutoFit/>
          </a:bodyPr>
          <a:lstStyle/>
          <a:p>
            <a:pPr algn="l"/>
            <a:r>
              <a:rPr sz="1000" b="0" i="0">
                <a:solidFill>
                  <a:srgbClr val="1A1A1A"/>
                </a:solidFill>
                <a:latin typeface="Calibri"/>
              </a:rPr>
              <a:t>SOD: PO Create vs Release</a:t>
            </a:r>
          </a:p>
        </p:txBody>
      </p:sp>
      <p:sp>
        <p:nvSpPr>
          <p:cNvPr id="82" name="Rectangle 81"/>
          <p:cNvSpPr/>
          <p:nvPr/>
        </p:nvSpPr>
        <p:spPr>
          <a:xfrm>
            <a:off x="182880" y="5376672"/>
            <a:ext cx="2240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56032" y="5468112"/>
            <a:ext cx="2148840" cy="320040"/>
          </a:xfrm>
          <a:prstGeom prst="rect">
            <a:avLst/>
          </a:prstGeom>
          <a:noFill/>
        </p:spPr>
        <p:txBody>
          <a:bodyPr wrap="square">
            <a:spAutoFit/>
          </a:bodyPr>
          <a:lstStyle/>
          <a:p>
            <a:pPr algn="l"/>
            <a:r>
              <a:rPr sz="1000" b="0" i="0">
                <a:solidFill>
                  <a:srgbClr val="1A1A1A"/>
                </a:solidFill>
                <a:latin typeface="Calibri"/>
              </a:rPr>
              <a:t>ME2L / EKET</a:t>
            </a:r>
          </a:p>
        </p:txBody>
      </p:sp>
      <p:sp>
        <p:nvSpPr>
          <p:cNvPr id="84" name="Rectangle 83"/>
          <p:cNvSpPr/>
          <p:nvPr/>
        </p:nvSpPr>
        <p:spPr>
          <a:xfrm>
            <a:off x="2468880" y="5376672"/>
            <a:ext cx="24231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542032" y="5468112"/>
            <a:ext cx="2331720" cy="320040"/>
          </a:xfrm>
          <a:prstGeom prst="rect">
            <a:avLst/>
          </a:prstGeom>
          <a:noFill/>
        </p:spPr>
        <p:txBody>
          <a:bodyPr wrap="square">
            <a:spAutoFit/>
          </a:bodyPr>
          <a:lstStyle/>
          <a:p>
            <a:pPr algn="l"/>
            <a:r>
              <a:rPr sz="1000" b="1" i="0">
                <a:solidFill>
                  <a:srgbClr val="00338D"/>
                </a:solidFill>
                <a:latin typeface="Calibri"/>
              </a:rPr>
              <a:t>po_delivery_dump</a:t>
            </a:r>
          </a:p>
        </p:txBody>
      </p:sp>
      <p:sp>
        <p:nvSpPr>
          <p:cNvPr id="86" name="Rectangle 85"/>
          <p:cNvSpPr/>
          <p:nvPr/>
        </p:nvSpPr>
        <p:spPr>
          <a:xfrm>
            <a:off x="4937760" y="5376672"/>
            <a:ext cx="3154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010912" y="5468112"/>
            <a:ext cx="3063240" cy="320040"/>
          </a:xfrm>
          <a:prstGeom prst="rect">
            <a:avLst/>
          </a:prstGeom>
          <a:noFill/>
        </p:spPr>
        <p:txBody>
          <a:bodyPr wrap="square">
            <a:spAutoFit/>
          </a:bodyPr>
          <a:lstStyle/>
          <a:p>
            <a:pPr algn="l"/>
            <a:r>
              <a:rPr sz="1000" b="0" i="0">
                <a:solidFill>
                  <a:srgbClr val="1A1A1A"/>
                </a:solidFill>
                <a:latin typeface="Calibri"/>
              </a:rPr>
              <a:t>Delivery Schedule</a:t>
            </a:r>
          </a:p>
        </p:txBody>
      </p:sp>
      <p:sp>
        <p:nvSpPr>
          <p:cNvPr id="88" name="Rectangle 87"/>
          <p:cNvSpPr/>
          <p:nvPr/>
        </p:nvSpPr>
        <p:spPr>
          <a:xfrm>
            <a:off x="8138160" y="5376672"/>
            <a:ext cx="38862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211312" y="5468112"/>
            <a:ext cx="3794760" cy="320040"/>
          </a:xfrm>
          <a:prstGeom prst="rect">
            <a:avLst/>
          </a:prstGeom>
          <a:noFill/>
        </p:spPr>
        <p:txBody>
          <a:bodyPr wrap="square">
            <a:spAutoFit/>
          </a:bodyPr>
          <a:lstStyle/>
          <a:p>
            <a:pPr algn="l"/>
            <a:r>
              <a:rPr sz="1000" b="0" i="0">
                <a:solidFill>
                  <a:srgbClr val="1A1A1A"/>
                </a:solidFill>
                <a:latin typeface="Calibri"/>
              </a:rPr>
              <a:t>Vendor Delivery Lead Time</a:t>
            </a:r>
          </a:p>
        </p:txBody>
      </p:sp>
      <p:sp>
        <p:nvSpPr>
          <p:cNvPr id="90" name="TextBox 89"/>
          <p:cNvSpPr txBox="1"/>
          <p:nvPr/>
        </p:nvSpPr>
        <p:spPr>
          <a:xfrm>
            <a:off x="182880" y="6400800"/>
            <a:ext cx="11795760" cy="320040"/>
          </a:xfrm>
          <a:prstGeom prst="rect">
            <a:avLst/>
          </a:prstGeom>
          <a:noFill/>
        </p:spPr>
        <p:txBody>
          <a:bodyPr wrap="square">
            <a:spAutoFit/>
          </a:bodyPr>
          <a:lstStyle/>
          <a:p>
            <a:pPr algn="l"/>
            <a:r>
              <a:rPr sz="900" b="0" i="1">
                <a:solidFill>
                  <a:srgbClr val="63666A"/>
                </a:solidFill>
                <a:latin typeface="Calibri"/>
              </a:rPr>
              <a:t>Upload CSV exports from SAP → IntelliSource ETL deduplicates, validates, classifies → all KPIs recomputed in &lt; 90 seconds.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09728"/>
            <a:ext cx="9144000" cy="548640"/>
          </a:xfrm>
          <a:prstGeom prst="rect">
            <a:avLst/>
          </a:prstGeom>
          <a:noFill/>
        </p:spPr>
        <p:txBody>
          <a:bodyPr wrap="square">
            <a:spAutoFit/>
          </a:bodyPr>
          <a:lstStyle/>
          <a:p>
            <a:pPr algn="l"/>
            <a:r>
              <a:rPr sz="2800" b="1" i="0">
                <a:solidFill>
                  <a:srgbClr val="FFFFFF"/>
                </a:solidFill>
                <a:latin typeface="Calibri"/>
              </a:rPr>
              <a:t>Business Case &amp; Next Steps</a:t>
            </a:r>
          </a:p>
        </p:txBody>
      </p:sp>
      <p:sp>
        <p:nvSpPr>
          <p:cNvPr id="6" name="TextBox 5"/>
          <p:cNvSpPr txBox="1"/>
          <p:nvPr/>
        </p:nvSpPr>
        <p:spPr>
          <a:xfrm>
            <a:off x="182880" y="658368"/>
            <a:ext cx="9144000" cy="320040"/>
          </a:xfrm>
          <a:prstGeom prst="rect">
            <a:avLst/>
          </a:prstGeom>
          <a:noFill/>
        </p:spPr>
        <p:txBody>
          <a:bodyPr wrap="square">
            <a:spAutoFit/>
          </a:bodyPr>
          <a:lstStyle/>
          <a:p>
            <a:pPr algn="l"/>
            <a:r>
              <a:rPr sz="1300" b="0" i="0">
                <a:solidFill>
                  <a:srgbClr val="0091DA"/>
                </a:solidFill>
                <a:latin typeface="Calibri"/>
              </a:rPr>
              <a:t>Why Now. Why IntelliSource.</a:t>
            </a:r>
          </a:p>
        </p:txBody>
      </p:sp>
      <p:sp>
        <p:nvSpPr>
          <p:cNvPr id="7" name="Rectangle 6"/>
          <p:cNvSpPr/>
          <p:nvPr/>
        </p:nvSpPr>
        <p:spPr>
          <a:xfrm>
            <a:off x="0" y="6492240"/>
            <a:ext cx="12188952"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9144000" cy="274320"/>
          </a:xfrm>
          <a:prstGeom prst="rect">
            <a:avLst/>
          </a:prstGeom>
          <a:noFill/>
        </p:spPr>
        <p:txBody>
          <a:bodyPr wrap="square">
            <a:spAutoFit/>
          </a:bodyPr>
          <a:lstStyle/>
          <a:p>
            <a:pPr algn="l"/>
            <a:r>
              <a:rPr sz="800" b="0" i="0">
                <a:solidFill>
                  <a:srgbClr val="B0C4DE"/>
                </a:solidFill>
                <a:latin typeface="Calibri"/>
              </a:rPr>
              <a:t>KPMG India — IntelliSource | P2P Intelligence &amp; Analytics Platform</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800" b="1" i="0">
                <a:solidFill>
                  <a:srgbClr val="8F7326"/>
                </a:solidFill>
                <a:latin typeface="Calibri"/>
              </a:rPr>
              <a:t>CONFIDENTIAL</a:t>
            </a:r>
          </a:p>
        </p:txBody>
      </p:sp>
      <p:sp>
        <p:nvSpPr>
          <p:cNvPr id="10" name="Rectangle 9"/>
          <p:cNvSpPr/>
          <p:nvPr/>
        </p:nvSpPr>
        <p:spPr>
          <a:xfrm>
            <a:off x="182880" y="1143000"/>
            <a:ext cx="283464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 y="1143000"/>
            <a:ext cx="2834640" cy="73152"/>
          </a:xfrm>
          <a:prstGeom prst="rect">
            <a:avLst/>
          </a:prstGeom>
          <a:solidFill>
            <a:srgbClr val="BC2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1261872"/>
            <a:ext cx="2651760" cy="685800"/>
          </a:xfrm>
          <a:prstGeom prst="rect">
            <a:avLst/>
          </a:prstGeom>
          <a:noFill/>
        </p:spPr>
        <p:txBody>
          <a:bodyPr wrap="square">
            <a:spAutoFit/>
          </a:bodyPr>
          <a:lstStyle/>
          <a:p>
            <a:pPr algn="l"/>
            <a:r>
              <a:rPr sz="2200" b="1" i="0">
                <a:solidFill>
                  <a:srgbClr val="BC204B"/>
                </a:solidFill>
                <a:latin typeface="Calibri"/>
              </a:rPr>
              <a:t>₹50–250 Lakhs</a:t>
            </a:r>
          </a:p>
        </p:txBody>
      </p:sp>
      <p:sp>
        <p:nvSpPr>
          <p:cNvPr id="13" name="TextBox 12"/>
          <p:cNvSpPr txBox="1"/>
          <p:nvPr/>
        </p:nvSpPr>
        <p:spPr>
          <a:xfrm>
            <a:off x="274320" y="1920240"/>
            <a:ext cx="2651760" cy="1097280"/>
          </a:xfrm>
          <a:prstGeom prst="rect">
            <a:avLst/>
          </a:prstGeom>
          <a:noFill/>
        </p:spPr>
        <p:txBody>
          <a:bodyPr wrap="square">
            <a:spAutoFit/>
          </a:bodyPr>
          <a:lstStyle/>
          <a:p>
            <a:pPr algn="l"/>
            <a:r>
              <a:rPr sz="1050" b="0" i="0">
                <a:solidFill>
                  <a:srgbClr val="63666A"/>
                </a:solidFill>
                <a:latin typeface="Calibri"/>
              </a:rPr>
              <a:t>Duplicate invoice
recovery (Year 1)
0.1–0.5% of AP spend</a:t>
            </a:r>
          </a:p>
        </p:txBody>
      </p:sp>
      <p:sp>
        <p:nvSpPr>
          <p:cNvPr id="14" name="Rectangle 13"/>
          <p:cNvSpPr/>
          <p:nvPr/>
        </p:nvSpPr>
        <p:spPr>
          <a:xfrm>
            <a:off x="3200400" y="1143000"/>
            <a:ext cx="283464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0" y="1143000"/>
            <a:ext cx="2834640" cy="73152"/>
          </a:xfrm>
          <a:prstGeom prst="rect">
            <a:avLst/>
          </a:prstGeom>
          <a:solidFill>
            <a:srgbClr val="8F7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840" y="1261872"/>
            <a:ext cx="2651760" cy="685800"/>
          </a:xfrm>
          <a:prstGeom prst="rect">
            <a:avLst/>
          </a:prstGeom>
          <a:noFill/>
        </p:spPr>
        <p:txBody>
          <a:bodyPr wrap="square">
            <a:spAutoFit/>
          </a:bodyPr>
          <a:lstStyle/>
          <a:p>
            <a:pPr algn="l"/>
            <a:r>
              <a:rPr sz="2200" b="1" i="0">
                <a:solidFill>
                  <a:srgbClr val="8F7326"/>
                </a:solidFill>
                <a:latin typeface="Calibri"/>
              </a:rPr>
              <a:t>₹20–80 Lakhs</a:t>
            </a:r>
          </a:p>
        </p:txBody>
      </p:sp>
      <p:sp>
        <p:nvSpPr>
          <p:cNvPr id="17" name="TextBox 16"/>
          <p:cNvSpPr txBox="1"/>
          <p:nvPr/>
        </p:nvSpPr>
        <p:spPr>
          <a:xfrm>
            <a:off x="3291840" y="1920240"/>
            <a:ext cx="2651760" cy="1097280"/>
          </a:xfrm>
          <a:prstGeom prst="rect">
            <a:avLst/>
          </a:prstGeom>
          <a:noFill/>
        </p:spPr>
        <p:txBody>
          <a:bodyPr wrap="square">
            <a:spAutoFit/>
          </a:bodyPr>
          <a:lstStyle/>
          <a:p>
            <a:pPr algn="l"/>
            <a:r>
              <a:rPr sz="1050" b="0" i="0">
                <a:solidFill>
                  <a:srgbClr val="63666A"/>
                </a:solidFill>
                <a:latin typeface="Calibri"/>
              </a:rPr>
              <a:t>Audit finding cost
avoided per SOD
finding caught early</a:t>
            </a:r>
          </a:p>
        </p:txBody>
      </p:sp>
      <p:sp>
        <p:nvSpPr>
          <p:cNvPr id="18" name="Rectangle 17"/>
          <p:cNvSpPr/>
          <p:nvPr/>
        </p:nvSpPr>
        <p:spPr>
          <a:xfrm>
            <a:off x="6217920" y="1143000"/>
            <a:ext cx="283464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1143000"/>
            <a:ext cx="2834640" cy="73152"/>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261872"/>
            <a:ext cx="2651760" cy="685800"/>
          </a:xfrm>
          <a:prstGeom prst="rect">
            <a:avLst/>
          </a:prstGeom>
          <a:noFill/>
        </p:spPr>
        <p:txBody>
          <a:bodyPr wrap="square">
            <a:spAutoFit/>
          </a:bodyPr>
          <a:lstStyle/>
          <a:p>
            <a:pPr algn="l"/>
            <a:r>
              <a:rPr sz="2200" b="1" i="0">
                <a:solidFill>
                  <a:srgbClr val="005EB8"/>
                </a:solidFill>
                <a:latin typeface="Calibri"/>
              </a:rPr>
              <a:t>800 Hours/Year</a:t>
            </a:r>
          </a:p>
        </p:txBody>
      </p:sp>
      <p:sp>
        <p:nvSpPr>
          <p:cNvPr id="21" name="TextBox 20"/>
          <p:cNvSpPr txBox="1"/>
          <p:nvPr/>
        </p:nvSpPr>
        <p:spPr>
          <a:xfrm>
            <a:off x="6309360" y="1920240"/>
            <a:ext cx="2651760" cy="1097280"/>
          </a:xfrm>
          <a:prstGeom prst="rect">
            <a:avLst/>
          </a:prstGeom>
          <a:noFill/>
        </p:spPr>
        <p:txBody>
          <a:bodyPr wrap="square">
            <a:spAutoFit/>
          </a:bodyPr>
          <a:lstStyle/>
          <a:p>
            <a:pPr algn="l"/>
            <a:r>
              <a:rPr sz="1050" b="0" i="0">
                <a:solidFill>
                  <a:srgbClr val="63666A"/>
                </a:solidFill>
                <a:latin typeface="Calibri"/>
              </a:rPr>
              <a:t>Analyst time saved:
manual P2P reporting
eliminated</a:t>
            </a:r>
          </a:p>
        </p:txBody>
      </p:sp>
      <p:sp>
        <p:nvSpPr>
          <p:cNvPr id="22" name="Rectangle 21"/>
          <p:cNvSpPr/>
          <p:nvPr/>
        </p:nvSpPr>
        <p:spPr>
          <a:xfrm>
            <a:off x="9235440" y="1143000"/>
            <a:ext cx="283464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35440" y="1143000"/>
            <a:ext cx="2834640" cy="7315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1261872"/>
            <a:ext cx="2651760" cy="685800"/>
          </a:xfrm>
          <a:prstGeom prst="rect">
            <a:avLst/>
          </a:prstGeom>
          <a:noFill/>
        </p:spPr>
        <p:txBody>
          <a:bodyPr wrap="square">
            <a:spAutoFit/>
          </a:bodyPr>
          <a:lstStyle/>
          <a:p>
            <a:pPr algn="l"/>
            <a:r>
              <a:rPr sz="2200" b="1" i="0">
                <a:solidFill>
                  <a:srgbClr val="007A33"/>
                </a:solidFill>
                <a:latin typeface="Calibri"/>
              </a:rPr>
              <a:t>3–5 Days</a:t>
            </a:r>
          </a:p>
        </p:txBody>
      </p:sp>
      <p:sp>
        <p:nvSpPr>
          <p:cNvPr id="25" name="TextBox 24"/>
          <p:cNvSpPr txBox="1"/>
          <p:nvPr/>
        </p:nvSpPr>
        <p:spPr>
          <a:xfrm>
            <a:off x="9326880" y="1920240"/>
            <a:ext cx="2651760" cy="1097280"/>
          </a:xfrm>
          <a:prstGeom prst="rect">
            <a:avLst/>
          </a:prstGeom>
          <a:noFill/>
        </p:spPr>
        <p:txBody>
          <a:bodyPr wrap="square">
            <a:spAutoFit/>
          </a:bodyPr>
          <a:lstStyle/>
          <a:p>
            <a:pPr algn="l"/>
            <a:r>
              <a:rPr sz="1050" b="0" i="0">
                <a:solidFill>
                  <a:srgbClr val="63666A"/>
                </a:solidFill>
                <a:latin typeface="Calibri"/>
              </a:rPr>
              <a:t>Go-live timeline
for single company
code deployment</a:t>
            </a:r>
          </a:p>
        </p:txBody>
      </p:sp>
      <p:sp>
        <p:nvSpPr>
          <p:cNvPr id="26" name="Rectangle 25"/>
          <p:cNvSpPr/>
          <p:nvPr/>
        </p:nvSpPr>
        <p:spPr>
          <a:xfrm>
            <a:off x="182880" y="3291840"/>
            <a:ext cx="11795760" cy="27432"/>
          </a:xfrm>
          <a:prstGeom prst="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2880" y="3383280"/>
            <a:ext cx="7315200" cy="365760"/>
          </a:xfrm>
          <a:prstGeom prst="rect">
            <a:avLst/>
          </a:prstGeom>
          <a:noFill/>
        </p:spPr>
        <p:txBody>
          <a:bodyPr wrap="square">
            <a:spAutoFit/>
          </a:bodyPr>
          <a:lstStyle/>
          <a:p>
            <a:pPr algn="l"/>
            <a:r>
              <a:rPr sz="1600" b="1" i="0">
                <a:solidFill>
                  <a:srgbClr val="00338D"/>
                </a:solidFill>
                <a:latin typeface="Calibri"/>
              </a:rPr>
              <a:t>Recommended Next Steps</a:t>
            </a:r>
          </a:p>
        </p:txBody>
      </p:sp>
      <p:sp>
        <p:nvSpPr>
          <p:cNvPr id="28" name="Rectangle 27"/>
          <p:cNvSpPr/>
          <p:nvPr/>
        </p:nvSpPr>
        <p:spPr>
          <a:xfrm>
            <a:off x="182880" y="3840480"/>
            <a:ext cx="1097280" cy="438912"/>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2880" y="3931920"/>
            <a:ext cx="1097280" cy="292608"/>
          </a:xfrm>
          <a:prstGeom prst="rect">
            <a:avLst/>
          </a:prstGeom>
          <a:noFill/>
        </p:spPr>
        <p:txBody>
          <a:bodyPr wrap="square">
            <a:spAutoFit/>
          </a:bodyPr>
          <a:lstStyle/>
          <a:p>
            <a:pPr algn="ctr"/>
            <a:r>
              <a:rPr sz="1100" b="1" i="0">
                <a:solidFill>
                  <a:srgbClr val="FFFFFF"/>
                </a:solidFill>
                <a:latin typeface="Calibri"/>
              </a:rPr>
              <a:t>Week 1</a:t>
            </a:r>
          </a:p>
        </p:txBody>
      </p:sp>
      <p:sp>
        <p:nvSpPr>
          <p:cNvPr id="30" name="TextBox 29"/>
          <p:cNvSpPr txBox="1"/>
          <p:nvPr/>
        </p:nvSpPr>
        <p:spPr>
          <a:xfrm>
            <a:off x="1417320" y="3931920"/>
            <a:ext cx="10241280" cy="292608"/>
          </a:xfrm>
          <a:prstGeom prst="rect">
            <a:avLst/>
          </a:prstGeom>
          <a:noFill/>
        </p:spPr>
        <p:txBody>
          <a:bodyPr wrap="square">
            <a:spAutoFit/>
          </a:bodyPr>
          <a:lstStyle/>
          <a:p>
            <a:pPr algn="l"/>
            <a:r>
              <a:rPr sz="1100" b="0" i="0">
                <a:solidFill>
                  <a:srgbClr val="1A1A1A"/>
                </a:solidFill>
                <a:latin typeface="Calibri"/>
              </a:rPr>
              <a:t>Data readiness check — confirm SAP export access for 5 transaction codes</a:t>
            </a:r>
          </a:p>
        </p:txBody>
      </p:sp>
      <p:sp>
        <p:nvSpPr>
          <p:cNvPr id="31" name="Rectangle 30"/>
          <p:cNvSpPr/>
          <p:nvPr/>
        </p:nvSpPr>
        <p:spPr>
          <a:xfrm>
            <a:off x="182880" y="4407408"/>
            <a:ext cx="1097280" cy="438912"/>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2880" y="4498848"/>
            <a:ext cx="1097280" cy="292608"/>
          </a:xfrm>
          <a:prstGeom prst="rect">
            <a:avLst/>
          </a:prstGeom>
          <a:noFill/>
        </p:spPr>
        <p:txBody>
          <a:bodyPr wrap="square">
            <a:spAutoFit/>
          </a:bodyPr>
          <a:lstStyle/>
          <a:p>
            <a:pPr algn="ctr"/>
            <a:r>
              <a:rPr sz="1100" b="1" i="0">
                <a:solidFill>
                  <a:srgbClr val="FFFFFF"/>
                </a:solidFill>
                <a:latin typeface="Calibri"/>
              </a:rPr>
              <a:t>Week 2</a:t>
            </a:r>
          </a:p>
        </p:txBody>
      </p:sp>
      <p:sp>
        <p:nvSpPr>
          <p:cNvPr id="33" name="TextBox 32"/>
          <p:cNvSpPr txBox="1"/>
          <p:nvPr/>
        </p:nvSpPr>
        <p:spPr>
          <a:xfrm>
            <a:off x="1417320" y="4498848"/>
            <a:ext cx="10241280" cy="292608"/>
          </a:xfrm>
          <a:prstGeom prst="rect">
            <a:avLst/>
          </a:prstGeom>
          <a:noFill/>
        </p:spPr>
        <p:txBody>
          <a:bodyPr wrap="square">
            <a:spAutoFit/>
          </a:bodyPr>
          <a:lstStyle/>
          <a:p>
            <a:pPr algn="l"/>
            <a:r>
              <a:rPr sz="1100" b="0" i="0">
                <a:solidFill>
                  <a:srgbClr val="1A1A1A"/>
                </a:solidFill>
                <a:latin typeface="Calibri"/>
              </a:rPr>
              <a:t>Pilot upload — single company code, validate KPI logic against your data</a:t>
            </a:r>
          </a:p>
        </p:txBody>
      </p:sp>
      <p:sp>
        <p:nvSpPr>
          <p:cNvPr id="34" name="Rectangle 33"/>
          <p:cNvSpPr/>
          <p:nvPr/>
        </p:nvSpPr>
        <p:spPr>
          <a:xfrm>
            <a:off x="182880" y="4974336"/>
            <a:ext cx="1097280" cy="438912"/>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065776"/>
            <a:ext cx="1097280" cy="292608"/>
          </a:xfrm>
          <a:prstGeom prst="rect">
            <a:avLst/>
          </a:prstGeom>
          <a:noFill/>
        </p:spPr>
        <p:txBody>
          <a:bodyPr wrap="square">
            <a:spAutoFit/>
          </a:bodyPr>
          <a:lstStyle/>
          <a:p>
            <a:pPr algn="ctr"/>
            <a:r>
              <a:rPr sz="1100" b="1" i="0">
                <a:solidFill>
                  <a:srgbClr val="FFFFFF"/>
                </a:solidFill>
                <a:latin typeface="Calibri"/>
              </a:rPr>
              <a:t>Week 3</a:t>
            </a:r>
          </a:p>
        </p:txBody>
      </p:sp>
      <p:sp>
        <p:nvSpPr>
          <p:cNvPr id="36" name="TextBox 35"/>
          <p:cNvSpPr txBox="1"/>
          <p:nvPr/>
        </p:nvSpPr>
        <p:spPr>
          <a:xfrm>
            <a:off x="1417320" y="5065776"/>
            <a:ext cx="10241280" cy="292608"/>
          </a:xfrm>
          <a:prstGeom prst="rect">
            <a:avLst/>
          </a:prstGeom>
          <a:noFill/>
        </p:spPr>
        <p:txBody>
          <a:bodyPr wrap="square">
            <a:spAutoFit/>
          </a:bodyPr>
          <a:lstStyle/>
          <a:p>
            <a:pPr algn="l"/>
            <a:r>
              <a:rPr sz="1100" b="0" i="0">
                <a:solidFill>
                  <a:srgbClr val="1A1A1A"/>
                </a:solidFill>
                <a:latin typeface="Calibri"/>
              </a:rPr>
              <a:t>Stakeholder walkthrough — 60-minute demo with Procurement + Finance + Audit</a:t>
            </a:r>
          </a:p>
        </p:txBody>
      </p:sp>
      <p:sp>
        <p:nvSpPr>
          <p:cNvPr id="37" name="Rectangle 36"/>
          <p:cNvSpPr/>
          <p:nvPr/>
        </p:nvSpPr>
        <p:spPr>
          <a:xfrm>
            <a:off x="182880" y="5541264"/>
            <a:ext cx="1097280" cy="438912"/>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82880" y="5632704"/>
            <a:ext cx="1097280" cy="292608"/>
          </a:xfrm>
          <a:prstGeom prst="rect">
            <a:avLst/>
          </a:prstGeom>
          <a:noFill/>
        </p:spPr>
        <p:txBody>
          <a:bodyPr wrap="square">
            <a:spAutoFit/>
          </a:bodyPr>
          <a:lstStyle/>
          <a:p>
            <a:pPr algn="ctr"/>
            <a:r>
              <a:rPr sz="1100" b="1" i="0">
                <a:solidFill>
                  <a:srgbClr val="FFFFFF"/>
                </a:solidFill>
                <a:latin typeface="Calibri"/>
              </a:rPr>
              <a:t>Week 4</a:t>
            </a:r>
          </a:p>
        </p:txBody>
      </p:sp>
      <p:sp>
        <p:nvSpPr>
          <p:cNvPr id="39" name="TextBox 38"/>
          <p:cNvSpPr txBox="1"/>
          <p:nvPr/>
        </p:nvSpPr>
        <p:spPr>
          <a:xfrm>
            <a:off x="1417320" y="5632704"/>
            <a:ext cx="10241280" cy="292608"/>
          </a:xfrm>
          <a:prstGeom prst="rect">
            <a:avLst/>
          </a:prstGeom>
          <a:noFill/>
        </p:spPr>
        <p:txBody>
          <a:bodyPr wrap="square">
            <a:spAutoFit/>
          </a:bodyPr>
          <a:lstStyle/>
          <a:p>
            <a:pPr algn="l"/>
            <a:r>
              <a:rPr sz="1100" b="0" i="0">
                <a:solidFill>
                  <a:srgbClr val="1A1A1A"/>
                </a:solidFill>
                <a:latin typeface="Calibri"/>
              </a:rPr>
              <a:t>Go/No-Go decision — full deployment or phased rollout across company codes</a:t>
            </a:r>
          </a:p>
        </p:txBody>
      </p:sp>
      <p:sp>
        <p:nvSpPr>
          <p:cNvPr id="40" name="Rectangle 39"/>
          <p:cNvSpPr/>
          <p:nvPr/>
        </p:nvSpPr>
        <p:spPr>
          <a:xfrm>
            <a:off x="182880" y="5989320"/>
            <a:ext cx="11795760" cy="4572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040" y="6053328"/>
            <a:ext cx="11430000" cy="320040"/>
          </a:xfrm>
          <a:prstGeom prst="rect">
            <a:avLst/>
          </a:prstGeom>
          <a:noFill/>
        </p:spPr>
        <p:txBody>
          <a:bodyPr wrap="square">
            <a:spAutoFit/>
          </a:bodyPr>
          <a:lstStyle/>
          <a:p>
            <a:pPr algn="ctr"/>
            <a:r>
              <a:rPr sz="1000" b="0" i="0">
                <a:solidFill>
                  <a:srgbClr val="FFFFFF"/>
                </a:solidFill>
                <a:latin typeface="Calibri"/>
              </a:rPr>
              <a:t>KPMG India — Procurement Advisory  |  getdev24@gmail.com  |  IntelliSource Pilot available immediately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