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0"/>
            <a:ext cx="1673352" cy="13716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KPMG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1DA"/>
                </a:solidFill>
                <a:latin typeface="Calibri"/>
              </a:rPr>
              <a:t>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0"/>
            <a:ext cx="11795760" cy="2743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AI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06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91DA"/>
                </a:solidFill>
                <a:latin typeface="Calibri"/>
              </a:rPr>
              <a:t>IntelliSource — From Descriptive to Predictive &amp; Prescriptive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291840"/>
            <a:ext cx="11795760" cy="2743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4747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Generative insight on every anomaly, not just a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0448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Explainable risk scoring for vendors and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342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Predictive ML as transaction volume 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640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Document &amp; semantic AI for contracts and invoices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355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KPMG India  |  Procurement Advisory  |  AI Strategy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Calibri"/>
              </a:rPr>
              <a:t>Where P2P Value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A"/>
                </a:solidFill>
                <a:latin typeface="Calibri"/>
              </a:rPr>
              <a:t>The Gap the AI Roadmap Is Built to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4440"/>
            <a:ext cx="3813048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234440"/>
            <a:ext cx="3813048" cy="73152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99032"/>
            <a:ext cx="3538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C204B"/>
                </a:solidFill>
                <a:latin typeface="Calibri"/>
              </a:rPr>
              <a:t>Maverick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11680"/>
            <a:ext cx="3538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5–15% of addressable spend bypasses contracts and negotiated pricing.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234440"/>
            <a:ext cx="3813048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8" y="1234440"/>
            <a:ext cx="3813048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399032"/>
            <a:ext cx="3538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00"/>
                </a:solidFill>
                <a:latin typeface="Calibri"/>
              </a:rPr>
              <a:t>Duplicate &amp; Erroneous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011680"/>
            <a:ext cx="3538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0.1–2% of AP value paid twice, or incorrectly, before anyone notices.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234440"/>
            <a:ext cx="3813048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234440"/>
            <a:ext cx="3813048" cy="7315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399032"/>
            <a:ext cx="3538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8F7326"/>
                </a:solidFill>
                <a:latin typeface="Calibri"/>
              </a:rPr>
              <a:t>Price 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011680"/>
            <a:ext cx="3538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PO price drifts from contract price, line by line, invisible in bulk.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703320"/>
            <a:ext cx="3813048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3703320"/>
            <a:ext cx="3813048" cy="73152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867912"/>
            <a:ext cx="3538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99A8"/>
                </a:solidFill>
                <a:latin typeface="Calibri"/>
              </a:rPr>
              <a:t>Lost Early-Pay Discounts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480560"/>
            <a:ext cx="3538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Cash sits idle while early-payment terms quietly expire unused.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8" y="3703320"/>
            <a:ext cx="3813048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33088" y="3703320"/>
            <a:ext cx="3813048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3867912"/>
            <a:ext cx="3538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5EB8"/>
                </a:solidFill>
                <a:latin typeface="Calibri"/>
              </a:rPr>
              <a:t>MSME Late-Payment Penalties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4480560"/>
            <a:ext cx="3538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Statutory penalties accrue on invoices paid past the compliance window.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703320"/>
            <a:ext cx="3813048" cy="2331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703320"/>
            <a:ext cx="3813048" cy="7315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3867912"/>
            <a:ext cx="3538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6A"/>
                </a:solidFill>
                <a:latin typeface="Calibri"/>
              </a:rPr>
              <a:t>SOD &amp; Fraud 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4480560"/>
            <a:ext cx="35387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Same user creates and approves — control gaps invisible to standard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Calibri"/>
              </a:rPr>
              <a:t>From Descriptive to Predictive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A"/>
                </a:solidFill>
                <a:latin typeface="Calibri"/>
              </a:rPr>
              <a:t>IntelliSource Today Covers One Quadrant of Four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4440"/>
            <a:ext cx="5806440" cy="25146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380744"/>
            <a:ext cx="1051560" cy="292608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38074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LIVE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380744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DESCRIPTIVE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013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D4FF"/>
                </a:solidFill>
                <a:latin typeface="Calibri"/>
              </a:rPr>
              <a:t>What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5440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 role-specific dashboards + Ask IntelliSource narrate history and answer questions on demand.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34440"/>
            <a:ext cx="5806440" cy="25146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89920" y="1380744"/>
            <a:ext cx="1051560" cy="29260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138074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380744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GENERATIVE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0136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D4FF"/>
                </a:solidFill>
                <a:latin typeface="Calibri"/>
              </a:rPr>
              <a:t>Explain &amp; automate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5440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Ask IntelliSource already exists; anomaly-explanation and auto-briefings extend it further.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931920"/>
            <a:ext cx="5806440" cy="25146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4078224"/>
            <a:ext cx="1051560" cy="29260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0782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78224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PRESCRIPTIVE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9884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D4FF"/>
                </a:solidFill>
                <a:latin typeface="Calibri"/>
              </a:rPr>
              <a:t>What to do about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92040"/>
            <a:ext cx="5440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Vendor risk scoring and payment-timing optimization recommend the next action, not just a number.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931920"/>
            <a:ext cx="5806440" cy="2514600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89920" y="4078224"/>
            <a:ext cx="1051560" cy="292608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40782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078224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PREDICTIVE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9884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D4FF"/>
                </a:solidFill>
                <a:latin typeface="Calibri"/>
              </a:rPr>
              <a:t>What will happen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892040"/>
            <a:ext cx="5440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Late-delivery risk, cash-flow forecast, and maverick-spend prediction — built as data volume grows.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Calibri"/>
              </a:rPr>
              <a:t>A.  Generative AI — Extend the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A"/>
                </a:solidFill>
                <a:latin typeface="Calibri"/>
              </a:rPr>
              <a:t>Fastest to ship — reuses Ask IntelliSource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371600"/>
            <a:ext cx="3849624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371600"/>
            <a:ext cx="3849624" cy="7315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17904"/>
            <a:ext cx="566928" cy="29260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1517904"/>
            <a:ext cx="2990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Anomaly Explanation +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2157984"/>
            <a:ext cx="35570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Per flagged PO, the LLM explains why it's risky and recommends the action: block, escalate, or request a credit memo. Turns a reactive flag into a next-best-action.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4" y="1371600"/>
            <a:ext cx="3849624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664" y="1371600"/>
            <a:ext cx="3849624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4344" y="1517904"/>
            <a:ext cx="566928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1517904"/>
            <a:ext cx="2990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Auto Executive Briefings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157984"/>
            <a:ext cx="35570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Scheduled "Monthly P2P Health" narrative + PDF — generated and delivered, so no one has to ask for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1371600"/>
            <a:ext cx="3849624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1371600"/>
            <a:ext cx="3849624" cy="7315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517904"/>
            <a:ext cx="2990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Proactive Insight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157984"/>
            <a:ext cx="35570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On every data upload, surface the top things to look at — unprompted. Shifts the product from pull to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B.  Explainable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Deterministic core + LLM narrative — works on small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371600"/>
            <a:ext cx="3849624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371600"/>
            <a:ext cx="3849624" cy="7315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17904"/>
            <a:ext cx="566928" cy="29260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1517904"/>
            <a:ext cx="2990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Vendor Risk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2157984"/>
            <a:ext cx="35570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Composite 0–100 score — delivery reliability, price volatility, SOD/compliance hits, spend concentration — with an LLM "why" behind every 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4" y="1371600"/>
            <a:ext cx="3849624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664" y="1371600"/>
            <a:ext cx="3849624" cy="73152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4344" y="1517904"/>
            <a:ext cx="566928" cy="292608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1517904"/>
            <a:ext cx="2990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Payment Timing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157984"/>
            <a:ext cx="35570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Per open invoice: capture the early-pay discount, preserve cash, or avoid an MSME late-payment penalty.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1371600"/>
            <a:ext cx="3849624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1371600"/>
            <a:ext cx="3849624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517904"/>
            <a:ext cx="2990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Price-Variance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157984"/>
            <a:ext cx="35570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Flags and quantifies leakage vs. contract or PO price automatically — recovers what bulk review misses.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Calibri"/>
              </a:rPr>
              <a:t>C.  Predictive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A"/>
                </a:solidFill>
                <a:latin typeface="Calibri"/>
              </a:rPr>
              <a:t>Build as transaction volume grows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371600"/>
            <a:ext cx="2852928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371600"/>
            <a:ext cx="2852928" cy="7315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1517904"/>
            <a:ext cx="566928" cy="29260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Late-Delivery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Predicts on-time probability per PO from vendor history and lead time — expedite before it's late.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2968" y="1371600"/>
            <a:ext cx="2852928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72968" y="1371600"/>
            <a:ext cx="2852928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0952" y="1517904"/>
            <a:ext cx="566928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Cash-Flow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Projects AP outflow and predicts when each open invoice actually clears — direct input to CFO cash planning.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371600"/>
            <a:ext cx="2852928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371600"/>
            <a:ext cx="2852928" cy="7315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517904"/>
            <a:ext cx="566928" cy="29260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Maverick-Spend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Flags requisitions likely to go off-contract so procurement can intervene before the PO is cut.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53144" y="1371600"/>
            <a:ext cx="2852928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53144" y="1371600"/>
            <a:ext cx="2852928" cy="73152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338D"/>
                </a:solidFill>
                <a:latin typeface="Calibri"/>
              </a:rPr>
              <a:t>PR→PO Bottleneck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666A"/>
                </a:solidFill>
                <a:latin typeface="Calibri"/>
              </a:rPr>
              <a:t>Flags requisitions that will stall in approval — cuts cycle time instead of just reporting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D.  Semantic &amp; Document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Bigger lift — highest long-term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347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371600"/>
            <a:ext cx="2852928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371600"/>
            <a:ext cx="2852928" cy="7315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1517904"/>
            <a:ext cx="566928" cy="29260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Vendor / Material Dedup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Embeddings catch near-duplicate vendor and material records ("Infosys Ltd" vs "Infosys Limited") — clean master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2968" y="1371600"/>
            <a:ext cx="2852928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72968" y="1371600"/>
            <a:ext cx="2852928" cy="7315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0952" y="1517904"/>
            <a:ext cx="566928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Contract Clause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Extracts terms from contract PDFs, matches against PO terms, flags deviations — extends the Contract Center.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371600"/>
            <a:ext cx="2852928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371600"/>
            <a:ext cx="2852928" cy="73152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517904"/>
            <a:ext cx="566928" cy="292608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Invoice / PO Ingestion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OCR + LLM extract from supplier PDFs and emails and auto-populate — kills manual data entry.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53144" y="1371600"/>
            <a:ext cx="2852928" cy="4937760"/>
          </a:xfrm>
          <a:prstGeom prst="rect">
            <a:avLst/>
          </a:prstGeom>
          <a:solidFill>
            <a:srgbClr val="0A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53144" y="1371600"/>
            <a:ext cx="2852928" cy="7315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11128" y="1517904"/>
            <a:ext cx="566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1517904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Fuzzy Duplicate-Payment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2157984"/>
            <a:ext cx="2560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D4FF"/>
                </a:solidFill>
                <a:latin typeface="Calibri"/>
              </a:rPr>
              <a:t>Similarity matching beyond exact-match rules — catches near-duplicate vendor + amount + date combinations rules miss.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Calibri"/>
              </a:rPr>
              <a:t>Prioritized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3666A"/>
                </a:solidFill>
                <a:latin typeface="Calibri"/>
              </a:rPr>
              <a:t>Three Phases, Increasing Model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80160"/>
            <a:ext cx="11823192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280160"/>
            <a:ext cx="91440" cy="162763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444752"/>
            <a:ext cx="1188720" cy="36576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447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4264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8D"/>
                </a:solidFill>
                <a:latin typeface="Calibri"/>
              </a:rPr>
              <a:t>Generative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828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F7326"/>
                </a:solidFill>
                <a:latin typeface="Calibri"/>
              </a:rPr>
              <a:t>Weeks, not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219456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1945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19456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1945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19456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21945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19456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1945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463040"/>
            <a:ext cx="5806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Reuses the harness and existing data end to end. No model training. Immediate demo value — prescriptive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017520"/>
            <a:ext cx="11823192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3017520"/>
            <a:ext cx="91440" cy="1627632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182112"/>
            <a:ext cx="1188720" cy="365760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1821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1638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8D"/>
                </a:solidFill>
                <a:latin typeface="Calibri"/>
              </a:rPr>
              <a:t>Predictive 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566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099A8"/>
                </a:solidFill>
                <a:latin typeface="Calibri"/>
              </a:rPr>
              <a:t>First real 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393192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393192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93192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393192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393192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393192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200400"/>
            <a:ext cx="5806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Needs a new predictions table and an offline training job. Confidence-scored, advisory outputs only.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754880"/>
            <a:ext cx="11823192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754880"/>
            <a:ext cx="91440" cy="1627632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4919472"/>
            <a:ext cx="1188720" cy="36576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919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49011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8D"/>
                </a:solidFill>
                <a:latin typeface="Calibri"/>
              </a:rPr>
              <a:t>Automation + Documents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5303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C204B"/>
                </a:solidFill>
                <a:latin typeface="Calibri"/>
              </a:rPr>
              <a:t>Biggest lift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566928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56692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566928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56692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566928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56692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566928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56692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5669280"/>
            <a:ext cx="502920" cy="31089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0520" y="56692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4937760"/>
            <a:ext cx="5806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3666A"/>
                </a:solidFill>
                <a:latin typeface="Calibri"/>
              </a:rPr>
              <a:t>Scheduled briefings, contract intelligence, invoice ingestion, upstream prediction — highest transformation.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Reuses Everything Already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C4DE"/>
                </a:solidFill>
                <a:latin typeface="Calibri"/>
              </a:rPr>
              <a:t>KPMG India — IntelliSource | AI Strategy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25880"/>
            <a:ext cx="82296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Read-only tools, same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D4FF"/>
                </a:solidFill>
                <a:latin typeface="Calibri"/>
              </a:rPr>
              <a:t>New predictive tools register as harness READ-ONLY tools — explain_anomaly, score_vendor_risk, optimize_payment_timing, forecast_cashflow. The same endpoints power both Ask IntelliSource and dashboard widgets.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560320"/>
            <a:ext cx="82296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Advisory predictions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44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D4FF"/>
                </a:solidFill>
                <a:latin typeface="Calibri"/>
              </a:rPr>
              <a:t>A new services/ml/ layer writes confidence-scored, timestamped predictions to a dedicated predictions table — never back to source P2P tables. The read-only invariant holds unchanged.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2296" cy="10515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Confidence + provenance, human-in-loop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D4FF"/>
                </a:solidFill>
                <a:latin typeface="Calibri"/>
              </a:rPr>
              <a:t>Every AI output carries confidence and provenance and stays advisory — the Responsible-AI posture already documented in the AI ARB. Nothing auto-executes.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394960"/>
            <a:ext cx="11823192" cy="86868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50468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Recommended starting point: A1 Anomaly Explanation + B1 Vendor Risk Score — zero ML training, runs on today's data, the largest perceived-intelligence jump for the least engineering.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KPMG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India  |  Procurement Advisory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755648"/>
            <a:ext cx="11795760" cy="2743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07792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1DA"/>
                </a:solidFill>
                <a:latin typeface="Calibri"/>
              </a:rPr>
              <a:t>AI-Powered Procurement Intelligence, from KPMG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493008"/>
            <a:ext cx="11795760" cy="2743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703320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776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7764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Confirm Phase 1 scope — Anomaly Explanation + Vendor Risk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06240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2793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79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Schema review — predictions table + confidence/provenance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09160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782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7823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Build + internal stakeholder walkthrough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12080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2852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28523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Pilot on live data — Go / No-Go for 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806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7326"/>
                </a:solidFill>
                <a:latin typeface="Calibri"/>
              </a:rPr>
              <a:t>getdev24@gmail.com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KPMG India  |  Procurement Advisory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