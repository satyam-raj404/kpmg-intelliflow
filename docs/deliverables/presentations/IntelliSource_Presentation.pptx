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08 at 2.21.57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91440"/>
            <a:ext cx="3319272" cy="6675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6032" y="50292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KPMG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12801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91DA"/>
                </a:solidFill>
                <a:latin typeface="Calibri"/>
              </a:rPr>
              <a:t>India  |  Procurement Advisory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755648"/>
            <a:ext cx="5029200" cy="36576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920240"/>
            <a:ext cx="8321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IntelliSource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2971800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91DA"/>
                </a:solidFill>
                <a:latin typeface="Calibri"/>
              </a:rPr>
              <a:t>Procurement Intelligence Platform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3566160"/>
            <a:ext cx="5029200" cy="36576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3749039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4FF"/>
                </a:solidFill>
                <a:latin typeface="Calibri"/>
              </a:rPr>
              <a:t>   Five role-specific dashboards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4178807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4FF"/>
                </a:solidFill>
                <a:latin typeface="Calibri"/>
              </a:rPr>
              <a:t>   Live data from your procurement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4608575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4FF"/>
                </a:solidFill>
                <a:latin typeface="Calibri"/>
              </a:rPr>
              <a:t>   Risk detection invisible to standard 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5038344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4FF"/>
                </a:solidFill>
                <a:latin typeface="Calibri"/>
              </a:rPr>
              <a:t>   End-to-end procure-to-pay pipeline 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492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Application Demo  |  Q2 FY2024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438912"/>
            <a:ext cx="3044952" cy="641908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438912"/>
            <a:ext cx="54864" cy="6419088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08 at 2.20.51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8912"/>
            <a:ext cx="9144000" cy="64190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64008" cy="438912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" y="73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1DA"/>
                </a:solidFill>
                <a:latin typeface="Calibri"/>
              </a:rPr>
              <a:t>KPMG  IntelliSource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63456" y="713232"/>
            <a:ext cx="2606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Procurement</a:t>
            </a:r>
          </a:p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63456" y="1463040"/>
            <a:ext cx="2606040" cy="32004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63456" y="1856232"/>
            <a:ext cx="4572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46336" y="175564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Tracks every purchase order from creation through delivery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63456" y="2633472"/>
            <a:ext cx="4572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46336" y="253288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Flags orders raised without an approved requisition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63456" y="3410712"/>
            <a:ext cx="4572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46336" y="331012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Highlights high-value orders needing extra approval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63456" y="4187952"/>
            <a:ext cx="4572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46336" y="408736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Monitors average time from request to order placement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63456" y="4965192"/>
            <a:ext cx="4572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46336" y="486460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Alerts on orders marked for deletion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"/>
            <a:ext cx="3044952" cy="641908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90088" y="438912"/>
            <a:ext cx="54864" cy="6419088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08 at 2.21.22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2" y="438912"/>
            <a:ext cx="9144000" cy="64190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02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64008" cy="438912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" y="73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F7326"/>
                </a:solidFill>
                <a:latin typeface="Calibri"/>
              </a:rPr>
              <a:t>KPMG  IntelliSource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" y="713232"/>
            <a:ext cx="2606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Financial</a:t>
            </a:r>
          </a:p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" y="1463040"/>
            <a:ext cx="2606040" cy="32004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456" y="1856232"/>
            <a:ext cx="45720" cy="45720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175564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Monitors all outgoing vendor payments in real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" y="2633472"/>
            <a:ext cx="45720" cy="45720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253288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Tracks whether invoices match goods received and the order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" y="3410712"/>
            <a:ext cx="45720" cy="45720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331012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Detects potential duplicate invoices before payment clears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" y="4187952"/>
            <a:ext cx="45720" cy="45720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" y="408736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Shows average time from invoice posting to payment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" y="4965192"/>
            <a:ext cx="45720" cy="45720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" y="486460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Segments spend as capital or operational automatically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438912"/>
            <a:ext cx="3044952" cy="641908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438912"/>
            <a:ext cx="54864" cy="6419088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08 at 2.21.34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8912"/>
            <a:ext cx="9144000" cy="64190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64008" cy="438912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" y="73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1DA"/>
                </a:solidFill>
                <a:latin typeface="Calibri"/>
              </a:rPr>
              <a:t>KPMG  IntelliSource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63456" y="713232"/>
            <a:ext cx="2606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Financial</a:t>
            </a:r>
          </a:p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63456" y="1463040"/>
            <a:ext cx="2606040" cy="32004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63456" y="1591056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91DA"/>
                </a:solidFill>
                <a:latin typeface="Calibri"/>
              </a:rPr>
              <a:t>continued — Payment Trends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63456" y="2075688"/>
            <a:ext cx="4572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46336" y="1975104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Monthly payment volume trend across the fiscal period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63456" y="2852928"/>
            <a:ext cx="4572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46336" y="2752344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Breaks down payments by timing: early, on time, and late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63456" y="3630168"/>
            <a:ext cx="4572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46336" y="3529584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Highlights irregular patterns in vendor payment activity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"/>
            <a:ext cx="3044952" cy="641908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90088" y="438912"/>
            <a:ext cx="54864" cy="6419088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08 at 2.21.57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2" y="438912"/>
            <a:ext cx="9144000" cy="64190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02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64008" cy="438912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" y="73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F7326"/>
                </a:solidFill>
                <a:latin typeface="Calibri"/>
              </a:rPr>
              <a:t>KPMG  IntelliSource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" y="713232"/>
            <a:ext cx="2606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Leadership</a:t>
            </a:r>
          </a:p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" y="1463040"/>
            <a:ext cx="2606040" cy="32004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456" y="1856232"/>
            <a:ext cx="45720" cy="45720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175564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End-to-end view of the entire procurement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" y="2633472"/>
            <a:ext cx="45720" cy="45720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253288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Detects users who performed conflicting duties across documents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" y="3410712"/>
            <a:ext cx="45720" cy="45720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331012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Committed spend visible across all departments and entities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" y="4187952"/>
            <a:ext cx="45720" cy="45720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" y="408736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Live risk indicators for executive and board-level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" y="4965192"/>
            <a:ext cx="45720" cy="45720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" y="486460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Maverick spend rate visible at a glance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438912"/>
            <a:ext cx="3044952" cy="641908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438912"/>
            <a:ext cx="54864" cy="6419088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08 at 2.22.42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8912"/>
            <a:ext cx="9144000" cy="64190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64008" cy="438912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" y="73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1DA"/>
                </a:solidFill>
                <a:latin typeface="Calibri"/>
              </a:rPr>
              <a:t>KPMG  IntelliSource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63456" y="713232"/>
            <a:ext cx="2606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Leadership</a:t>
            </a:r>
          </a:p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63456" y="1463040"/>
            <a:ext cx="2606040" cy="32004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63456" y="1591056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91DA"/>
                </a:solidFill>
                <a:latin typeface="Calibri"/>
              </a:rPr>
              <a:t>continued — Risk Analytics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63456" y="2075688"/>
            <a:ext cx="4572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46336" y="1975104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Shows how budget splits between capital and operational spend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63456" y="2852928"/>
            <a:ext cx="4572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46336" y="2752344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Monthly spend trend for strategic planning and forecasting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63456" y="3630168"/>
            <a:ext cx="4572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46336" y="3529584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Risk indicators updated instantly on every data upload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"/>
            <a:ext cx="3044952" cy="641908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90088" y="438912"/>
            <a:ext cx="54864" cy="6419088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08 at 2.24.04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2" y="438912"/>
            <a:ext cx="9144000" cy="64190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02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64008" cy="438912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" y="73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F7326"/>
                </a:solidFill>
                <a:latin typeface="Calibri"/>
              </a:rPr>
              <a:t>KPMG  IntelliSource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" y="713232"/>
            <a:ext cx="2606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Vendor</a:t>
            </a:r>
          </a:p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Performance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" y="1463040"/>
            <a:ext cx="2606040" cy="32004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456" y="1856232"/>
            <a:ext cx="45720" cy="45720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175564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Identifies which vendors are active, blocked, or restricted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" y="2633472"/>
            <a:ext cx="45720" cy="45720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253288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Tracks compliance rating across all vendor relationships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" y="3410712"/>
            <a:ext cx="45720" cy="45720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331012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Monitors delivery lead time and delay patterns per vendor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" y="4187952"/>
            <a:ext cx="45720" cy="45720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" y="408736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Flags vendors with purchasing or payment blocks immediately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" y="4965192"/>
            <a:ext cx="45720" cy="45720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" y="486460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Surfaces changes to vendor master data this period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438912"/>
            <a:ext cx="3044952" cy="641908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438912"/>
            <a:ext cx="54864" cy="6419088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08 at 2.24.14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8912"/>
            <a:ext cx="9144000" cy="64190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64008" cy="438912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" y="73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1DA"/>
                </a:solidFill>
                <a:latin typeface="Calibri"/>
              </a:rPr>
              <a:t>KPMG  IntelliSource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63456" y="713232"/>
            <a:ext cx="2606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Vendor</a:t>
            </a:r>
          </a:p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Performance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63456" y="1463040"/>
            <a:ext cx="2606040" cy="32004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63456" y="1591056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91DA"/>
                </a:solidFill>
                <a:latin typeface="Calibri"/>
              </a:rPr>
              <a:t>continued — Spend &amp; Segmentation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63456" y="2075688"/>
            <a:ext cx="4572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46336" y="1975104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Segments vendors as domestic, international, and one-time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63456" y="2852928"/>
            <a:ext cx="4572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46336" y="2752344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Shows which vendors account for the highest share of spend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63456" y="3630168"/>
            <a:ext cx="4572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46336" y="3529584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Delivery fill rate comparison across key suppliers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"/>
            <a:ext cx="3044952" cy="641908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90088" y="438912"/>
            <a:ext cx="54864" cy="6419088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08 at 2.24.43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2" y="438912"/>
            <a:ext cx="9144000" cy="64190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02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64008" cy="438912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" y="73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F7326"/>
                </a:solidFill>
                <a:latin typeface="Calibri"/>
              </a:rPr>
              <a:t>KPMG  IntelliSource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" y="713232"/>
            <a:ext cx="2606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CAPEX / OPEX</a:t>
            </a:r>
          </a:p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" y="1463040"/>
            <a:ext cx="2606040" cy="32004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456" y="1856232"/>
            <a:ext cx="45720" cy="45720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175564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Automatically classifies each order as capital or operational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" y="2633472"/>
            <a:ext cx="45720" cy="45720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253288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Monthly trend shows how spend shifts between categories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" y="3410712"/>
            <a:ext cx="45720" cy="45720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331012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Tracks pending deliveries across both budget types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" y="4187952"/>
            <a:ext cx="45720" cy="45720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" y="408736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Drill down by department to see where budget concentrates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438912"/>
            <a:ext cx="3044952" cy="641908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0" y="438912"/>
            <a:ext cx="54864" cy="6419088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08 at 2.26.10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8912"/>
            <a:ext cx="9144000" cy="64190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64008" cy="438912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" y="73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1DA"/>
                </a:solidFill>
                <a:latin typeface="Calibri"/>
              </a:rPr>
              <a:t>KPMG  IntelliSource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63456" y="713232"/>
            <a:ext cx="2606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P2P Lifecycle</a:t>
            </a:r>
          </a:p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Tracker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63456" y="1463040"/>
            <a:ext cx="2606040" cy="32004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63456" y="1856232"/>
            <a:ext cx="4572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46336" y="175564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Visualises every stage from purchase request to final payment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63456" y="2633472"/>
            <a:ext cx="4572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46336" y="253288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Colour-coded health: on target, slow, or bottlenecked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63456" y="3410712"/>
            <a:ext cx="4572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46336" y="331012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Shows how many transactions complete each stage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63456" y="4187952"/>
            <a:ext cx="4572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46336" y="408736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Identifies where documents stall in the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63456" y="4965192"/>
            <a:ext cx="4572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46336" y="486460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Tracks unauthorised orders and returns at each stage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"/>
            <a:ext cx="3044952" cy="6419088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90088" y="438912"/>
            <a:ext cx="54864" cy="6419088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08 at 2.26.49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2" y="438912"/>
            <a:ext cx="9144000" cy="64190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02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64008" cy="438912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" y="73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F7326"/>
                </a:solidFill>
                <a:latin typeface="Calibri"/>
              </a:rPr>
              <a:t>KPMG  IntelliSource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" y="713232"/>
            <a:ext cx="2606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Data Upload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" y="1463040"/>
            <a:ext cx="2606040" cy="32004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456" y="1856232"/>
            <a:ext cx="45720" cy="45720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175564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Upload exported data files to refresh all dashboards at once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" y="2633472"/>
            <a:ext cx="45720" cy="45720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253288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System auto-detects the dataset type from column headers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" y="3410712"/>
            <a:ext cx="45720" cy="45720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331012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All metrics across every dashboard update within seconds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" y="4187952"/>
            <a:ext cx="45720" cy="45720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" y="4087368"/>
            <a:ext cx="2423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D4FF"/>
                </a:solidFill>
                <a:latin typeface="Calibri"/>
              </a:rPr>
              <a:t>Supports multiple file formats including Excel and CSV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7-08 at 2.26.10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91440"/>
            <a:ext cx="3319272" cy="6675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6032" y="50292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KPMG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12801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91DA"/>
                </a:solidFill>
                <a:latin typeface="Calibri"/>
              </a:rPr>
              <a:t>India  |  Procurement Advisory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755648"/>
            <a:ext cx="5029200" cy="36576"/>
          </a:xfrm>
          <a:prstGeom prst="rect">
            <a:avLst/>
          </a:prstGeom>
          <a:solidFill>
            <a:srgbClr val="8F7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920240"/>
            <a:ext cx="8321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2907792"/>
            <a:ext cx="8321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91DA"/>
                </a:solidFill>
                <a:latin typeface="Calibri"/>
              </a:rPr>
              <a:t>Procurement Intelligence, Powered by KPMG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3493008"/>
            <a:ext cx="5029200" cy="36576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3675887"/>
            <a:ext cx="914400" cy="3657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3749039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749039"/>
            <a:ext cx="7223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D4FF"/>
                </a:solidFill>
                <a:latin typeface="Calibri"/>
              </a:rPr>
              <a:t>Data readiness check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4178807"/>
            <a:ext cx="914400" cy="3657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" y="4251959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251959"/>
            <a:ext cx="7223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D4FF"/>
                </a:solidFill>
                <a:latin typeface="Calibri"/>
              </a:rPr>
              <a:t>Pilot upload — single business unit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4681727"/>
            <a:ext cx="914400" cy="3657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4754879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754879"/>
            <a:ext cx="7223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D4FF"/>
                </a:solidFill>
                <a:latin typeface="Calibri"/>
              </a:rPr>
              <a:t>Stakeholder walkthrough — live demo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" y="5184648"/>
            <a:ext cx="914400" cy="3657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" y="52578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257800"/>
            <a:ext cx="7223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D4FF"/>
                </a:solidFill>
                <a:latin typeface="Calibri"/>
              </a:rPr>
              <a:t>Go / No-Go — full rollout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" y="5760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F7326"/>
                </a:solidFill>
                <a:latin typeface="Calibri"/>
              </a:rPr>
              <a:t>getdev24@gmail.com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492240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KPMG India  |  Procurement Advisory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