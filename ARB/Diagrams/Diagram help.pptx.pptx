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9488" y="3588849"/>
            <a:ext cx="8748712" cy="2241347"/>
            <a:chOff x="0" y="0"/>
            <a:chExt cx="11664950" cy="2988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664950" cy="2988437"/>
            </a:xfrm>
            <a:custGeom>
              <a:avLst/>
              <a:gdLst/>
              <a:ahLst/>
              <a:cxnLst/>
              <a:rect l="l" t="t" r="r" b="b"/>
              <a:pathLst>
                <a:path w="11664950" h="2988437">
                  <a:moveTo>
                    <a:pt x="0" y="0"/>
                  </a:moveTo>
                  <a:lnTo>
                    <a:pt x="11664950" y="0"/>
                  </a:lnTo>
                  <a:lnTo>
                    <a:pt x="11664950" y="2988437"/>
                  </a:lnTo>
                  <a:lnTo>
                    <a:pt x="0" y="2988437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664950" cy="303608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2553" y="1731121"/>
            <a:ext cx="1998574" cy="5150691"/>
            <a:chOff x="0" y="0"/>
            <a:chExt cx="2664765" cy="68675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64714" cy="6867525"/>
            </a:xfrm>
            <a:custGeom>
              <a:avLst/>
              <a:gdLst/>
              <a:ahLst/>
              <a:cxnLst/>
              <a:rect l="l" t="t" r="r" b="b"/>
              <a:pathLst>
                <a:path w="2664714" h="6867525">
                  <a:moveTo>
                    <a:pt x="0" y="0"/>
                  </a:moveTo>
                  <a:lnTo>
                    <a:pt x="2664714" y="0"/>
                  </a:lnTo>
                  <a:lnTo>
                    <a:pt x="2664714" y="6867525"/>
                  </a:lnTo>
                  <a:lnTo>
                    <a:pt x="0" y="6867525"/>
                  </a:lnTo>
                  <a:close/>
                </a:path>
              </a:pathLst>
            </a:custGeom>
            <a:solidFill>
              <a:srgbClr val="D0CEC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664765" cy="6924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1"/>
                </a:lnSpc>
              </a:pPr>
              <a:r>
                <a:rPr lang="en-US" sz="2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Solution  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10177" y="6348717"/>
            <a:ext cx="1998574" cy="1404633"/>
            <a:chOff x="0" y="0"/>
            <a:chExt cx="2664765" cy="18728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64714" cy="1872869"/>
            </a:xfrm>
            <a:custGeom>
              <a:avLst/>
              <a:gdLst/>
              <a:ahLst/>
              <a:cxnLst/>
              <a:rect l="l" t="t" r="r" b="b"/>
              <a:pathLst>
                <a:path w="2664714" h="1872869">
                  <a:moveTo>
                    <a:pt x="0" y="0"/>
                  </a:moveTo>
                  <a:lnTo>
                    <a:pt x="2664714" y="0"/>
                  </a:lnTo>
                  <a:lnTo>
                    <a:pt x="2664714" y="1872869"/>
                  </a:lnTo>
                  <a:lnTo>
                    <a:pt x="0" y="1872869"/>
                  </a:lnTo>
                  <a:close/>
                </a:path>
              </a:pathLst>
            </a:custGeom>
            <a:solidFill>
              <a:srgbClr val="D0CEC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664765" cy="192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1"/>
                </a:lnSpc>
              </a:pPr>
              <a:r>
                <a:rPr lang="en-US" sz="2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HR System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02538" y="1584398"/>
            <a:ext cx="1998574" cy="5297414"/>
            <a:chOff x="0" y="0"/>
            <a:chExt cx="2664765" cy="70632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64714" cy="7063232"/>
            </a:xfrm>
            <a:custGeom>
              <a:avLst/>
              <a:gdLst/>
              <a:ahLst/>
              <a:cxnLst/>
              <a:rect l="l" t="t" r="r" b="b"/>
              <a:pathLst>
                <a:path w="2664714" h="7063232">
                  <a:moveTo>
                    <a:pt x="0" y="0"/>
                  </a:moveTo>
                  <a:lnTo>
                    <a:pt x="2664714" y="0"/>
                  </a:lnTo>
                  <a:lnTo>
                    <a:pt x="2664714" y="7063232"/>
                  </a:lnTo>
                  <a:lnTo>
                    <a:pt x="0" y="7063232"/>
                  </a:lnTo>
                  <a:close/>
                </a:path>
              </a:pathLst>
            </a:custGeom>
            <a:solidFill>
              <a:srgbClr val="D0CEC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664765" cy="7120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1"/>
                </a:lnSpc>
              </a:pPr>
              <a:r>
                <a:rPr lang="en-US" sz="2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Analytics /Business Intelligence Solution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80577" y="6348717"/>
            <a:ext cx="1998574" cy="1404633"/>
            <a:chOff x="0" y="0"/>
            <a:chExt cx="2664765" cy="1872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64714" cy="1872869"/>
            </a:xfrm>
            <a:custGeom>
              <a:avLst/>
              <a:gdLst/>
              <a:ahLst/>
              <a:cxnLst/>
              <a:rect l="l" t="t" r="r" b="b"/>
              <a:pathLst>
                <a:path w="2664714" h="1872869">
                  <a:moveTo>
                    <a:pt x="0" y="0"/>
                  </a:moveTo>
                  <a:lnTo>
                    <a:pt x="2664714" y="0"/>
                  </a:lnTo>
                  <a:lnTo>
                    <a:pt x="2664714" y="1872869"/>
                  </a:lnTo>
                  <a:lnTo>
                    <a:pt x="0" y="1872869"/>
                  </a:lnTo>
                  <a:close/>
                </a:path>
              </a:pathLst>
            </a:custGeom>
            <a:solidFill>
              <a:srgbClr val="D0CEC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664765" cy="192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1"/>
                </a:lnSpc>
              </a:pPr>
              <a:r>
                <a:rPr lang="en-US" sz="2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Finance System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697348" y="1579712"/>
            <a:ext cx="3689414" cy="1114120"/>
            <a:chOff x="0" y="0"/>
            <a:chExt cx="4919218" cy="148549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919218" cy="1485519"/>
            </a:xfrm>
            <a:custGeom>
              <a:avLst/>
              <a:gdLst/>
              <a:ahLst/>
              <a:cxnLst/>
              <a:rect l="l" t="t" r="r" b="b"/>
              <a:pathLst>
                <a:path w="4919218" h="1485519">
                  <a:moveTo>
                    <a:pt x="0" y="0"/>
                  </a:moveTo>
                  <a:lnTo>
                    <a:pt x="4919218" y="0"/>
                  </a:lnTo>
                  <a:lnTo>
                    <a:pt x="4919218" y="1485519"/>
                  </a:lnTo>
                  <a:lnTo>
                    <a:pt x="0" y="1485519"/>
                  </a:lnTo>
                  <a:close/>
                </a:path>
              </a:pathLst>
            </a:custGeom>
            <a:solidFill>
              <a:srgbClr val="D0CEC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4919218" cy="154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1"/>
                </a:lnSpc>
              </a:pPr>
              <a:r>
                <a:rPr lang="en-US" sz="2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Engagement/Digital Engagement Layer/Presentation Layer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073891" y="149628"/>
            <a:ext cx="658806" cy="689686"/>
            <a:chOff x="0" y="0"/>
            <a:chExt cx="878408" cy="9195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8459" cy="919607"/>
            </a:xfrm>
            <a:custGeom>
              <a:avLst/>
              <a:gdLst/>
              <a:ahLst/>
              <a:cxnLst/>
              <a:rect l="l" t="t" r="r" b="b"/>
              <a:pathLst>
                <a:path w="878459" h="919607">
                  <a:moveTo>
                    <a:pt x="0" y="0"/>
                  </a:moveTo>
                  <a:lnTo>
                    <a:pt x="878459" y="0"/>
                  </a:lnTo>
                  <a:lnTo>
                    <a:pt x="878459" y="919607"/>
                  </a:lnTo>
                  <a:lnTo>
                    <a:pt x="0" y="919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015751" y="719328"/>
            <a:ext cx="870776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consumer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565211" y="149628"/>
            <a:ext cx="658806" cy="689686"/>
            <a:chOff x="0" y="0"/>
            <a:chExt cx="878408" cy="91958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8459" cy="919607"/>
            </a:xfrm>
            <a:custGeom>
              <a:avLst/>
              <a:gdLst/>
              <a:ahLst/>
              <a:cxnLst/>
              <a:rect l="l" t="t" r="r" b="b"/>
              <a:pathLst>
                <a:path w="878459" h="919607">
                  <a:moveTo>
                    <a:pt x="0" y="0"/>
                  </a:moveTo>
                  <a:lnTo>
                    <a:pt x="878459" y="0"/>
                  </a:lnTo>
                  <a:lnTo>
                    <a:pt x="878459" y="919607"/>
                  </a:lnTo>
                  <a:lnTo>
                    <a:pt x="0" y="919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507070" y="719328"/>
            <a:ext cx="981380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Back-Office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979864" y="149628"/>
            <a:ext cx="658806" cy="689686"/>
            <a:chOff x="0" y="0"/>
            <a:chExt cx="878408" cy="9195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8459" cy="919607"/>
            </a:xfrm>
            <a:custGeom>
              <a:avLst/>
              <a:gdLst/>
              <a:ahLst/>
              <a:cxnLst/>
              <a:rect l="l" t="t" r="r" b="b"/>
              <a:pathLst>
                <a:path w="878459" h="919607">
                  <a:moveTo>
                    <a:pt x="0" y="0"/>
                  </a:moveTo>
                  <a:lnTo>
                    <a:pt x="878459" y="0"/>
                  </a:lnTo>
                  <a:lnTo>
                    <a:pt x="878459" y="919607"/>
                  </a:lnTo>
                  <a:lnTo>
                    <a:pt x="0" y="919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7921723" y="719328"/>
            <a:ext cx="863565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3’rd party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517610" y="121853"/>
            <a:ext cx="658806" cy="689686"/>
            <a:chOff x="0" y="0"/>
            <a:chExt cx="878408" cy="9195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78459" cy="919607"/>
            </a:xfrm>
            <a:custGeom>
              <a:avLst/>
              <a:gdLst/>
              <a:ahLst/>
              <a:cxnLst/>
              <a:rect l="l" t="t" r="r" b="b"/>
              <a:pathLst>
                <a:path w="878459" h="919607">
                  <a:moveTo>
                    <a:pt x="0" y="0"/>
                  </a:moveTo>
                  <a:lnTo>
                    <a:pt x="878459" y="0"/>
                  </a:lnTo>
                  <a:lnTo>
                    <a:pt x="878459" y="919607"/>
                  </a:lnTo>
                  <a:lnTo>
                    <a:pt x="0" y="919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459469" y="719328"/>
            <a:ext cx="868366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820758" y="1584398"/>
            <a:ext cx="3961924" cy="1114120"/>
            <a:chOff x="0" y="0"/>
            <a:chExt cx="5282565" cy="148549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82565" cy="1485519"/>
            </a:xfrm>
            <a:custGeom>
              <a:avLst/>
              <a:gdLst/>
              <a:ahLst/>
              <a:cxnLst/>
              <a:rect l="l" t="t" r="r" b="b"/>
              <a:pathLst>
                <a:path w="5282565" h="1485519">
                  <a:moveTo>
                    <a:pt x="0" y="0"/>
                  </a:moveTo>
                  <a:lnTo>
                    <a:pt x="5282565" y="0"/>
                  </a:lnTo>
                  <a:lnTo>
                    <a:pt x="5282565" y="1485519"/>
                  </a:lnTo>
                  <a:lnTo>
                    <a:pt x="0" y="1485519"/>
                  </a:lnTo>
                  <a:close/>
                </a:path>
              </a:pathLst>
            </a:custGeom>
            <a:solidFill>
              <a:srgbClr val="D0CEC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5282565" cy="154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1"/>
                </a:lnSpc>
              </a:pPr>
              <a:r>
                <a:rPr lang="en-US" sz="2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Web Browser/Digital Engagement Layer/Presentation Layer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77914" y="6348717"/>
            <a:ext cx="1998574" cy="1404633"/>
            <a:chOff x="0" y="0"/>
            <a:chExt cx="2664765" cy="18728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664714" cy="1872869"/>
            </a:xfrm>
            <a:custGeom>
              <a:avLst/>
              <a:gdLst/>
              <a:ahLst/>
              <a:cxnLst/>
              <a:rect l="l" t="t" r="r" b="b"/>
              <a:pathLst>
                <a:path w="2664714" h="1872869">
                  <a:moveTo>
                    <a:pt x="0" y="0"/>
                  </a:moveTo>
                  <a:lnTo>
                    <a:pt x="2664714" y="0"/>
                  </a:lnTo>
                  <a:lnTo>
                    <a:pt x="2664714" y="1872869"/>
                  </a:lnTo>
                  <a:lnTo>
                    <a:pt x="0" y="1872869"/>
                  </a:lnTo>
                  <a:close/>
                </a:path>
              </a:pathLst>
            </a:custGeom>
            <a:solidFill>
              <a:srgbClr val="D0CEC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664765" cy="192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1"/>
                </a:lnSpc>
              </a:pPr>
              <a:r>
                <a:rPr lang="en-US" sz="24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Support system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rot="6681720">
            <a:off x="5450186" y="3136573"/>
            <a:ext cx="2535517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" name="AutoShape 39"/>
          <p:cNvSpPr/>
          <p:nvPr/>
        </p:nvSpPr>
        <p:spPr>
          <a:xfrm rot="3863640">
            <a:off x="7784678" y="3138916"/>
            <a:ext cx="2126218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" name="AutoShape 40"/>
          <p:cNvSpPr/>
          <p:nvPr/>
        </p:nvSpPr>
        <p:spPr>
          <a:xfrm rot="-1177380">
            <a:off x="12211898" y="4466549"/>
            <a:ext cx="1446952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" name="AutoShape 41"/>
          <p:cNvSpPr/>
          <p:nvPr/>
        </p:nvSpPr>
        <p:spPr>
          <a:xfrm rot="45000">
            <a:off x="8964825" y="7046271"/>
            <a:ext cx="727405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2" name="AutoShape 42"/>
          <p:cNvSpPr/>
          <p:nvPr/>
        </p:nvSpPr>
        <p:spPr>
          <a:xfrm rot="32760">
            <a:off x="5994435" y="7046271"/>
            <a:ext cx="1000449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3" name="AutoShape 43"/>
          <p:cNvSpPr/>
          <p:nvPr/>
        </p:nvSpPr>
        <p:spPr>
          <a:xfrm rot="1425960">
            <a:off x="2553433" y="4503230"/>
            <a:ext cx="1023747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4" name="AutoShape 44"/>
          <p:cNvSpPr/>
          <p:nvPr/>
        </p:nvSpPr>
        <p:spPr>
          <a:xfrm rot="3804780">
            <a:off x="1780880" y="5665013"/>
            <a:ext cx="3099826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5" name="AutoShape 45"/>
          <p:cNvSpPr/>
          <p:nvPr/>
        </p:nvSpPr>
        <p:spPr>
          <a:xfrm rot="4757640">
            <a:off x="4979070" y="6084694"/>
            <a:ext cx="2945168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6" name="AutoShape 46"/>
          <p:cNvSpPr/>
          <p:nvPr/>
        </p:nvSpPr>
        <p:spPr>
          <a:xfrm rot="6064980">
            <a:off x="7862545" y="6084694"/>
            <a:ext cx="2845965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7" name="AutoShape 47"/>
          <p:cNvSpPr/>
          <p:nvPr/>
        </p:nvSpPr>
        <p:spPr>
          <a:xfrm rot="10205640">
            <a:off x="7659167" y="6084694"/>
            <a:ext cx="555384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8" name="AutoShape 48"/>
          <p:cNvSpPr/>
          <p:nvPr/>
        </p:nvSpPr>
        <p:spPr>
          <a:xfrm rot="4232400">
            <a:off x="5492906" y="1330376"/>
            <a:ext cx="1554013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9" name="AutoShape 49"/>
          <p:cNvSpPr/>
          <p:nvPr/>
        </p:nvSpPr>
        <p:spPr>
          <a:xfrm rot="6582960">
            <a:off x="8303352" y="1332719"/>
            <a:ext cx="1548517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50" name="AutoShape 50"/>
          <p:cNvSpPr/>
          <p:nvPr/>
        </p:nvSpPr>
        <p:spPr>
          <a:xfrm rot="3877560">
            <a:off x="9738160" y="1332719"/>
            <a:ext cx="1219067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51" name="Group 51"/>
          <p:cNvGrpSpPr/>
          <p:nvPr/>
        </p:nvGrpSpPr>
        <p:grpSpPr>
          <a:xfrm>
            <a:off x="4547626" y="4474693"/>
            <a:ext cx="1454448" cy="213408"/>
            <a:chOff x="0" y="0"/>
            <a:chExt cx="1939265" cy="28454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39290" cy="284607"/>
            </a:xfrm>
            <a:custGeom>
              <a:avLst/>
              <a:gdLst/>
              <a:ahLst/>
              <a:cxnLst/>
              <a:rect l="l" t="t" r="r" b="b"/>
              <a:pathLst>
                <a:path w="1939290" h="284607">
                  <a:moveTo>
                    <a:pt x="0" y="0"/>
                  </a:moveTo>
                  <a:lnTo>
                    <a:pt x="1939290" y="0"/>
                  </a:lnTo>
                  <a:lnTo>
                    <a:pt x="1939290" y="284607"/>
                  </a:lnTo>
                  <a:lnTo>
                    <a:pt x="0" y="284607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939265" cy="303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1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05001" y="4874743"/>
            <a:ext cx="1454448" cy="237687"/>
            <a:chOff x="0" y="0"/>
            <a:chExt cx="1939265" cy="31691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39290" cy="316865"/>
            </a:xfrm>
            <a:custGeom>
              <a:avLst/>
              <a:gdLst/>
              <a:ahLst/>
              <a:cxnLst/>
              <a:rect l="l" t="t" r="r" b="b"/>
              <a:pathLst>
                <a:path w="1939290" h="316865">
                  <a:moveTo>
                    <a:pt x="0" y="0"/>
                  </a:moveTo>
                  <a:lnTo>
                    <a:pt x="1939290" y="0"/>
                  </a:lnTo>
                  <a:lnTo>
                    <a:pt x="1939290" y="316865"/>
                  </a:lnTo>
                  <a:lnTo>
                    <a:pt x="0" y="316865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939265" cy="33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2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419288" y="4060355"/>
            <a:ext cx="1454448" cy="237687"/>
            <a:chOff x="0" y="0"/>
            <a:chExt cx="1939265" cy="31691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939290" cy="316865"/>
            </a:xfrm>
            <a:custGeom>
              <a:avLst/>
              <a:gdLst/>
              <a:ahLst/>
              <a:cxnLst/>
              <a:rect l="l" t="t" r="r" b="b"/>
              <a:pathLst>
                <a:path w="1939290" h="316865">
                  <a:moveTo>
                    <a:pt x="0" y="0"/>
                  </a:moveTo>
                  <a:lnTo>
                    <a:pt x="1939290" y="0"/>
                  </a:lnTo>
                  <a:lnTo>
                    <a:pt x="1939290" y="316865"/>
                  </a:lnTo>
                  <a:lnTo>
                    <a:pt x="0" y="316865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939265" cy="33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3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791013" y="4403255"/>
            <a:ext cx="1454448" cy="237687"/>
            <a:chOff x="0" y="0"/>
            <a:chExt cx="1939265" cy="31691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939290" cy="316865"/>
            </a:xfrm>
            <a:custGeom>
              <a:avLst/>
              <a:gdLst/>
              <a:ahLst/>
              <a:cxnLst/>
              <a:rect l="l" t="t" r="r" b="b"/>
              <a:pathLst>
                <a:path w="1939290" h="316865">
                  <a:moveTo>
                    <a:pt x="0" y="0"/>
                  </a:moveTo>
                  <a:lnTo>
                    <a:pt x="1939290" y="0"/>
                  </a:lnTo>
                  <a:lnTo>
                    <a:pt x="1939290" y="316865"/>
                  </a:lnTo>
                  <a:lnTo>
                    <a:pt x="0" y="316865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1939265" cy="335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3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3561540" y="4799095"/>
            <a:ext cx="2775833" cy="98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DR Level : Cold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 Server Performance – HA,Failover,Multisite clustered HA,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Deployment Tech – VM/Container/BareMetal</a:t>
            </a:r>
          </a:p>
        </p:txBody>
      </p:sp>
      <p:sp>
        <p:nvSpPr>
          <p:cNvPr id="64" name="AutoShape 64"/>
          <p:cNvSpPr/>
          <p:nvPr/>
        </p:nvSpPr>
        <p:spPr>
          <a:xfrm rot="-2563500">
            <a:off x="5907262" y="4375537"/>
            <a:ext cx="606838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65" name="AutoShape 65"/>
          <p:cNvSpPr/>
          <p:nvPr/>
        </p:nvSpPr>
        <p:spPr>
          <a:xfrm rot="2660580">
            <a:off x="5901861" y="4782731"/>
            <a:ext cx="603352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66" name="AutoShape 66"/>
          <p:cNvSpPr/>
          <p:nvPr/>
        </p:nvSpPr>
        <p:spPr>
          <a:xfrm rot="1226100">
            <a:off x="7827683" y="4345886"/>
            <a:ext cx="1009374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67" name="AutoShape 67"/>
          <p:cNvSpPr/>
          <p:nvPr/>
        </p:nvSpPr>
        <p:spPr>
          <a:xfrm rot="-1596600">
            <a:off x="7788288" y="4753080"/>
            <a:ext cx="1073896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68" name="AutoShape 68"/>
          <p:cNvSpPr/>
          <p:nvPr/>
        </p:nvSpPr>
        <p:spPr>
          <a:xfrm rot="-3320640">
            <a:off x="10920860" y="5637305"/>
            <a:ext cx="3437306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69" name="Group 69"/>
          <p:cNvGrpSpPr/>
          <p:nvPr/>
        </p:nvGrpSpPr>
        <p:grpSpPr>
          <a:xfrm>
            <a:off x="3817534" y="8094402"/>
            <a:ext cx="6791658" cy="1584236"/>
            <a:chOff x="0" y="0"/>
            <a:chExt cx="9055544" cy="211231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055481" cy="2112264"/>
            </a:xfrm>
            <a:custGeom>
              <a:avLst/>
              <a:gdLst/>
              <a:ahLst/>
              <a:cxnLst/>
              <a:rect l="l" t="t" r="r" b="b"/>
              <a:pathLst>
                <a:path w="9055481" h="2112264">
                  <a:moveTo>
                    <a:pt x="0" y="0"/>
                  </a:moveTo>
                  <a:lnTo>
                    <a:pt x="9055481" y="0"/>
                  </a:lnTo>
                  <a:lnTo>
                    <a:pt x="9055481" y="2112264"/>
                  </a:lnTo>
                  <a:lnTo>
                    <a:pt x="0" y="2112264"/>
                  </a:lnTo>
                  <a:close/>
                </a:path>
              </a:pathLst>
            </a:custGeom>
            <a:solidFill>
              <a:srgbClr val="F8CBAD">
                <a:alpha val="42353"/>
              </a:srgbClr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9055544" cy="215041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 Server – Solution A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3861254" y="8544439"/>
            <a:ext cx="2744486" cy="98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DR Level : Cold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 Server Performance – HA,Failover,Multisite clustered HA,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Deployment Tech – VM/Container/BareMetal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8823007" y="8683704"/>
            <a:ext cx="1239774" cy="711546"/>
            <a:chOff x="0" y="0"/>
            <a:chExt cx="1653032" cy="94872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653032" cy="948690"/>
            </a:xfrm>
            <a:custGeom>
              <a:avLst/>
              <a:gdLst/>
              <a:ahLst/>
              <a:cxnLst/>
              <a:rect l="l" t="t" r="r" b="b"/>
              <a:pathLst>
                <a:path w="1653032" h="948690">
                  <a:moveTo>
                    <a:pt x="0" y="158115"/>
                  </a:moveTo>
                  <a:cubicBezTo>
                    <a:pt x="0" y="70739"/>
                    <a:pt x="370078" y="0"/>
                    <a:pt x="826516" y="0"/>
                  </a:cubicBezTo>
                  <a:cubicBezTo>
                    <a:pt x="1282954" y="0"/>
                    <a:pt x="1653032" y="70739"/>
                    <a:pt x="1653032" y="158115"/>
                  </a:cubicBezTo>
                  <a:lnTo>
                    <a:pt x="1653032" y="790575"/>
                  </a:lnTo>
                  <a:cubicBezTo>
                    <a:pt x="1653032" y="877951"/>
                    <a:pt x="1282954" y="948690"/>
                    <a:pt x="826516" y="948690"/>
                  </a:cubicBezTo>
                  <a:cubicBezTo>
                    <a:pt x="370078" y="948690"/>
                    <a:pt x="0" y="877951"/>
                    <a:pt x="0" y="790575"/>
                  </a:cubicBez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75"/>
            <p:cNvSpPr/>
            <p:nvPr/>
          </p:nvSpPr>
          <p:spPr>
            <a:xfrm>
              <a:off x="0" y="158115"/>
              <a:ext cx="1653032" cy="158115"/>
            </a:xfrm>
            <a:custGeom>
              <a:avLst/>
              <a:gdLst/>
              <a:ahLst/>
              <a:cxnLst/>
              <a:rect l="l" t="t" r="r" b="b"/>
              <a:pathLst>
                <a:path w="1653032" h="158115">
                  <a:moveTo>
                    <a:pt x="1653032" y="0"/>
                  </a:moveTo>
                  <a:cubicBezTo>
                    <a:pt x="1653032" y="87376"/>
                    <a:pt x="1282954" y="158115"/>
                    <a:pt x="826516" y="158115"/>
                  </a:cubicBezTo>
                  <a:cubicBezTo>
                    <a:pt x="370078" y="158115"/>
                    <a:pt x="0" y="87376"/>
                    <a:pt x="0" y="0"/>
                  </a:cubicBezTo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0" y="0"/>
              <a:ext cx="1653032" cy="948690"/>
            </a:xfrm>
            <a:custGeom>
              <a:avLst/>
              <a:gdLst/>
              <a:ahLst/>
              <a:cxnLst/>
              <a:rect l="l" t="t" r="r" b="b"/>
              <a:pathLst>
                <a:path w="1653032" h="948690">
                  <a:moveTo>
                    <a:pt x="0" y="158115"/>
                  </a:moveTo>
                  <a:cubicBezTo>
                    <a:pt x="0" y="70739"/>
                    <a:pt x="370078" y="0"/>
                    <a:pt x="826516" y="0"/>
                  </a:cubicBezTo>
                  <a:cubicBezTo>
                    <a:pt x="1282954" y="0"/>
                    <a:pt x="1653032" y="70739"/>
                    <a:pt x="1653032" y="158115"/>
                  </a:cubicBezTo>
                  <a:lnTo>
                    <a:pt x="1653032" y="790575"/>
                  </a:lnTo>
                  <a:cubicBezTo>
                    <a:pt x="1653032" y="877951"/>
                    <a:pt x="1282954" y="948690"/>
                    <a:pt x="826516" y="948690"/>
                  </a:cubicBezTo>
                  <a:cubicBezTo>
                    <a:pt x="370078" y="948690"/>
                    <a:pt x="0" y="877951"/>
                    <a:pt x="0" y="790575"/>
                  </a:cubicBez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1653032" cy="9677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Instance Name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3345125" y="8094402"/>
            <a:ext cx="3931034" cy="1584246"/>
            <a:chOff x="0" y="0"/>
            <a:chExt cx="5241379" cy="211232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5241417" cy="2112264"/>
            </a:xfrm>
            <a:custGeom>
              <a:avLst/>
              <a:gdLst/>
              <a:ahLst/>
              <a:cxnLst/>
              <a:rect l="l" t="t" r="r" b="b"/>
              <a:pathLst>
                <a:path w="5241417" h="2112264">
                  <a:moveTo>
                    <a:pt x="0" y="0"/>
                  </a:moveTo>
                  <a:lnTo>
                    <a:pt x="5241417" y="0"/>
                  </a:lnTo>
                  <a:lnTo>
                    <a:pt x="5241417" y="2112264"/>
                  </a:lnTo>
                  <a:lnTo>
                    <a:pt x="0" y="2112264"/>
                  </a:lnTo>
                  <a:close/>
                </a:path>
              </a:pathLst>
            </a:custGeom>
            <a:solidFill>
              <a:srgbClr val="F8CBAD">
                <a:alpha val="42353"/>
              </a:srgbClr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5241379" cy="215042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 - Storage Server – Solution A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4936476" y="8672246"/>
            <a:ext cx="2317433" cy="98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DR Level : Cold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Application Server Performance – HA,Failover,Multisite clustered HA,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Deployment Tech – VM/Container/BareMetal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13547207" y="8639975"/>
            <a:ext cx="1239774" cy="711546"/>
            <a:chOff x="0" y="0"/>
            <a:chExt cx="1653032" cy="94872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653032" cy="948690"/>
            </a:xfrm>
            <a:custGeom>
              <a:avLst/>
              <a:gdLst/>
              <a:ahLst/>
              <a:cxnLst/>
              <a:rect l="l" t="t" r="r" b="b"/>
              <a:pathLst>
                <a:path w="1653032" h="948690">
                  <a:moveTo>
                    <a:pt x="0" y="158115"/>
                  </a:moveTo>
                  <a:cubicBezTo>
                    <a:pt x="0" y="70739"/>
                    <a:pt x="370078" y="0"/>
                    <a:pt x="826516" y="0"/>
                  </a:cubicBezTo>
                  <a:cubicBezTo>
                    <a:pt x="1282954" y="0"/>
                    <a:pt x="1653032" y="70739"/>
                    <a:pt x="1653032" y="158115"/>
                  </a:cubicBezTo>
                  <a:lnTo>
                    <a:pt x="1653032" y="790575"/>
                  </a:lnTo>
                  <a:cubicBezTo>
                    <a:pt x="1653032" y="877951"/>
                    <a:pt x="1282954" y="948690"/>
                    <a:pt x="826516" y="948690"/>
                  </a:cubicBezTo>
                  <a:cubicBezTo>
                    <a:pt x="370078" y="948690"/>
                    <a:pt x="0" y="877951"/>
                    <a:pt x="0" y="790575"/>
                  </a:cubicBez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84"/>
            <p:cNvSpPr/>
            <p:nvPr/>
          </p:nvSpPr>
          <p:spPr>
            <a:xfrm>
              <a:off x="0" y="158115"/>
              <a:ext cx="1653032" cy="158115"/>
            </a:xfrm>
            <a:custGeom>
              <a:avLst/>
              <a:gdLst/>
              <a:ahLst/>
              <a:cxnLst/>
              <a:rect l="l" t="t" r="r" b="b"/>
              <a:pathLst>
                <a:path w="1653032" h="158115">
                  <a:moveTo>
                    <a:pt x="1653032" y="0"/>
                  </a:moveTo>
                  <a:cubicBezTo>
                    <a:pt x="1653032" y="87376"/>
                    <a:pt x="1282954" y="158115"/>
                    <a:pt x="826516" y="158115"/>
                  </a:cubicBezTo>
                  <a:cubicBezTo>
                    <a:pt x="370078" y="158115"/>
                    <a:pt x="0" y="87376"/>
                    <a:pt x="0" y="0"/>
                  </a:cubicBezTo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85"/>
            <p:cNvSpPr/>
            <p:nvPr/>
          </p:nvSpPr>
          <p:spPr>
            <a:xfrm>
              <a:off x="0" y="0"/>
              <a:ext cx="1653032" cy="948690"/>
            </a:xfrm>
            <a:custGeom>
              <a:avLst/>
              <a:gdLst/>
              <a:ahLst/>
              <a:cxnLst/>
              <a:rect l="l" t="t" r="r" b="b"/>
              <a:pathLst>
                <a:path w="1653032" h="948690">
                  <a:moveTo>
                    <a:pt x="0" y="158115"/>
                  </a:moveTo>
                  <a:cubicBezTo>
                    <a:pt x="0" y="70739"/>
                    <a:pt x="370078" y="0"/>
                    <a:pt x="826516" y="0"/>
                  </a:cubicBezTo>
                  <a:cubicBezTo>
                    <a:pt x="1282954" y="0"/>
                    <a:pt x="1653032" y="70739"/>
                    <a:pt x="1653032" y="158115"/>
                  </a:cubicBezTo>
                  <a:lnTo>
                    <a:pt x="1653032" y="790575"/>
                  </a:lnTo>
                  <a:cubicBezTo>
                    <a:pt x="1653032" y="877951"/>
                    <a:pt x="1282954" y="948690"/>
                    <a:pt x="826516" y="948690"/>
                  </a:cubicBezTo>
                  <a:cubicBezTo>
                    <a:pt x="370078" y="948690"/>
                    <a:pt x="0" y="877951"/>
                    <a:pt x="0" y="790575"/>
                  </a:cubicBez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28575"/>
              <a:ext cx="1653032" cy="977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 Storage</a:t>
              </a:r>
            </a:p>
          </p:txBody>
        </p:sp>
      </p:grpSp>
      <p:sp>
        <p:nvSpPr>
          <p:cNvPr id="87" name="AutoShape 87"/>
          <p:cNvSpPr/>
          <p:nvPr/>
        </p:nvSpPr>
        <p:spPr>
          <a:xfrm rot="-83940">
            <a:off x="10031301" y="9008097"/>
            <a:ext cx="3547396" cy="19050"/>
          </a:xfrm>
          <a:prstGeom prst="line">
            <a:avLst/>
          </a:prstGeom>
          <a:ln w="19050" cap="rnd">
            <a:solidFill>
              <a:srgbClr val="FFC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Box 88"/>
          <p:cNvSpPr txBox="1"/>
          <p:nvPr/>
        </p:nvSpPr>
        <p:spPr>
          <a:xfrm>
            <a:off x="11363239" y="8742988"/>
            <a:ext cx="1027071" cy="25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DR mechanism</a:t>
            </a:r>
          </a:p>
        </p:txBody>
      </p:sp>
      <p:sp>
        <p:nvSpPr>
          <p:cNvPr id="89" name="AutoShape 89"/>
          <p:cNvSpPr/>
          <p:nvPr/>
        </p:nvSpPr>
        <p:spPr>
          <a:xfrm rot="5385720">
            <a:off x="8151409" y="6957536"/>
            <a:ext cx="2292810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01044" y="0"/>
            <a:ext cx="6685912" cy="10287000"/>
            <a:chOff x="0" y="0"/>
            <a:chExt cx="8914549" cy="13716000"/>
          </a:xfrm>
        </p:grpSpPr>
        <p:sp>
          <p:nvSpPr>
            <p:cNvPr id="3" name="Freeform 3" descr="A diagram of a diagram  Description automatically generated with medium confidence"/>
            <p:cNvSpPr/>
            <p:nvPr/>
          </p:nvSpPr>
          <p:spPr>
            <a:xfrm>
              <a:off x="0" y="0"/>
              <a:ext cx="8914511" cy="13716000"/>
            </a:xfrm>
            <a:custGeom>
              <a:avLst/>
              <a:gdLst/>
              <a:ahLst/>
              <a:cxnLst/>
              <a:rect l="l" t="t" r="r" b="b"/>
              <a:pathLst>
                <a:path w="8914511" h="13716000">
                  <a:moveTo>
                    <a:pt x="0" y="0"/>
                  </a:moveTo>
                  <a:lnTo>
                    <a:pt x="8914511" y="0"/>
                  </a:lnTo>
                  <a:lnTo>
                    <a:pt x="8914511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699159" y="224314"/>
            <a:ext cx="945832" cy="4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05138" y="2119312"/>
            <a:ext cx="1584236" cy="1175699"/>
            <a:chOff x="0" y="0"/>
            <a:chExt cx="2112315" cy="15675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12264" cy="1567561"/>
            </a:xfrm>
            <a:custGeom>
              <a:avLst/>
              <a:gdLst/>
              <a:ahLst/>
              <a:cxnLst/>
              <a:rect l="l" t="t" r="r" b="b"/>
              <a:pathLst>
                <a:path w="2112264" h="1567561">
                  <a:moveTo>
                    <a:pt x="0" y="0"/>
                  </a:moveTo>
                  <a:lnTo>
                    <a:pt x="2112264" y="0"/>
                  </a:lnTo>
                  <a:lnTo>
                    <a:pt x="2112264" y="1567561"/>
                  </a:lnTo>
                  <a:lnTo>
                    <a:pt x="0" y="1567561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12315" cy="1615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79143" y="3182893"/>
            <a:ext cx="1966712" cy="1574540"/>
            <a:chOff x="0" y="0"/>
            <a:chExt cx="2622283" cy="2099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22296" cy="2099310"/>
            </a:xfrm>
            <a:custGeom>
              <a:avLst/>
              <a:gdLst/>
              <a:ahLst/>
              <a:cxnLst/>
              <a:rect l="l" t="t" r="r" b="b"/>
              <a:pathLst>
                <a:path w="2622296" h="2099310">
                  <a:moveTo>
                    <a:pt x="0" y="524891"/>
                  </a:moveTo>
                  <a:lnTo>
                    <a:pt x="1572641" y="524891"/>
                  </a:lnTo>
                  <a:lnTo>
                    <a:pt x="1572641" y="0"/>
                  </a:lnTo>
                  <a:lnTo>
                    <a:pt x="2622296" y="1049655"/>
                  </a:lnTo>
                  <a:lnTo>
                    <a:pt x="1572641" y="2099310"/>
                  </a:lnTo>
                  <a:lnTo>
                    <a:pt x="1572641" y="1574546"/>
                  </a:lnTo>
                  <a:lnTo>
                    <a:pt x="0" y="1574546"/>
                  </a:lnTo>
                  <a:close/>
                </a:path>
              </a:pathLst>
            </a:custGeom>
            <a:solidFill>
              <a:srgbClr val="A9D18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22283" cy="2147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54130" y="3182893"/>
            <a:ext cx="1966712" cy="1574540"/>
            <a:chOff x="0" y="0"/>
            <a:chExt cx="2622283" cy="20993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22296" cy="2099310"/>
            </a:xfrm>
            <a:custGeom>
              <a:avLst/>
              <a:gdLst/>
              <a:ahLst/>
              <a:cxnLst/>
              <a:rect l="l" t="t" r="r" b="b"/>
              <a:pathLst>
                <a:path w="2622296" h="2099310">
                  <a:moveTo>
                    <a:pt x="0" y="524891"/>
                  </a:moveTo>
                  <a:lnTo>
                    <a:pt x="1572641" y="524891"/>
                  </a:lnTo>
                  <a:lnTo>
                    <a:pt x="1572641" y="0"/>
                  </a:lnTo>
                  <a:lnTo>
                    <a:pt x="2622296" y="1049655"/>
                  </a:lnTo>
                  <a:lnTo>
                    <a:pt x="1572641" y="2099310"/>
                  </a:lnTo>
                  <a:lnTo>
                    <a:pt x="1572641" y="1574546"/>
                  </a:lnTo>
                  <a:lnTo>
                    <a:pt x="0" y="1574546"/>
                  </a:lnTo>
                  <a:close/>
                </a:path>
              </a:pathLst>
            </a:custGeom>
            <a:solidFill>
              <a:srgbClr val="A9D18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22283" cy="2147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Transition - 1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966478" y="3182893"/>
            <a:ext cx="1966712" cy="1574540"/>
            <a:chOff x="0" y="0"/>
            <a:chExt cx="2622283" cy="20993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22296" cy="2099310"/>
            </a:xfrm>
            <a:custGeom>
              <a:avLst/>
              <a:gdLst/>
              <a:ahLst/>
              <a:cxnLst/>
              <a:rect l="l" t="t" r="r" b="b"/>
              <a:pathLst>
                <a:path w="2622296" h="2099310">
                  <a:moveTo>
                    <a:pt x="0" y="524891"/>
                  </a:moveTo>
                  <a:lnTo>
                    <a:pt x="1572641" y="524891"/>
                  </a:lnTo>
                  <a:lnTo>
                    <a:pt x="1572641" y="0"/>
                  </a:lnTo>
                  <a:lnTo>
                    <a:pt x="2622296" y="1049655"/>
                  </a:lnTo>
                  <a:lnTo>
                    <a:pt x="1572641" y="2099310"/>
                  </a:lnTo>
                  <a:lnTo>
                    <a:pt x="1572641" y="1574546"/>
                  </a:lnTo>
                  <a:lnTo>
                    <a:pt x="0" y="1574546"/>
                  </a:lnTo>
                  <a:close/>
                </a:path>
              </a:pathLst>
            </a:custGeom>
            <a:solidFill>
              <a:srgbClr val="A9D18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622283" cy="2147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rot="23820">
            <a:off x="11606536" y="3965400"/>
            <a:ext cx="1374248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 rot="26460">
            <a:off x="8431549" y="3965400"/>
            <a:ext cx="1236888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6217501" y="4928359"/>
            <a:ext cx="2321262" cy="136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Phase-In(Start)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Phase-In(End)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Phase-Out(start)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Phase-Out(End) - Date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476851" y="4928359"/>
            <a:ext cx="2321262" cy="136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Phase-In(Start)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Phase-In(End)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Phase-Out(start)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Phase-Out(End) - Date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789198" y="4928359"/>
            <a:ext cx="2321262" cy="136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Phase-In(Start)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Phase-In(End)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Phase-Out(start) – Date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Phase-Out(End) - Date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0" y="1128712"/>
            <a:ext cx="1998574" cy="7586662"/>
            <a:chOff x="0" y="0"/>
            <a:chExt cx="2664765" cy="101155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4714" cy="10115550"/>
            </a:xfrm>
            <a:custGeom>
              <a:avLst/>
              <a:gdLst/>
              <a:ahLst/>
              <a:cxnLst/>
              <a:rect l="l" t="t" r="r" b="b"/>
              <a:pathLst>
                <a:path w="2664714" h="10115550">
                  <a:moveTo>
                    <a:pt x="0" y="0"/>
                  </a:moveTo>
                  <a:lnTo>
                    <a:pt x="2664714" y="0"/>
                  </a:lnTo>
                  <a:lnTo>
                    <a:pt x="2664714" y="10115550"/>
                  </a:lnTo>
                  <a:lnTo>
                    <a:pt x="0" y="1011555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664765" cy="10163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106400" y="1128712"/>
            <a:ext cx="1998574" cy="2241347"/>
            <a:chOff x="0" y="0"/>
            <a:chExt cx="2664765" cy="29884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64714" cy="2988437"/>
            </a:xfrm>
            <a:custGeom>
              <a:avLst/>
              <a:gdLst/>
              <a:ahLst/>
              <a:cxnLst/>
              <a:rect l="l" t="t" r="r" b="b"/>
              <a:pathLst>
                <a:path w="2664714" h="2988437">
                  <a:moveTo>
                    <a:pt x="0" y="0"/>
                  </a:moveTo>
                  <a:lnTo>
                    <a:pt x="2664714" y="0"/>
                  </a:lnTo>
                  <a:lnTo>
                    <a:pt x="2664714" y="2988437"/>
                  </a:lnTo>
                  <a:lnTo>
                    <a:pt x="0" y="2988437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64765" cy="3036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B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097027" y="3843252"/>
            <a:ext cx="1998574" cy="1662112"/>
            <a:chOff x="0" y="0"/>
            <a:chExt cx="2664765" cy="2216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64714" cy="2216150"/>
            </a:xfrm>
            <a:custGeom>
              <a:avLst/>
              <a:gdLst/>
              <a:ahLst/>
              <a:cxnLst/>
              <a:rect l="l" t="t" r="r" b="b"/>
              <a:pathLst>
                <a:path w="2664714" h="2216150">
                  <a:moveTo>
                    <a:pt x="0" y="0"/>
                  </a:moveTo>
                  <a:lnTo>
                    <a:pt x="2664714" y="0"/>
                  </a:lnTo>
                  <a:lnTo>
                    <a:pt x="2664714" y="2216150"/>
                  </a:lnTo>
                  <a:lnTo>
                    <a:pt x="0" y="221615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664765" cy="2263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Directory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6400" y="5734050"/>
            <a:ext cx="1998574" cy="2981325"/>
            <a:chOff x="0" y="0"/>
            <a:chExt cx="2664765" cy="3975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64714" cy="3975100"/>
            </a:xfrm>
            <a:custGeom>
              <a:avLst/>
              <a:gdLst/>
              <a:ahLst/>
              <a:cxnLst/>
              <a:rect l="l" t="t" r="r" b="b"/>
              <a:pathLst>
                <a:path w="2664714" h="3975100">
                  <a:moveTo>
                    <a:pt x="0" y="0"/>
                  </a:moveTo>
                  <a:lnTo>
                    <a:pt x="2664714" y="0"/>
                  </a:lnTo>
                  <a:lnTo>
                    <a:pt x="2664714" y="3975100"/>
                  </a:lnTo>
                  <a:lnTo>
                    <a:pt x="0" y="39751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664765" cy="402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C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44713" y="1127531"/>
            <a:ext cx="1998574" cy="2981325"/>
            <a:chOff x="0" y="0"/>
            <a:chExt cx="2664765" cy="3975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64714" cy="3975100"/>
            </a:xfrm>
            <a:custGeom>
              <a:avLst/>
              <a:gdLst/>
              <a:ahLst/>
              <a:cxnLst/>
              <a:rect l="l" t="t" r="r" b="b"/>
              <a:pathLst>
                <a:path w="2664714" h="3975100">
                  <a:moveTo>
                    <a:pt x="0" y="0"/>
                  </a:moveTo>
                  <a:lnTo>
                    <a:pt x="2664714" y="0"/>
                  </a:lnTo>
                  <a:lnTo>
                    <a:pt x="2664714" y="3975100"/>
                  </a:lnTo>
                  <a:lnTo>
                    <a:pt x="0" y="3975100"/>
                  </a:lnTo>
                  <a:close/>
                </a:path>
              </a:pathLst>
            </a:custGeom>
            <a:solidFill>
              <a:srgbClr val="A9D18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664765" cy="402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Pattern</a:t>
              </a:r>
            </a:p>
            <a:p>
              <a:pPr algn="ctr">
                <a:lnSpc>
                  <a:spcPts val="2118"/>
                </a:lnSpc>
              </a:pPr>
              <a:endParaRPr lang="en-US" sz="165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ctr">
                <a:lnSpc>
                  <a:spcPts val="2118"/>
                </a:lnSpc>
              </a:pPr>
              <a:r>
                <a:rPr lang="en-US" sz="16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Based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rot="-2189820">
            <a:off x="4650905" y="3765356"/>
            <a:ext cx="3889477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" name="AutoShape 18"/>
          <p:cNvSpPr/>
          <p:nvPr/>
        </p:nvSpPr>
        <p:spPr>
          <a:xfrm rot="-432480">
            <a:off x="10117084" y="2429027"/>
            <a:ext cx="3015520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9" name="AutoShape 19"/>
          <p:cNvSpPr/>
          <p:nvPr/>
        </p:nvSpPr>
        <p:spPr>
          <a:xfrm rot="2082480">
            <a:off x="9806245" y="3641493"/>
            <a:ext cx="3627815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0" name="AutoShape 20"/>
          <p:cNvSpPr/>
          <p:nvPr/>
        </p:nvSpPr>
        <p:spPr>
          <a:xfrm rot="10920">
            <a:off x="10128990" y="7219950"/>
            <a:ext cx="2991707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5685177" y="4583411"/>
            <a:ext cx="1736588" cy="63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Set/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Entity 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17975" y="1713700"/>
            <a:ext cx="1736588" cy="63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Set/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Entity Name</a:t>
            </a:r>
          </a:p>
        </p:txBody>
      </p:sp>
      <p:sp>
        <p:nvSpPr>
          <p:cNvPr id="23" name="TextBox 23"/>
          <p:cNvSpPr txBox="1"/>
          <p:nvPr/>
        </p:nvSpPr>
        <p:spPr>
          <a:xfrm rot="2194920">
            <a:off x="11127238" y="3136916"/>
            <a:ext cx="1736588" cy="63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Set/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Entity Name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80897" y="6539836"/>
            <a:ext cx="1736588" cy="63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Set/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 Entity Name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144713" y="5734050"/>
            <a:ext cx="1998574" cy="2981325"/>
            <a:chOff x="0" y="0"/>
            <a:chExt cx="2664765" cy="3975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64714" cy="3975100"/>
            </a:xfrm>
            <a:custGeom>
              <a:avLst/>
              <a:gdLst/>
              <a:ahLst/>
              <a:cxnLst/>
              <a:rect l="l" t="t" r="r" b="b"/>
              <a:pathLst>
                <a:path w="2664714" h="3975100">
                  <a:moveTo>
                    <a:pt x="0" y="0"/>
                  </a:moveTo>
                  <a:lnTo>
                    <a:pt x="2664714" y="0"/>
                  </a:lnTo>
                  <a:lnTo>
                    <a:pt x="2664714" y="3975100"/>
                  </a:lnTo>
                  <a:lnTo>
                    <a:pt x="0" y="3975100"/>
                  </a:lnTo>
                  <a:close/>
                </a:path>
              </a:pathLst>
            </a:custGeom>
            <a:solidFill>
              <a:srgbClr val="A9D18E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664765" cy="4022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Pattern</a:t>
              </a:r>
            </a:p>
            <a:p>
              <a:pPr algn="ctr">
                <a:lnSpc>
                  <a:spcPts val="2118"/>
                </a:lnSpc>
              </a:pPr>
              <a:endParaRPr lang="en-US" sz="165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  <a:p>
              <a:pPr algn="ctr">
                <a:lnSpc>
                  <a:spcPts val="2118"/>
                </a:lnSpc>
              </a:pPr>
              <a:r>
                <a:rPr lang="en-US" sz="165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Based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rot="2188980">
            <a:off x="4651258" y="6068616"/>
            <a:ext cx="3888772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48625" y="461962"/>
            <a:ext cx="10058400" cy="839162"/>
            <a:chOff x="0" y="0"/>
            <a:chExt cx="13411200" cy="11188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11200" cy="1118870"/>
            </a:xfrm>
            <a:custGeom>
              <a:avLst/>
              <a:gdLst/>
              <a:ahLst/>
              <a:cxnLst/>
              <a:rect l="l" t="t" r="r" b="b"/>
              <a:pathLst>
                <a:path w="13411200" h="1118870">
                  <a:moveTo>
                    <a:pt x="0" y="0"/>
                  </a:moveTo>
                  <a:lnTo>
                    <a:pt x="13411200" y="0"/>
                  </a:lnTo>
                  <a:lnTo>
                    <a:pt x="13411200" y="1118870"/>
                  </a:lnTo>
                  <a:lnTo>
                    <a:pt x="0" y="111887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61925"/>
              <a:ext cx="13411200" cy="1280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33"/>
                </a:lnSpc>
              </a:pPr>
              <a:r>
                <a:rPr lang="en-US" sz="54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48625" y="1282075"/>
            <a:ext cx="1987848" cy="7819377"/>
            <a:chOff x="0" y="0"/>
            <a:chExt cx="2650465" cy="104258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50490" cy="10425811"/>
            </a:xfrm>
            <a:custGeom>
              <a:avLst/>
              <a:gdLst/>
              <a:ahLst/>
              <a:cxnLst/>
              <a:rect l="l" t="t" r="r" b="b"/>
              <a:pathLst>
                <a:path w="2650490" h="10425811">
                  <a:moveTo>
                    <a:pt x="0" y="0"/>
                  </a:moveTo>
                  <a:lnTo>
                    <a:pt x="2650490" y="0"/>
                  </a:lnTo>
                  <a:lnTo>
                    <a:pt x="2650490" y="10425811"/>
                  </a:lnTo>
                  <a:lnTo>
                    <a:pt x="0" y="10425811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50465" cy="1046393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1(Login)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90222" y="1282075"/>
            <a:ext cx="1987848" cy="7819377"/>
            <a:chOff x="0" y="0"/>
            <a:chExt cx="2650465" cy="104258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50490" cy="10425811"/>
            </a:xfrm>
            <a:custGeom>
              <a:avLst/>
              <a:gdLst/>
              <a:ahLst/>
              <a:cxnLst/>
              <a:rect l="l" t="t" r="r" b="b"/>
              <a:pathLst>
                <a:path w="2650490" h="10425811">
                  <a:moveTo>
                    <a:pt x="0" y="0"/>
                  </a:moveTo>
                  <a:lnTo>
                    <a:pt x="2650490" y="0"/>
                  </a:lnTo>
                  <a:lnTo>
                    <a:pt x="2650490" y="10425811"/>
                  </a:lnTo>
                  <a:lnTo>
                    <a:pt x="0" y="10425811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50465" cy="1046393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2(Business Function-1)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31828" y="1282075"/>
            <a:ext cx="1987848" cy="7819377"/>
            <a:chOff x="0" y="0"/>
            <a:chExt cx="2650465" cy="104258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0490" cy="10425811"/>
            </a:xfrm>
            <a:custGeom>
              <a:avLst/>
              <a:gdLst/>
              <a:ahLst/>
              <a:cxnLst/>
              <a:rect l="l" t="t" r="r" b="b"/>
              <a:pathLst>
                <a:path w="2650490" h="10425811">
                  <a:moveTo>
                    <a:pt x="0" y="0"/>
                  </a:moveTo>
                  <a:lnTo>
                    <a:pt x="2650490" y="0"/>
                  </a:lnTo>
                  <a:lnTo>
                    <a:pt x="2650490" y="10425811"/>
                  </a:lnTo>
                  <a:lnTo>
                    <a:pt x="0" y="10425811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650465" cy="1046393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2(Business Function-2)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19177" y="1282075"/>
            <a:ext cx="1987848" cy="7819377"/>
            <a:chOff x="0" y="0"/>
            <a:chExt cx="2650465" cy="104258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50490" cy="10425811"/>
            </a:xfrm>
            <a:custGeom>
              <a:avLst/>
              <a:gdLst/>
              <a:ahLst/>
              <a:cxnLst/>
              <a:rect l="l" t="t" r="r" b="b"/>
              <a:pathLst>
                <a:path w="2650490" h="10425811">
                  <a:moveTo>
                    <a:pt x="0" y="0"/>
                  </a:moveTo>
                  <a:lnTo>
                    <a:pt x="2650490" y="0"/>
                  </a:lnTo>
                  <a:lnTo>
                    <a:pt x="2650490" y="10425811"/>
                  </a:lnTo>
                  <a:lnTo>
                    <a:pt x="0" y="10425811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650465" cy="1046393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2(Monitoring)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782025" y="2619375"/>
            <a:ext cx="3467100" cy="514350"/>
            <a:chOff x="0" y="0"/>
            <a:chExt cx="4622800" cy="685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Programming Languages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82025" y="3362325"/>
            <a:ext cx="3467100" cy="514350"/>
            <a:chOff x="0" y="0"/>
            <a:chExt cx="4622800" cy="685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34543" y="4105275"/>
            <a:ext cx="3467100" cy="514350"/>
            <a:chOff x="0" y="0"/>
            <a:chExt cx="4622800" cy="685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Server Side OS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734543" y="4822184"/>
            <a:ext cx="3467100" cy="514350"/>
            <a:chOff x="0" y="0"/>
            <a:chExt cx="4622800" cy="685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 Side OS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50269" y="5591175"/>
            <a:ext cx="3467100" cy="514350"/>
            <a:chOff x="0" y="0"/>
            <a:chExt cx="4622800" cy="685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Monitoring &amp; Diagnostics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34543" y="6329058"/>
            <a:ext cx="3467100" cy="514350"/>
            <a:chOff x="0" y="0"/>
            <a:chExt cx="4622800" cy="685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Application Runtime Framework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734543" y="7153275"/>
            <a:ext cx="3467100" cy="514350"/>
            <a:chOff x="0" y="0"/>
            <a:chExt cx="4622800" cy="685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Code Management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734543" y="7879099"/>
            <a:ext cx="3467100" cy="514350"/>
            <a:chOff x="0" y="0"/>
            <a:chExt cx="4622800" cy="685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Application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34543" y="8490575"/>
            <a:ext cx="3467100" cy="514350"/>
            <a:chOff x="0" y="0"/>
            <a:chExt cx="4622800" cy="685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622800" cy="685800"/>
            </a:xfrm>
            <a:custGeom>
              <a:avLst/>
              <a:gdLst/>
              <a:ahLst/>
              <a:cxnLst/>
              <a:rect l="l" t="t" r="r" b="b"/>
              <a:pathLst>
                <a:path w="4622800" h="685800">
                  <a:moveTo>
                    <a:pt x="0" y="0"/>
                  </a:moveTo>
                  <a:lnTo>
                    <a:pt x="4622800" y="0"/>
                  </a:lnTo>
                  <a:lnTo>
                    <a:pt x="46228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4622800" cy="7334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OS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18789" y="2619375"/>
            <a:ext cx="1504950" cy="514350"/>
            <a:chOff x="0" y="0"/>
            <a:chExt cx="2006600" cy="685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B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218789" y="3362325"/>
            <a:ext cx="1504950" cy="514350"/>
            <a:chOff x="0" y="0"/>
            <a:chExt cx="2006600" cy="685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C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218789" y="4105275"/>
            <a:ext cx="1504950" cy="514350"/>
            <a:chOff x="0" y="0"/>
            <a:chExt cx="2006600" cy="685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218789" y="4822184"/>
            <a:ext cx="1504950" cy="514350"/>
            <a:chOff x="0" y="0"/>
            <a:chExt cx="2006600" cy="6858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218789" y="5591175"/>
            <a:ext cx="1504950" cy="514350"/>
            <a:chOff x="0" y="0"/>
            <a:chExt cx="2006600" cy="685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18789" y="6329058"/>
            <a:ext cx="1504950" cy="514350"/>
            <a:chOff x="0" y="0"/>
            <a:chExt cx="2006600" cy="685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H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218789" y="7153275"/>
            <a:ext cx="1504950" cy="514350"/>
            <a:chOff x="0" y="0"/>
            <a:chExt cx="2006600" cy="6858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I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218789" y="7879099"/>
            <a:ext cx="1504950" cy="514350"/>
            <a:chOff x="0" y="0"/>
            <a:chExt cx="2006600" cy="685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J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18789" y="8490575"/>
            <a:ext cx="1504950" cy="514350"/>
            <a:chOff x="0" y="0"/>
            <a:chExt cx="2006600" cy="685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K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931671" y="2619375"/>
            <a:ext cx="1504950" cy="514350"/>
            <a:chOff x="0" y="0"/>
            <a:chExt cx="2006600" cy="685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B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931671" y="3362325"/>
            <a:ext cx="1504950" cy="514350"/>
            <a:chOff x="0" y="0"/>
            <a:chExt cx="2006600" cy="685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C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931671" y="4105275"/>
            <a:ext cx="1504950" cy="514350"/>
            <a:chOff x="0" y="0"/>
            <a:chExt cx="2006600" cy="6858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D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931671" y="4822184"/>
            <a:ext cx="1504950" cy="514350"/>
            <a:chOff x="0" y="0"/>
            <a:chExt cx="2006600" cy="685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0931671" y="5591175"/>
            <a:ext cx="1504950" cy="514350"/>
            <a:chOff x="0" y="0"/>
            <a:chExt cx="2006600" cy="685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G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931671" y="6329058"/>
            <a:ext cx="1504950" cy="514350"/>
            <a:chOff x="0" y="0"/>
            <a:chExt cx="2006600" cy="6858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H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0931671" y="7153275"/>
            <a:ext cx="1504950" cy="514350"/>
            <a:chOff x="0" y="0"/>
            <a:chExt cx="2006600" cy="6858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I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0931671" y="7879099"/>
            <a:ext cx="1504950" cy="514350"/>
            <a:chOff x="0" y="0"/>
            <a:chExt cx="2006600" cy="6858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J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0931671" y="8490575"/>
            <a:ext cx="1504950" cy="514350"/>
            <a:chOff x="0" y="0"/>
            <a:chExt cx="2006600" cy="685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K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3519442" y="2619375"/>
            <a:ext cx="1504950" cy="514350"/>
            <a:chOff x="0" y="0"/>
            <a:chExt cx="2006600" cy="6858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B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3519442" y="3362325"/>
            <a:ext cx="1504950" cy="514350"/>
            <a:chOff x="0" y="0"/>
            <a:chExt cx="2006600" cy="68580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C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3519442" y="4105275"/>
            <a:ext cx="1504950" cy="514350"/>
            <a:chOff x="0" y="0"/>
            <a:chExt cx="2006600" cy="6858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D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3519442" y="4822184"/>
            <a:ext cx="1504950" cy="514350"/>
            <a:chOff x="0" y="0"/>
            <a:chExt cx="2006600" cy="6858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E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3519442" y="5591175"/>
            <a:ext cx="1504950" cy="514350"/>
            <a:chOff x="0" y="0"/>
            <a:chExt cx="2006600" cy="6858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G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3519442" y="6329058"/>
            <a:ext cx="1504950" cy="514350"/>
            <a:chOff x="0" y="0"/>
            <a:chExt cx="2006600" cy="68580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H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3519442" y="7153275"/>
            <a:ext cx="1504950" cy="514350"/>
            <a:chOff x="0" y="0"/>
            <a:chExt cx="2006600" cy="68580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I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3519442" y="7879099"/>
            <a:ext cx="1504950" cy="514350"/>
            <a:chOff x="0" y="0"/>
            <a:chExt cx="2006600" cy="68580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J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3519442" y="8490575"/>
            <a:ext cx="1504950" cy="514350"/>
            <a:chOff x="0" y="0"/>
            <a:chExt cx="2006600" cy="68580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K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6391239" y="2619375"/>
            <a:ext cx="1504950" cy="514350"/>
            <a:chOff x="0" y="0"/>
            <a:chExt cx="2006600" cy="68580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B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6391239" y="3362325"/>
            <a:ext cx="1504950" cy="514350"/>
            <a:chOff x="0" y="0"/>
            <a:chExt cx="2006600" cy="68580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C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6391239" y="4105275"/>
            <a:ext cx="1504950" cy="514350"/>
            <a:chOff x="0" y="0"/>
            <a:chExt cx="2006600" cy="68580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D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6391239" y="4822184"/>
            <a:ext cx="1504950" cy="514350"/>
            <a:chOff x="0" y="0"/>
            <a:chExt cx="2006600" cy="68580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E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6391239" y="5591175"/>
            <a:ext cx="1504950" cy="514350"/>
            <a:chOff x="0" y="0"/>
            <a:chExt cx="2006600" cy="68580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G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16391239" y="6329058"/>
            <a:ext cx="1504950" cy="514350"/>
            <a:chOff x="0" y="0"/>
            <a:chExt cx="2006600" cy="68580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H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6391239" y="7153275"/>
            <a:ext cx="1504950" cy="514350"/>
            <a:chOff x="0" y="0"/>
            <a:chExt cx="2006600" cy="68580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I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6391239" y="7879099"/>
            <a:ext cx="1504950" cy="514350"/>
            <a:chOff x="0" y="0"/>
            <a:chExt cx="2006600" cy="68580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8" name="TextBox 148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J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6391239" y="8490575"/>
            <a:ext cx="1504950" cy="514350"/>
            <a:chOff x="0" y="0"/>
            <a:chExt cx="2006600" cy="68580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2006600" cy="685800"/>
            </a:xfrm>
            <a:custGeom>
              <a:avLst/>
              <a:gdLst/>
              <a:ahLst/>
              <a:cxnLst/>
              <a:rect l="l" t="t" r="r" b="b"/>
              <a:pathLst>
                <a:path w="2006600" h="685800">
                  <a:moveTo>
                    <a:pt x="0" y="0"/>
                  </a:moveTo>
                  <a:lnTo>
                    <a:pt x="2006600" y="0"/>
                  </a:lnTo>
                  <a:lnTo>
                    <a:pt x="2006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0" y="-28575"/>
              <a:ext cx="2006600" cy="714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0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 - 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3200" y="1128712"/>
            <a:ext cx="1998574" cy="7586662"/>
            <a:chOff x="0" y="0"/>
            <a:chExt cx="2664765" cy="101155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4714" cy="10115550"/>
            </a:xfrm>
            <a:custGeom>
              <a:avLst/>
              <a:gdLst/>
              <a:ahLst/>
              <a:cxnLst/>
              <a:rect l="l" t="t" r="r" b="b"/>
              <a:pathLst>
                <a:path w="2664714" h="10115550">
                  <a:moveTo>
                    <a:pt x="0" y="0"/>
                  </a:moveTo>
                  <a:lnTo>
                    <a:pt x="2664714" y="0"/>
                  </a:lnTo>
                  <a:lnTo>
                    <a:pt x="2664714" y="10115550"/>
                  </a:lnTo>
                  <a:lnTo>
                    <a:pt x="0" y="10115550"/>
                  </a:lnTo>
                  <a:close/>
                </a:path>
              </a:pathLst>
            </a:custGeom>
            <a:solidFill>
              <a:srgbClr val="38572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64765" cy="101727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311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 Environment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1128712"/>
            <a:ext cx="1998574" cy="7586662"/>
            <a:chOff x="0" y="0"/>
            <a:chExt cx="2664765" cy="101155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64714" cy="10115550"/>
            </a:xfrm>
            <a:custGeom>
              <a:avLst/>
              <a:gdLst/>
              <a:ahLst/>
              <a:cxnLst/>
              <a:rect l="l" t="t" r="r" b="b"/>
              <a:pathLst>
                <a:path w="2664714" h="10115550">
                  <a:moveTo>
                    <a:pt x="0" y="0"/>
                  </a:moveTo>
                  <a:lnTo>
                    <a:pt x="2664714" y="0"/>
                  </a:lnTo>
                  <a:lnTo>
                    <a:pt x="2664714" y="10115550"/>
                  </a:lnTo>
                  <a:lnTo>
                    <a:pt x="0" y="10115550"/>
                  </a:lnTo>
                  <a:close/>
                </a:path>
              </a:pathLst>
            </a:custGeom>
            <a:solidFill>
              <a:srgbClr val="38572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664765" cy="101727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311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QA Environment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73050" y="1128712"/>
            <a:ext cx="1998574" cy="7586662"/>
            <a:chOff x="0" y="0"/>
            <a:chExt cx="2664765" cy="101155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64714" cy="10115550"/>
            </a:xfrm>
            <a:custGeom>
              <a:avLst/>
              <a:gdLst/>
              <a:ahLst/>
              <a:cxnLst/>
              <a:rect l="l" t="t" r="r" b="b"/>
              <a:pathLst>
                <a:path w="2664714" h="10115550">
                  <a:moveTo>
                    <a:pt x="0" y="0"/>
                  </a:moveTo>
                  <a:lnTo>
                    <a:pt x="2664714" y="0"/>
                  </a:lnTo>
                  <a:lnTo>
                    <a:pt x="2664714" y="10115550"/>
                  </a:lnTo>
                  <a:lnTo>
                    <a:pt x="0" y="10115550"/>
                  </a:lnTo>
                  <a:close/>
                </a:path>
              </a:pathLst>
            </a:custGeom>
            <a:solidFill>
              <a:srgbClr val="38572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664765" cy="10172700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311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 Environment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00662" y="4388634"/>
            <a:ext cx="1998574" cy="1066800"/>
            <a:chOff x="0" y="0"/>
            <a:chExt cx="2664765" cy="1422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64714" cy="1422400"/>
            </a:xfrm>
            <a:custGeom>
              <a:avLst/>
              <a:gdLst/>
              <a:ahLst/>
              <a:cxnLst/>
              <a:rect l="l" t="t" r="r" b="b"/>
              <a:pathLst>
                <a:path w="2664714" h="1422400">
                  <a:moveTo>
                    <a:pt x="0" y="0"/>
                  </a:moveTo>
                  <a:lnTo>
                    <a:pt x="2664714" y="0"/>
                  </a:lnTo>
                  <a:lnTo>
                    <a:pt x="2664714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664765" cy="1470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Deployment Pattern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15588" y="4388634"/>
            <a:ext cx="1998574" cy="1066800"/>
            <a:chOff x="0" y="0"/>
            <a:chExt cx="2664765" cy="1422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64714" cy="1422400"/>
            </a:xfrm>
            <a:custGeom>
              <a:avLst/>
              <a:gdLst/>
              <a:ahLst/>
              <a:cxnLst/>
              <a:rect l="l" t="t" r="r" b="b"/>
              <a:pathLst>
                <a:path w="2664714" h="1422400">
                  <a:moveTo>
                    <a:pt x="0" y="0"/>
                  </a:moveTo>
                  <a:lnTo>
                    <a:pt x="2664714" y="0"/>
                  </a:lnTo>
                  <a:lnTo>
                    <a:pt x="2664714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664765" cy="1470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Deployment Pattern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rot="-55740">
            <a:off x="4727448" y="4917281"/>
            <a:ext cx="587540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" name="AutoShape 18"/>
          <p:cNvSpPr/>
          <p:nvPr/>
        </p:nvSpPr>
        <p:spPr>
          <a:xfrm rot="55740">
            <a:off x="7284910" y="4917281"/>
            <a:ext cx="587540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9" name="AutoShape 19"/>
          <p:cNvSpPr/>
          <p:nvPr/>
        </p:nvSpPr>
        <p:spPr>
          <a:xfrm rot="-55740">
            <a:off x="9842373" y="4917281"/>
            <a:ext cx="587540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0" name="AutoShape 20"/>
          <p:cNvSpPr/>
          <p:nvPr/>
        </p:nvSpPr>
        <p:spPr>
          <a:xfrm rot="55740">
            <a:off x="12399836" y="4917281"/>
            <a:ext cx="587540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301714" y="4414828"/>
            <a:ext cx="1998574" cy="1066800"/>
            <a:chOff x="0" y="0"/>
            <a:chExt cx="2664765" cy="1422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664714" cy="1422400"/>
            </a:xfrm>
            <a:custGeom>
              <a:avLst/>
              <a:gdLst/>
              <a:ahLst/>
              <a:cxnLst/>
              <a:rect l="l" t="t" r="r" b="b"/>
              <a:pathLst>
                <a:path w="2664714" h="1422400">
                  <a:moveTo>
                    <a:pt x="0" y="0"/>
                  </a:moveTo>
                  <a:lnTo>
                    <a:pt x="2664714" y="0"/>
                  </a:lnTo>
                  <a:lnTo>
                    <a:pt x="2664714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EDEDED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664765" cy="1470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Deployment Pattern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-259860">
            <a:off x="2285324" y="4930378"/>
            <a:ext cx="472840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2899524" y="2046532"/>
            <a:ext cx="1628775" cy="1619612"/>
            <a:chOff x="0" y="0"/>
            <a:chExt cx="2171700" cy="215948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Code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899524" y="4333694"/>
            <a:ext cx="1628775" cy="1619612"/>
            <a:chOff x="0" y="0"/>
            <a:chExt cx="2171700" cy="215948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928099" y="6515005"/>
            <a:ext cx="1628775" cy="1619612"/>
            <a:chOff x="0" y="0"/>
            <a:chExt cx="2171700" cy="215948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Monitoring Component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 rot="-55740">
            <a:off x="9857365" y="4917281"/>
            <a:ext cx="587540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5" name="AutoShape 35"/>
          <p:cNvSpPr/>
          <p:nvPr/>
        </p:nvSpPr>
        <p:spPr>
          <a:xfrm rot="-259860">
            <a:off x="7415241" y="4930378"/>
            <a:ext cx="472840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36" name="Group 36"/>
          <p:cNvGrpSpPr/>
          <p:nvPr/>
        </p:nvGrpSpPr>
        <p:grpSpPr>
          <a:xfrm>
            <a:off x="8029442" y="2046532"/>
            <a:ext cx="1628775" cy="1619612"/>
            <a:chOff x="0" y="0"/>
            <a:chExt cx="2171700" cy="215948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Code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29442" y="4333694"/>
            <a:ext cx="1628775" cy="1619612"/>
            <a:chOff x="0" y="0"/>
            <a:chExt cx="2171700" cy="215948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58017" y="6515005"/>
            <a:ext cx="1628775" cy="1619612"/>
            <a:chOff x="0" y="0"/>
            <a:chExt cx="2171700" cy="215948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Monitoring Component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 rot="-259860">
            <a:off x="12448851" y="4930378"/>
            <a:ext cx="472840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46" name="Group 46"/>
          <p:cNvGrpSpPr/>
          <p:nvPr/>
        </p:nvGrpSpPr>
        <p:grpSpPr>
          <a:xfrm>
            <a:off x="13063052" y="2046532"/>
            <a:ext cx="1628775" cy="1619612"/>
            <a:chOff x="0" y="0"/>
            <a:chExt cx="2171700" cy="215948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Code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063052" y="4333694"/>
            <a:ext cx="1628775" cy="1619612"/>
            <a:chOff x="0" y="0"/>
            <a:chExt cx="2171700" cy="215948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Configuration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091627" y="6515005"/>
            <a:ext cx="1628775" cy="1619612"/>
            <a:chOff x="0" y="0"/>
            <a:chExt cx="2171700" cy="215948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71700" cy="2159508"/>
            </a:xfrm>
            <a:custGeom>
              <a:avLst/>
              <a:gdLst/>
              <a:ahLst/>
              <a:cxnLst/>
              <a:rect l="l" t="t" r="r" b="b"/>
              <a:pathLst>
                <a:path w="2171700" h="2159508">
                  <a:moveTo>
                    <a:pt x="0" y="0"/>
                  </a:moveTo>
                  <a:lnTo>
                    <a:pt x="2171700" y="0"/>
                  </a:lnTo>
                  <a:lnTo>
                    <a:pt x="2171700" y="2159508"/>
                  </a:lnTo>
                  <a:lnTo>
                    <a:pt x="0" y="2159508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2171700" cy="2207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Monitoring Component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8250" y="976312"/>
            <a:ext cx="3990975" cy="1566862"/>
            <a:chOff x="0" y="0"/>
            <a:chExt cx="5321300" cy="2089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21300" cy="2089150"/>
            </a:xfrm>
            <a:custGeom>
              <a:avLst/>
              <a:gdLst/>
              <a:ahLst/>
              <a:cxnLst/>
              <a:rect l="l" t="t" r="r" b="b"/>
              <a:pathLst>
                <a:path w="5321300" h="2089150">
                  <a:moveTo>
                    <a:pt x="0" y="0"/>
                  </a:moveTo>
                  <a:lnTo>
                    <a:pt x="5321300" y="0"/>
                  </a:lnTo>
                  <a:lnTo>
                    <a:pt x="5321300" y="2089150"/>
                  </a:lnTo>
                  <a:lnTo>
                    <a:pt x="0" y="208915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321300" cy="213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38250" y="3433762"/>
            <a:ext cx="3990975" cy="1566862"/>
            <a:chOff x="0" y="0"/>
            <a:chExt cx="5321300" cy="2089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21300" cy="2089150"/>
            </a:xfrm>
            <a:custGeom>
              <a:avLst/>
              <a:gdLst/>
              <a:ahLst/>
              <a:cxnLst/>
              <a:rect l="l" t="t" r="r" b="b"/>
              <a:pathLst>
                <a:path w="5321300" h="2089150">
                  <a:moveTo>
                    <a:pt x="0" y="0"/>
                  </a:moveTo>
                  <a:lnTo>
                    <a:pt x="5321300" y="0"/>
                  </a:lnTo>
                  <a:lnTo>
                    <a:pt x="5321300" y="2089150"/>
                  </a:lnTo>
                  <a:lnTo>
                    <a:pt x="0" y="208915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321300" cy="213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Monitoring  Solution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38250" y="5891212"/>
            <a:ext cx="3990975" cy="1566862"/>
            <a:chOff x="0" y="0"/>
            <a:chExt cx="5321300" cy="2089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21300" cy="2089150"/>
            </a:xfrm>
            <a:custGeom>
              <a:avLst/>
              <a:gdLst/>
              <a:ahLst/>
              <a:cxnLst/>
              <a:rect l="l" t="t" r="r" b="b"/>
              <a:pathLst>
                <a:path w="5321300" h="2089150">
                  <a:moveTo>
                    <a:pt x="0" y="0"/>
                  </a:moveTo>
                  <a:lnTo>
                    <a:pt x="5321300" y="0"/>
                  </a:lnTo>
                  <a:lnTo>
                    <a:pt x="5321300" y="2089150"/>
                  </a:lnTo>
                  <a:lnTo>
                    <a:pt x="0" y="208915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321300" cy="213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Incident Management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5364360">
            <a:off x="2774128" y="2983706"/>
            <a:ext cx="919210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2" name="AutoShape 12"/>
          <p:cNvSpPr/>
          <p:nvPr/>
        </p:nvSpPr>
        <p:spPr>
          <a:xfrm rot="5426640">
            <a:off x="2619356" y="5595938"/>
            <a:ext cx="1228763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3325178" y="2694499"/>
            <a:ext cx="2668667" cy="74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Send Monitoring and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diagnostics information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25178" y="5221786"/>
            <a:ext cx="2687326" cy="74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Raise Incident and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allocate as per the SLA.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52475" y="333375"/>
            <a:ext cx="7086600" cy="7429500"/>
            <a:chOff x="0" y="0"/>
            <a:chExt cx="9448800" cy="990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48800" cy="9906000"/>
            </a:xfrm>
            <a:custGeom>
              <a:avLst/>
              <a:gdLst/>
              <a:ahLst/>
              <a:cxnLst/>
              <a:rect l="l" t="t" r="r" b="b"/>
              <a:pathLst>
                <a:path w="9448800" h="9906000">
                  <a:moveTo>
                    <a:pt x="0" y="0"/>
                  </a:moveTo>
                  <a:lnTo>
                    <a:pt x="9448800" y="0"/>
                  </a:lnTo>
                  <a:lnTo>
                    <a:pt x="9448800" y="9906000"/>
                  </a:lnTo>
                  <a:lnTo>
                    <a:pt x="0" y="990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4511" r="-84511"/>
              </a:stretch>
            </a:blip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9448800" cy="99536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Monitoring and Incident Management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91575" y="938212"/>
            <a:ext cx="7505700" cy="1566862"/>
            <a:chOff x="0" y="0"/>
            <a:chExt cx="10007600" cy="20891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07600" cy="2089150"/>
            </a:xfrm>
            <a:custGeom>
              <a:avLst/>
              <a:gdLst/>
              <a:ahLst/>
              <a:cxnLst/>
              <a:rect l="l" t="t" r="r" b="b"/>
              <a:pathLst>
                <a:path w="10007600" h="2089150">
                  <a:moveTo>
                    <a:pt x="0" y="0"/>
                  </a:moveTo>
                  <a:lnTo>
                    <a:pt x="10007600" y="0"/>
                  </a:lnTo>
                  <a:lnTo>
                    <a:pt x="10007600" y="2089150"/>
                  </a:lnTo>
                  <a:lnTo>
                    <a:pt x="0" y="208915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007600" cy="213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91575" y="4051640"/>
            <a:ext cx="3219450" cy="910885"/>
            <a:chOff x="0" y="0"/>
            <a:chExt cx="4292600" cy="12145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92600" cy="1214501"/>
            </a:xfrm>
            <a:custGeom>
              <a:avLst/>
              <a:gdLst/>
              <a:ahLst/>
              <a:cxnLst/>
              <a:rect l="l" t="t" r="r" b="b"/>
              <a:pathLst>
                <a:path w="4292600" h="1214501">
                  <a:moveTo>
                    <a:pt x="0" y="0"/>
                  </a:moveTo>
                  <a:lnTo>
                    <a:pt x="4292600" y="0"/>
                  </a:lnTo>
                  <a:lnTo>
                    <a:pt x="4292600" y="1214501"/>
                  </a:lnTo>
                  <a:lnTo>
                    <a:pt x="0" y="1214501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4292600" cy="1262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Backup Solution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861372" y="4051640"/>
            <a:ext cx="2655894" cy="803881"/>
            <a:chOff x="0" y="0"/>
            <a:chExt cx="3541192" cy="10718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541141" cy="1071880"/>
            </a:xfrm>
            <a:custGeom>
              <a:avLst/>
              <a:gdLst/>
              <a:ahLst/>
              <a:cxnLst/>
              <a:rect l="l" t="t" r="r" b="b"/>
              <a:pathLst>
                <a:path w="3541141" h="1071880">
                  <a:moveTo>
                    <a:pt x="0" y="0"/>
                  </a:moveTo>
                  <a:lnTo>
                    <a:pt x="3541141" y="0"/>
                  </a:lnTo>
                  <a:lnTo>
                    <a:pt x="3541141" y="1071880"/>
                  </a:lnTo>
                  <a:lnTo>
                    <a:pt x="0" y="107188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3541192" cy="1119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Scheduling Technology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rot="8628360">
            <a:off x="10139172" y="3273590"/>
            <a:ext cx="2667391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0878502" y="2656408"/>
            <a:ext cx="2668667" cy="74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Send Monitoring and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diagnostics information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87299" y="2550795"/>
            <a:ext cx="2771584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Scheduling Requirement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305800" y="295275"/>
            <a:ext cx="9591675" cy="7429500"/>
            <a:chOff x="0" y="0"/>
            <a:chExt cx="12788900" cy="9906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788900" cy="9906000"/>
            </a:xfrm>
            <a:custGeom>
              <a:avLst/>
              <a:gdLst/>
              <a:ahLst/>
              <a:cxnLst/>
              <a:rect l="l" t="t" r="r" b="b"/>
              <a:pathLst>
                <a:path w="12788900" h="9906000">
                  <a:moveTo>
                    <a:pt x="0" y="0"/>
                  </a:moveTo>
                  <a:lnTo>
                    <a:pt x="12788900" y="0"/>
                  </a:lnTo>
                  <a:lnTo>
                    <a:pt x="12788900" y="9906000"/>
                  </a:lnTo>
                  <a:lnTo>
                    <a:pt x="0" y="990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381" r="-49381"/>
              </a:stretch>
            </a:blip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2788900" cy="995362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Backup and job scheduling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rot="1399020">
            <a:off x="12377156" y="3273590"/>
            <a:ext cx="3979431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752475" y="8138160"/>
            <a:ext cx="17145000" cy="1725635"/>
            <a:chOff x="0" y="0"/>
            <a:chExt cx="22860000" cy="230084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860000" cy="2300859"/>
            </a:xfrm>
            <a:custGeom>
              <a:avLst/>
              <a:gdLst/>
              <a:ahLst/>
              <a:cxnLst/>
              <a:rect l="l" t="t" r="r" b="b"/>
              <a:pathLst>
                <a:path w="22860000" h="2300859">
                  <a:moveTo>
                    <a:pt x="0" y="0"/>
                  </a:moveTo>
                  <a:lnTo>
                    <a:pt x="22860000" y="0"/>
                  </a:lnTo>
                  <a:lnTo>
                    <a:pt x="22860000" y="2300859"/>
                  </a:lnTo>
                  <a:lnTo>
                    <a:pt x="0" y="23008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3592" b="-143591"/>
              </a:stretch>
            </a:blip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22860000" cy="2348471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 – Monitored Components and RISKS associated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09317" y="8801538"/>
            <a:ext cx="1454448" cy="715004"/>
            <a:chOff x="0" y="0"/>
            <a:chExt cx="1939265" cy="9533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39290" cy="953389"/>
            </a:xfrm>
            <a:custGeom>
              <a:avLst/>
              <a:gdLst/>
              <a:ahLst/>
              <a:cxnLst/>
              <a:rect l="l" t="t" r="r" b="b"/>
              <a:pathLst>
                <a:path w="1939290" h="953389">
                  <a:moveTo>
                    <a:pt x="0" y="0"/>
                  </a:moveTo>
                  <a:lnTo>
                    <a:pt x="1939290" y="0"/>
                  </a:lnTo>
                  <a:lnTo>
                    <a:pt x="1939290" y="953389"/>
                  </a:lnTo>
                  <a:lnTo>
                    <a:pt x="0" y="953389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939265" cy="972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Component – 1(Login)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58559" y="2554395"/>
            <a:ext cx="1943100" cy="1333500"/>
            <a:chOff x="0" y="0"/>
            <a:chExt cx="2590800" cy="177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0800" cy="1778000"/>
            </a:xfrm>
            <a:custGeom>
              <a:avLst/>
              <a:gdLst/>
              <a:ahLst/>
              <a:cxnLst/>
              <a:rect l="l" t="t" r="r" b="b"/>
              <a:pathLst>
                <a:path w="2590800" h="1778000">
                  <a:moveTo>
                    <a:pt x="0" y="0"/>
                  </a:moveTo>
                  <a:lnTo>
                    <a:pt x="2590800" y="0"/>
                  </a:lnTo>
                  <a:lnTo>
                    <a:pt x="25908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90800" cy="1825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5950" y="976312"/>
            <a:ext cx="2962275" cy="4805362"/>
            <a:chOff x="0" y="0"/>
            <a:chExt cx="3949700" cy="6407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49700" cy="6407150"/>
            </a:xfrm>
            <a:custGeom>
              <a:avLst/>
              <a:gdLst/>
              <a:ahLst/>
              <a:cxnLst/>
              <a:rect l="l" t="t" r="r" b="b"/>
              <a:pathLst>
                <a:path w="3949700" h="6407150">
                  <a:moveTo>
                    <a:pt x="0" y="0"/>
                  </a:moveTo>
                  <a:lnTo>
                    <a:pt x="3949700" y="0"/>
                  </a:lnTo>
                  <a:lnTo>
                    <a:pt x="3949700" y="6407150"/>
                  </a:lnTo>
                  <a:lnTo>
                    <a:pt x="0" y="640715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49700" cy="6454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Authentication Technology</a:t>
              </a:r>
            </a:p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(Active Directory/Identity and Access Management)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74262" y="6075416"/>
            <a:ext cx="4126763" cy="2297059"/>
            <a:chOff x="0" y="0"/>
            <a:chExt cx="5502351" cy="30627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02402" cy="3062732"/>
            </a:xfrm>
            <a:custGeom>
              <a:avLst/>
              <a:gdLst/>
              <a:ahLst/>
              <a:cxnLst/>
              <a:rect l="l" t="t" r="r" b="b"/>
              <a:pathLst>
                <a:path w="5502402" h="3062732">
                  <a:moveTo>
                    <a:pt x="0" y="0"/>
                  </a:moveTo>
                  <a:lnTo>
                    <a:pt x="5502402" y="0"/>
                  </a:lnTo>
                  <a:lnTo>
                    <a:pt x="5502402" y="3062732"/>
                  </a:lnTo>
                  <a:lnTo>
                    <a:pt x="0" y="3062732"/>
                  </a:lnTo>
                  <a:close/>
                </a:path>
              </a:pathLst>
            </a:custGeom>
            <a:solidFill>
              <a:srgbClr val="FFFFD1">
                <a:alpha val="42353"/>
              </a:srgbClr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502351" cy="310084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Location(Roaming)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5055" y="6075416"/>
            <a:ext cx="3463995" cy="2297059"/>
            <a:chOff x="0" y="0"/>
            <a:chExt cx="4618660" cy="30627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18609" cy="3062732"/>
            </a:xfrm>
            <a:custGeom>
              <a:avLst/>
              <a:gdLst/>
              <a:ahLst/>
              <a:cxnLst/>
              <a:rect l="l" t="t" r="r" b="b"/>
              <a:pathLst>
                <a:path w="4618609" h="3062732">
                  <a:moveTo>
                    <a:pt x="0" y="0"/>
                  </a:moveTo>
                  <a:lnTo>
                    <a:pt x="4618609" y="0"/>
                  </a:lnTo>
                  <a:lnTo>
                    <a:pt x="4618609" y="3062732"/>
                  </a:lnTo>
                  <a:lnTo>
                    <a:pt x="0" y="3062732"/>
                  </a:lnTo>
                  <a:close/>
                </a:path>
              </a:pathLst>
            </a:custGeom>
            <a:solidFill>
              <a:srgbClr val="FFFFD1">
                <a:alpha val="42353"/>
              </a:srgbClr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18660" cy="310084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Location(KPMG DC)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rot="-7980360" flipV="1">
            <a:off x="3543793" y="2492202"/>
            <a:ext cx="31154" cy="4287112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 rot="-5426460">
            <a:off x="5025800" y="4976898"/>
            <a:ext cx="2216163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rot="-26400">
            <a:off x="7081799" y="3297184"/>
            <a:ext cx="2438476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7" name="Group 17"/>
          <p:cNvGrpSpPr/>
          <p:nvPr/>
        </p:nvGrpSpPr>
        <p:grpSpPr>
          <a:xfrm>
            <a:off x="704850" y="6434738"/>
            <a:ext cx="1104900" cy="1156687"/>
            <a:chOff x="0" y="0"/>
            <a:chExt cx="1473200" cy="15422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26956" y="6461227"/>
            <a:ext cx="1104900" cy="1156687"/>
            <a:chOff x="0" y="0"/>
            <a:chExt cx="1473200" cy="15422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294306" y="6461227"/>
            <a:ext cx="1104900" cy="1156687"/>
            <a:chOff x="0" y="0"/>
            <a:chExt cx="1473200" cy="15422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04865" y="7567374"/>
            <a:ext cx="704860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00046" y="7567374"/>
            <a:ext cx="981380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16173" y="7606484"/>
            <a:ext cx="704860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06244" y="2806417"/>
            <a:ext cx="1913363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368920" y="6422117"/>
            <a:ext cx="1104900" cy="1156687"/>
            <a:chOff x="0" y="0"/>
            <a:chExt cx="1473200" cy="15422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658137" y="7567374"/>
            <a:ext cx="1466802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3’rd party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53054" y="2247710"/>
            <a:ext cx="1943100" cy="1333500"/>
            <a:chOff x="0" y="0"/>
            <a:chExt cx="2590800" cy="177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0800" cy="1778000"/>
            </a:xfrm>
            <a:custGeom>
              <a:avLst/>
              <a:gdLst/>
              <a:ahLst/>
              <a:cxnLst/>
              <a:rect l="l" t="t" r="r" b="b"/>
              <a:pathLst>
                <a:path w="2590800" h="1778000">
                  <a:moveTo>
                    <a:pt x="0" y="0"/>
                  </a:moveTo>
                  <a:lnTo>
                    <a:pt x="2590800" y="0"/>
                  </a:lnTo>
                  <a:lnTo>
                    <a:pt x="25908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90800" cy="1825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2902" y="2117379"/>
            <a:ext cx="2962275" cy="1608030"/>
            <a:chOff x="0" y="0"/>
            <a:chExt cx="3949700" cy="21440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49700" cy="2144014"/>
            </a:xfrm>
            <a:custGeom>
              <a:avLst/>
              <a:gdLst/>
              <a:ahLst/>
              <a:cxnLst/>
              <a:rect l="l" t="t" r="r" b="b"/>
              <a:pathLst>
                <a:path w="3949700" h="2144014">
                  <a:moveTo>
                    <a:pt x="0" y="0"/>
                  </a:moveTo>
                  <a:lnTo>
                    <a:pt x="3949700" y="0"/>
                  </a:lnTo>
                  <a:lnTo>
                    <a:pt x="3949700" y="2144014"/>
                  </a:lnTo>
                  <a:lnTo>
                    <a:pt x="0" y="2144014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49700" cy="219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Technology</a:t>
              </a:r>
            </a:p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(Active Directory/Identity and Access Management)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51121" y="6531816"/>
            <a:ext cx="4126763" cy="2297059"/>
            <a:chOff x="0" y="0"/>
            <a:chExt cx="5502351" cy="30627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02402" cy="3062732"/>
            </a:xfrm>
            <a:custGeom>
              <a:avLst/>
              <a:gdLst/>
              <a:ahLst/>
              <a:cxnLst/>
              <a:rect l="l" t="t" r="r" b="b"/>
              <a:pathLst>
                <a:path w="5502402" h="3062732">
                  <a:moveTo>
                    <a:pt x="0" y="0"/>
                  </a:moveTo>
                  <a:lnTo>
                    <a:pt x="5502402" y="0"/>
                  </a:lnTo>
                  <a:lnTo>
                    <a:pt x="5502402" y="3062732"/>
                  </a:lnTo>
                  <a:lnTo>
                    <a:pt x="0" y="3062732"/>
                  </a:lnTo>
                  <a:close/>
                </a:path>
              </a:pathLst>
            </a:custGeom>
            <a:solidFill>
              <a:srgbClr val="FFFFD1">
                <a:alpha val="42353"/>
              </a:srgbClr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502351" cy="310084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Location(Roaming)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7322" y="6531816"/>
            <a:ext cx="3463995" cy="2297059"/>
            <a:chOff x="0" y="0"/>
            <a:chExt cx="4618660" cy="30627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618609" cy="3062732"/>
            </a:xfrm>
            <a:custGeom>
              <a:avLst/>
              <a:gdLst/>
              <a:ahLst/>
              <a:cxnLst/>
              <a:rect l="l" t="t" r="r" b="b"/>
              <a:pathLst>
                <a:path w="4618609" h="3062732">
                  <a:moveTo>
                    <a:pt x="0" y="0"/>
                  </a:moveTo>
                  <a:lnTo>
                    <a:pt x="4618609" y="0"/>
                  </a:lnTo>
                  <a:lnTo>
                    <a:pt x="4618609" y="3062732"/>
                  </a:lnTo>
                  <a:lnTo>
                    <a:pt x="0" y="3062732"/>
                  </a:lnTo>
                  <a:close/>
                </a:path>
              </a:pathLst>
            </a:custGeom>
            <a:solidFill>
              <a:srgbClr val="FFFFD1">
                <a:alpha val="42353"/>
              </a:srgbClr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618660" cy="310084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Computer Location(KPMG DC)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rot="-8560440" flipH="1" flipV="1">
            <a:off x="3739939" y="2254877"/>
            <a:ext cx="80106" cy="4633843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 rot="-5348280">
            <a:off x="4617215" y="5051755"/>
            <a:ext cx="2979515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16" name="AutoShape 16"/>
          <p:cNvSpPr/>
          <p:nvPr/>
        </p:nvSpPr>
        <p:spPr>
          <a:xfrm rot="13560">
            <a:off x="7106974" y="2916631"/>
            <a:ext cx="2410216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17" name="Group 17"/>
          <p:cNvGrpSpPr/>
          <p:nvPr/>
        </p:nvGrpSpPr>
        <p:grpSpPr>
          <a:xfrm>
            <a:off x="1007116" y="6891128"/>
            <a:ext cx="1104900" cy="1156687"/>
            <a:chOff x="0" y="0"/>
            <a:chExt cx="1473200" cy="15422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003816" y="6917626"/>
            <a:ext cx="1104900" cy="1156687"/>
            <a:chOff x="0" y="0"/>
            <a:chExt cx="1473200" cy="15422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596582" y="6917626"/>
            <a:ext cx="1104900" cy="1156687"/>
            <a:chOff x="0" y="0"/>
            <a:chExt cx="1473200" cy="15422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07141" y="8023774"/>
            <a:ext cx="704860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02322" y="8023774"/>
            <a:ext cx="981380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3023" y="8062884"/>
            <a:ext cx="704860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06244" y="2806417"/>
            <a:ext cx="1459297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Authorize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845779" y="6878517"/>
            <a:ext cx="1104900" cy="1156687"/>
            <a:chOff x="0" y="0"/>
            <a:chExt cx="1473200" cy="154225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73200" cy="1542288"/>
            </a:xfrm>
            <a:custGeom>
              <a:avLst/>
              <a:gdLst/>
              <a:ahLst/>
              <a:cxnLst/>
              <a:rect l="l" t="t" r="r" b="b"/>
              <a:pathLst>
                <a:path w="1473200" h="1542288">
                  <a:moveTo>
                    <a:pt x="0" y="0"/>
                  </a:moveTo>
                  <a:lnTo>
                    <a:pt x="1473200" y="0"/>
                  </a:lnTo>
                  <a:lnTo>
                    <a:pt x="1473200" y="1542288"/>
                  </a:lnTo>
                  <a:lnTo>
                    <a:pt x="0" y="1542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134987" y="8023774"/>
            <a:ext cx="1466802" cy="519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3’rd party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4871916" y="2134838"/>
            <a:ext cx="2390442" cy="1608030"/>
            <a:chOff x="0" y="0"/>
            <a:chExt cx="3187256" cy="214403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187319" cy="2144014"/>
            </a:xfrm>
            <a:custGeom>
              <a:avLst/>
              <a:gdLst/>
              <a:ahLst/>
              <a:cxnLst/>
              <a:rect l="l" t="t" r="r" b="b"/>
              <a:pathLst>
                <a:path w="3187319" h="2144014">
                  <a:moveTo>
                    <a:pt x="0" y="357378"/>
                  </a:moveTo>
                  <a:cubicBezTo>
                    <a:pt x="0" y="160020"/>
                    <a:pt x="713486" y="0"/>
                    <a:pt x="1593596" y="0"/>
                  </a:cubicBezTo>
                  <a:cubicBezTo>
                    <a:pt x="2473706" y="0"/>
                    <a:pt x="3187319" y="160020"/>
                    <a:pt x="3187319" y="357378"/>
                  </a:cubicBezTo>
                  <a:lnTo>
                    <a:pt x="3187319" y="1786636"/>
                  </a:lnTo>
                  <a:cubicBezTo>
                    <a:pt x="3187319" y="1983994"/>
                    <a:pt x="2473833" y="2144014"/>
                    <a:pt x="1593723" y="2144014"/>
                  </a:cubicBezTo>
                  <a:cubicBezTo>
                    <a:pt x="713613" y="2144014"/>
                    <a:pt x="0" y="1983994"/>
                    <a:pt x="0" y="1786636"/>
                  </a:cubicBez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357378"/>
              <a:ext cx="3187319" cy="357378"/>
            </a:xfrm>
            <a:custGeom>
              <a:avLst/>
              <a:gdLst/>
              <a:ahLst/>
              <a:cxnLst/>
              <a:rect l="l" t="t" r="r" b="b"/>
              <a:pathLst>
                <a:path w="3187319" h="357378">
                  <a:moveTo>
                    <a:pt x="3187319" y="0"/>
                  </a:moveTo>
                  <a:cubicBezTo>
                    <a:pt x="3187319" y="197358"/>
                    <a:pt x="2473833" y="357378"/>
                    <a:pt x="1593723" y="357378"/>
                  </a:cubicBezTo>
                  <a:cubicBezTo>
                    <a:pt x="713613" y="357378"/>
                    <a:pt x="0" y="197358"/>
                    <a:pt x="0" y="0"/>
                  </a:cubicBezTo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3187319" cy="2144014"/>
            </a:xfrm>
            <a:custGeom>
              <a:avLst/>
              <a:gdLst/>
              <a:ahLst/>
              <a:cxnLst/>
              <a:rect l="l" t="t" r="r" b="b"/>
              <a:pathLst>
                <a:path w="3187319" h="2144014">
                  <a:moveTo>
                    <a:pt x="0" y="357378"/>
                  </a:moveTo>
                  <a:cubicBezTo>
                    <a:pt x="0" y="160020"/>
                    <a:pt x="713486" y="0"/>
                    <a:pt x="1593596" y="0"/>
                  </a:cubicBezTo>
                  <a:cubicBezTo>
                    <a:pt x="2473706" y="0"/>
                    <a:pt x="3187319" y="160020"/>
                    <a:pt x="3187319" y="357378"/>
                  </a:cubicBezTo>
                  <a:lnTo>
                    <a:pt x="3187319" y="1786636"/>
                  </a:lnTo>
                  <a:cubicBezTo>
                    <a:pt x="3187319" y="1983994"/>
                    <a:pt x="2473833" y="2144014"/>
                    <a:pt x="1593723" y="2144014"/>
                  </a:cubicBezTo>
                  <a:cubicBezTo>
                    <a:pt x="713613" y="2144014"/>
                    <a:pt x="0" y="1983994"/>
                    <a:pt x="0" y="1786636"/>
                  </a:cubicBez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3187256" cy="21916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Privilege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rot="38100">
            <a:off x="12450813" y="2925356"/>
            <a:ext cx="2435466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18" y="1317012"/>
            <a:ext cx="4634627" cy="8612619"/>
            <a:chOff x="0" y="0"/>
            <a:chExt cx="6179502" cy="114834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79566" cy="11483467"/>
            </a:xfrm>
            <a:custGeom>
              <a:avLst/>
              <a:gdLst/>
              <a:ahLst/>
              <a:cxnLst/>
              <a:rect l="l" t="t" r="r" b="b"/>
              <a:pathLst>
                <a:path w="6179566" h="11483467">
                  <a:moveTo>
                    <a:pt x="0" y="1029970"/>
                  </a:moveTo>
                  <a:cubicBezTo>
                    <a:pt x="0" y="461137"/>
                    <a:pt x="461137" y="0"/>
                    <a:pt x="1029970" y="0"/>
                  </a:cubicBezTo>
                  <a:lnTo>
                    <a:pt x="5149596" y="0"/>
                  </a:lnTo>
                  <a:cubicBezTo>
                    <a:pt x="5718429" y="0"/>
                    <a:pt x="6179566" y="461137"/>
                    <a:pt x="6179566" y="1029970"/>
                  </a:cubicBezTo>
                  <a:lnTo>
                    <a:pt x="6179566" y="10453497"/>
                  </a:lnTo>
                  <a:cubicBezTo>
                    <a:pt x="6179566" y="11022330"/>
                    <a:pt x="5718429" y="11483467"/>
                    <a:pt x="5149596" y="11483467"/>
                  </a:cubicBezTo>
                  <a:lnTo>
                    <a:pt x="1029970" y="11483467"/>
                  </a:lnTo>
                  <a:cubicBezTo>
                    <a:pt x="461137" y="11483467"/>
                    <a:pt x="0" y="11022330"/>
                    <a:pt x="0" y="10453497"/>
                  </a:cubicBezTo>
                  <a:close/>
                </a:path>
              </a:pathLst>
            </a:custGeom>
            <a:solidFill>
              <a:srgbClr val="D9D9D9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6179502" cy="1151206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KPMG Cloud Subscription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12401" y="3723827"/>
            <a:ext cx="4196658" cy="2731627"/>
            <a:chOff x="0" y="0"/>
            <a:chExt cx="5595544" cy="36421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95620" cy="3642233"/>
            </a:xfrm>
            <a:custGeom>
              <a:avLst/>
              <a:gdLst/>
              <a:ahLst/>
              <a:cxnLst/>
              <a:rect l="l" t="t" r="r" b="b"/>
              <a:pathLst>
                <a:path w="5595620" h="3642233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lnTo>
                    <a:pt x="4988560" y="0"/>
                  </a:lnTo>
                  <a:cubicBezTo>
                    <a:pt x="5323840" y="0"/>
                    <a:pt x="5595620" y="271780"/>
                    <a:pt x="5595620" y="607060"/>
                  </a:cubicBezTo>
                  <a:lnTo>
                    <a:pt x="5595620" y="3035173"/>
                  </a:lnTo>
                  <a:cubicBezTo>
                    <a:pt x="5595620" y="3370453"/>
                    <a:pt x="5323840" y="3642233"/>
                    <a:pt x="4988560" y="3642233"/>
                  </a:cubicBezTo>
                  <a:lnTo>
                    <a:pt x="607060" y="3642233"/>
                  </a:lnTo>
                  <a:cubicBezTo>
                    <a:pt x="271780" y="3642233"/>
                    <a:pt x="0" y="3370453"/>
                    <a:pt x="0" y="3035173"/>
                  </a:cubicBezTo>
                  <a:close/>
                </a:path>
              </a:pathLst>
            </a:custGeom>
            <a:solidFill>
              <a:srgbClr val="D9D9D9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5595544" cy="367074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KPMG Cloud Subscription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2401" y="6697532"/>
            <a:ext cx="4196648" cy="2731637"/>
            <a:chOff x="0" y="0"/>
            <a:chExt cx="5595531" cy="36421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95620" cy="3642233"/>
            </a:xfrm>
            <a:custGeom>
              <a:avLst/>
              <a:gdLst/>
              <a:ahLst/>
              <a:cxnLst/>
              <a:rect l="l" t="t" r="r" b="b"/>
              <a:pathLst>
                <a:path w="5595620" h="3642233">
                  <a:moveTo>
                    <a:pt x="0" y="607060"/>
                  </a:moveTo>
                  <a:cubicBezTo>
                    <a:pt x="0" y="271780"/>
                    <a:pt x="271780" y="0"/>
                    <a:pt x="607060" y="0"/>
                  </a:cubicBezTo>
                  <a:lnTo>
                    <a:pt x="4988560" y="0"/>
                  </a:lnTo>
                  <a:cubicBezTo>
                    <a:pt x="5323840" y="0"/>
                    <a:pt x="5595620" y="271780"/>
                    <a:pt x="5595620" y="607060"/>
                  </a:cubicBezTo>
                  <a:lnTo>
                    <a:pt x="5595620" y="3035173"/>
                  </a:lnTo>
                  <a:cubicBezTo>
                    <a:pt x="5595620" y="3370453"/>
                    <a:pt x="5323840" y="3642233"/>
                    <a:pt x="4988560" y="3642233"/>
                  </a:cubicBezTo>
                  <a:lnTo>
                    <a:pt x="607060" y="3642233"/>
                  </a:lnTo>
                  <a:cubicBezTo>
                    <a:pt x="271780" y="3642233"/>
                    <a:pt x="0" y="3370453"/>
                    <a:pt x="0" y="3035173"/>
                  </a:cubicBezTo>
                  <a:close/>
                </a:path>
              </a:pathLst>
            </a:custGeom>
            <a:solidFill>
              <a:srgbClr val="D9D9D9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5595531" cy="367075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 Cloud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66423" y="309905"/>
            <a:ext cx="319088" cy="9993763"/>
            <a:chOff x="0" y="0"/>
            <a:chExt cx="425450" cy="133250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5450" cy="13325018"/>
            </a:xfrm>
            <a:custGeom>
              <a:avLst/>
              <a:gdLst/>
              <a:ahLst/>
              <a:cxnLst/>
              <a:rect l="l" t="t" r="r" b="b"/>
              <a:pathLst>
                <a:path w="425450" h="13325018">
                  <a:moveTo>
                    <a:pt x="0" y="0"/>
                  </a:moveTo>
                  <a:lnTo>
                    <a:pt x="425450" y="0"/>
                  </a:lnTo>
                  <a:lnTo>
                    <a:pt x="425450" y="13325018"/>
                  </a:lnTo>
                  <a:lnTo>
                    <a:pt x="0" y="13325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425450" cy="13325018"/>
              <a:chOff x="0" y="0"/>
              <a:chExt cx="425450" cy="13325018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25446" cy="13325022"/>
              </a:xfrm>
              <a:custGeom>
                <a:avLst/>
                <a:gdLst/>
                <a:ahLst/>
                <a:cxnLst/>
                <a:rect l="l" t="t" r="r" b="b"/>
                <a:pathLst>
                  <a:path w="425446" h="13325022">
                    <a:moveTo>
                      <a:pt x="0" y="0"/>
                    </a:moveTo>
                    <a:lnTo>
                      <a:pt x="425446" y="0"/>
                    </a:lnTo>
                    <a:lnTo>
                      <a:pt x="425446" y="13325022"/>
                    </a:lnTo>
                    <a:lnTo>
                      <a:pt x="0" y="133250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3968482" r="-396848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425450" cy="133631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>
                    <a:solidFill>
                      <a:srgbClr val="FF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Firewall</a:t>
                </a:r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2175493" y="309905"/>
            <a:ext cx="319088" cy="9993763"/>
            <a:chOff x="0" y="0"/>
            <a:chExt cx="425450" cy="133250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25450" cy="13325018"/>
            </a:xfrm>
            <a:custGeom>
              <a:avLst/>
              <a:gdLst/>
              <a:ahLst/>
              <a:cxnLst/>
              <a:rect l="l" t="t" r="r" b="b"/>
              <a:pathLst>
                <a:path w="425450" h="13325018">
                  <a:moveTo>
                    <a:pt x="0" y="0"/>
                  </a:moveTo>
                  <a:lnTo>
                    <a:pt x="425450" y="0"/>
                  </a:lnTo>
                  <a:lnTo>
                    <a:pt x="425450" y="13325018"/>
                  </a:lnTo>
                  <a:lnTo>
                    <a:pt x="0" y="13325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0"/>
              <a:ext cx="425450" cy="13325018"/>
              <a:chOff x="0" y="0"/>
              <a:chExt cx="425450" cy="1332501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25448" cy="13325022"/>
              </a:xfrm>
              <a:custGeom>
                <a:avLst/>
                <a:gdLst/>
                <a:ahLst/>
                <a:cxnLst/>
                <a:rect l="l" t="t" r="r" b="b"/>
                <a:pathLst>
                  <a:path w="425448" h="13325022">
                    <a:moveTo>
                      <a:pt x="0" y="0"/>
                    </a:moveTo>
                    <a:lnTo>
                      <a:pt x="425448" y="0"/>
                    </a:lnTo>
                    <a:lnTo>
                      <a:pt x="425448" y="13325022"/>
                    </a:lnTo>
                    <a:lnTo>
                      <a:pt x="0" y="133250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3968463" r="-396846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425450" cy="133631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>
                    <a:solidFill>
                      <a:srgbClr val="FF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Firewall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-4762" y="735463"/>
            <a:ext cx="5370300" cy="488499"/>
            <a:chOff x="0" y="0"/>
            <a:chExt cx="7160400" cy="65133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60387" cy="651383"/>
            </a:xfrm>
            <a:custGeom>
              <a:avLst/>
              <a:gdLst/>
              <a:ahLst/>
              <a:cxnLst/>
              <a:rect l="l" t="t" r="r" b="b"/>
              <a:pathLst>
                <a:path w="7160387" h="651383">
                  <a:moveTo>
                    <a:pt x="0" y="0"/>
                  </a:moveTo>
                  <a:lnTo>
                    <a:pt x="7160387" y="0"/>
                  </a:lnTo>
                  <a:lnTo>
                    <a:pt x="7160387" y="651383"/>
                  </a:lnTo>
                  <a:lnTo>
                    <a:pt x="0" y="651383"/>
                  </a:lnTo>
                  <a:close/>
                </a:path>
              </a:pathLst>
            </a:custGeom>
            <a:solidFill>
              <a:srgbClr val="B4C7E7"/>
            </a:solidFill>
            <a:ln w="9525" cap="sq">
              <a:solidFill>
                <a:srgbClr val="2F528F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160400" cy="698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Internet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41762" y="735463"/>
            <a:ext cx="6555162" cy="488499"/>
            <a:chOff x="0" y="0"/>
            <a:chExt cx="8740216" cy="6513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40267" cy="651383"/>
            </a:xfrm>
            <a:custGeom>
              <a:avLst/>
              <a:gdLst/>
              <a:ahLst/>
              <a:cxnLst/>
              <a:rect l="l" t="t" r="r" b="b"/>
              <a:pathLst>
                <a:path w="8740267" h="651383">
                  <a:moveTo>
                    <a:pt x="0" y="0"/>
                  </a:moveTo>
                  <a:lnTo>
                    <a:pt x="8740267" y="0"/>
                  </a:lnTo>
                  <a:lnTo>
                    <a:pt x="8740267" y="651383"/>
                  </a:lnTo>
                  <a:lnTo>
                    <a:pt x="0" y="651383"/>
                  </a:lnTo>
                  <a:close/>
                </a:path>
              </a:pathLst>
            </a:custGeom>
            <a:solidFill>
              <a:srgbClr val="B4C7E7"/>
            </a:solidFill>
            <a:ln w="9525" cap="sq">
              <a:solidFill>
                <a:srgbClr val="2F528F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740216" cy="698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DMZ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73149" y="735463"/>
            <a:ext cx="5819613" cy="488499"/>
            <a:chOff x="0" y="0"/>
            <a:chExt cx="7759484" cy="6513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759446" cy="651383"/>
            </a:xfrm>
            <a:custGeom>
              <a:avLst/>
              <a:gdLst/>
              <a:ahLst/>
              <a:cxnLst/>
              <a:rect l="l" t="t" r="r" b="b"/>
              <a:pathLst>
                <a:path w="7759446" h="651383">
                  <a:moveTo>
                    <a:pt x="0" y="0"/>
                  </a:moveTo>
                  <a:lnTo>
                    <a:pt x="7759446" y="0"/>
                  </a:lnTo>
                  <a:lnTo>
                    <a:pt x="7759446" y="651383"/>
                  </a:lnTo>
                  <a:lnTo>
                    <a:pt x="0" y="651383"/>
                  </a:lnTo>
                  <a:close/>
                </a:path>
              </a:pathLst>
            </a:custGeom>
            <a:solidFill>
              <a:srgbClr val="B4C7E7"/>
            </a:solidFill>
            <a:ln w="9525" cap="sq">
              <a:solidFill>
                <a:srgbClr val="2F528F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7759484" cy="698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Corporate Network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825485" y="1504950"/>
            <a:ext cx="698221" cy="730948"/>
            <a:chOff x="0" y="0"/>
            <a:chExt cx="930961" cy="97459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30910" cy="974598"/>
            </a:xfrm>
            <a:custGeom>
              <a:avLst/>
              <a:gdLst/>
              <a:ahLst/>
              <a:cxnLst/>
              <a:rect l="l" t="t" r="r" b="b"/>
              <a:pathLst>
                <a:path w="930910" h="974598">
                  <a:moveTo>
                    <a:pt x="0" y="0"/>
                  </a:moveTo>
                  <a:lnTo>
                    <a:pt x="930910" y="0"/>
                  </a:lnTo>
                  <a:lnTo>
                    <a:pt x="930910" y="974598"/>
                  </a:lnTo>
                  <a:lnTo>
                    <a:pt x="0" y="974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15847" y="1504950"/>
            <a:ext cx="698221" cy="730948"/>
            <a:chOff x="0" y="0"/>
            <a:chExt cx="930961" cy="97459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30910" cy="974598"/>
            </a:xfrm>
            <a:custGeom>
              <a:avLst/>
              <a:gdLst/>
              <a:ahLst/>
              <a:cxnLst/>
              <a:rect l="l" t="t" r="r" b="b"/>
              <a:pathLst>
                <a:path w="930910" h="974598">
                  <a:moveTo>
                    <a:pt x="0" y="0"/>
                  </a:moveTo>
                  <a:lnTo>
                    <a:pt x="930910" y="0"/>
                  </a:lnTo>
                  <a:lnTo>
                    <a:pt x="930910" y="974598"/>
                  </a:lnTo>
                  <a:lnTo>
                    <a:pt x="0" y="974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23298" y="1767107"/>
            <a:ext cx="2470328" cy="8016088"/>
            <a:chOff x="0" y="0"/>
            <a:chExt cx="3293770" cy="1068811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293745" cy="10688193"/>
            </a:xfrm>
            <a:custGeom>
              <a:avLst/>
              <a:gdLst/>
              <a:ahLst/>
              <a:cxnLst/>
              <a:rect l="l" t="t" r="r" b="b"/>
              <a:pathLst>
                <a:path w="3293745" h="10688193">
                  <a:moveTo>
                    <a:pt x="0" y="549021"/>
                  </a:moveTo>
                  <a:cubicBezTo>
                    <a:pt x="0" y="245745"/>
                    <a:pt x="245745" y="0"/>
                    <a:pt x="549021" y="0"/>
                  </a:cubicBezTo>
                  <a:lnTo>
                    <a:pt x="2744851" y="0"/>
                  </a:lnTo>
                  <a:cubicBezTo>
                    <a:pt x="3048000" y="0"/>
                    <a:pt x="3293745" y="245745"/>
                    <a:pt x="3293745" y="549021"/>
                  </a:cubicBezTo>
                  <a:lnTo>
                    <a:pt x="3293745" y="10139172"/>
                  </a:lnTo>
                  <a:cubicBezTo>
                    <a:pt x="3293745" y="10442321"/>
                    <a:pt x="3048000" y="10688193"/>
                    <a:pt x="2744724" y="10688193"/>
                  </a:cubicBezTo>
                  <a:lnTo>
                    <a:pt x="549021" y="10688193"/>
                  </a:lnTo>
                  <a:cubicBezTo>
                    <a:pt x="245745" y="10688066"/>
                    <a:pt x="0" y="10442321"/>
                    <a:pt x="0" y="10139172"/>
                  </a:cubicBezTo>
                  <a:close/>
                </a:path>
              </a:pathLst>
            </a:custGeom>
            <a:solidFill>
              <a:srgbClr val="D9D9D9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3293770" cy="1071669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Layer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87732" y="1765554"/>
            <a:ext cx="2470328" cy="8016088"/>
            <a:chOff x="0" y="0"/>
            <a:chExt cx="3293770" cy="1068811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293745" cy="10688193"/>
            </a:xfrm>
            <a:custGeom>
              <a:avLst/>
              <a:gdLst/>
              <a:ahLst/>
              <a:cxnLst/>
              <a:rect l="l" t="t" r="r" b="b"/>
              <a:pathLst>
                <a:path w="3293745" h="10688193">
                  <a:moveTo>
                    <a:pt x="0" y="549021"/>
                  </a:moveTo>
                  <a:cubicBezTo>
                    <a:pt x="0" y="245745"/>
                    <a:pt x="245745" y="0"/>
                    <a:pt x="549021" y="0"/>
                  </a:cubicBezTo>
                  <a:lnTo>
                    <a:pt x="2744851" y="0"/>
                  </a:lnTo>
                  <a:cubicBezTo>
                    <a:pt x="3048000" y="0"/>
                    <a:pt x="3293745" y="245745"/>
                    <a:pt x="3293745" y="549021"/>
                  </a:cubicBezTo>
                  <a:lnTo>
                    <a:pt x="3293745" y="10139172"/>
                  </a:lnTo>
                  <a:cubicBezTo>
                    <a:pt x="3293745" y="10442321"/>
                    <a:pt x="3048000" y="10688193"/>
                    <a:pt x="2744724" y="10688193"/>
                  </a:cubicBezTo>
                  <a:lnTo>
                    <a:pt x="549021" y="10688193"/>
                  </a:lnTo>
                  <a:cubicBezTo>
                    <a:pt x="245745" y="10688066"/>
                    <a:pt x="0" y="10442321"/>
                    <a:pt x="0" y="10139172"/>
                  </a:cubicBezTo>
                  <a:close/>
                </a:path>
              </a:pathLst>
            </a:custGeom>
            <a:solidFill>
              <a:srgbClr val="D9D9D9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3293770" cy="1071669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Presentation Layer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807486" y="1772555"/>
            <a:ext cx="2371020" cy="5831643"/>
            <a:chOff x="0" y="0"/>
            <a:chExt cx="3161360" cy="777552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161411" cy="7775575"/>
            </a:xfrm>
            <a:custGeom>
              <a:avLst/>
              <a:gdLst/>
              <a:ahLst/>
              <a:cxnLst/>
              <a:rect l="l" t="t" r="r" b="b"/>
              <a:pathLst>
                <a:path w="3161411" h="7775575">
                  <a:moveTo>
                    <a:pt x="0" y="526923"/>
                  </a:moveTo>
                  <a:cubicBezTo>
                    <a:pt x="0" y="235839"/>
                    <a:pt x="235839" y="0"/>
                    <a:pt x="526923" y="0"/>
                  </a:cubicBezTo>
                  <a:lnTo>
                    <a:pt x="2634488" y="0"/>
                  </a:lnTo>
                  <a:cubicBezTo>
                    <a:pt x="2925445" y="0"/>
                    <a:pt x="3161411" y="235839"/>
                    <a:pt x="3161411" y="526923"/>
                  </a:cubicBezTo>
                  <a:lnTo>
                    <a:pt x="3161411" y="7248652"/>
                  </a:lnTo>
                  <a:cubicBezTo>
                    <a:pt x="3161411" y="7539609"/>
                    <a:pt x="2925572" y="7775575"/>
                    <a:pt x="2634488" y="7775575"/>
                  </a:cubicBezTo>
                  <a:lnTo>
                    <a:pt x="526923" y="7775575"/>
                  </a:lnTo>
                  <a:cubicBezTo>
                    <a:pt x="235839" y="7775575"/>
                    <a:pt x="0" y="7539609"/>
                    <a:pt x="0" y="7248652"/>
                  </a:cubicBezTo>
                  <a:close/>
                </a:path>
              </a:pathLst>
            </a:custGeom>
            <a:solidFill>
              <a:srgbClr val="F8CBAD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3161360" cy="780409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Application Server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807486" y="8051444"/>
            <a:ext cx="5168113" cy="1737198"/>
            <a:chOff x="0" y="0"/>
            <a:chExt cx="6890817" cy="23162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90893" cy="2316226"/>
            </a:xfrm>
            <a:custGeom>
              <a:avLst/>
              <a:gdLst/>
              <a:ahLst/>
              <a:cxnLst/>
              <a:rect l="l" t="t" r="r" b="b"/>
              <a:pathLst>
                <a:path w="6890893" h="2316226">
                  <a:moveTo>
                    <a:pt x="0" y="386080"/>
                  </a:moveTo>
                  <a:cubicBezTo>
                    <a:pt x="0" y="172847"/>
                    <a:pt x="172847" y="0"/>
                    <a:pt x="386080" y="0"/>
                  </a:cubicBezTo>
                  <a:lnTo>
                    <a:pt x="6504813" y="0"/>
                  </a:lnTo>
                  <a:cubicBezTo>
                    <a:pt x="6718046" y="0"/>
                    <a:pt x="6890893" y="172847"/>
                    <a:pt x="6890893" y="386080"/>
                  </a:cubicBezTo>
                  <a:lnTo>
                    <a:pt x="6890893" y="1930146"/>
                  </a:lnTo>
                  <a:cubicBezTo>
                    <a:pt x="6890893" y="2143379"/>
                    <a:pt x="6718046" y="2316226"/>
                    <a:pt x="6504813" y="2316226"/>
                  </a:cubicBezTo>
                  <a:lnTo>
                    <a:pt x="386080" y="2316226"/>
                  </a:lnTo>
                  <a:cubicBezTo>
                    <a:pt x="172847" y="2316226"/>
                    <a:pt x="0" y="2143379"/>
                    <a:pt x="0" y="1930146"/>
                  </a:cubicBezTo>
                  <a:close/>
                </a:path>
              </a:pathLst>
            </a:custGeom>
            <a:solidFill>
              <a:srgbClr val="D9D9D9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6890817" cy="234483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Intranet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5604579" y="1772555"/>
            <a:ext cx="2371020" cy="5831643"/>
            <a:chOff x="0" y="0"/>
            <a:chExt cx="3161360" cy="777552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61411" cy="7775575"/>
            </a:xfrm>
            <a:custGeom>
              <a:avLst/>
              <a:gdLst/>
              <a:ahLst/>
              <a:cxnLst/>
              <a:rect l="l" t="t" r="r" b="b"/>
              <a:pathLst>
                <a:path w="3161411" h="7775575">
                  <a:moveTo>
                    <a:pt x="0" y="526923"/>
                  </a:moveTo>
                  <a:cubicBezTo>
                    <a:pt x="0" y="235839"/>
                    <a:pt x="235839" y="0"/>
                    <a:pt x="526923" y="0"/>
                  </a:cubicBezTo>
                  <a:lnTo>
                    <a:pt x="2634488" y="0"/>
                  </a:lnTo>
                  <a:cubicBezTo>
                    <a:pt x="2925445" y="0"/>
                    <a:pt x="3161411" y="235839"/>
                    <a:pt x="3161411" y="526923"/>
                  </a:cubicBezTo>
                  <a:lnTo>
                    <a:pt x="3161411" y="7248652"/>
                  </a:lnTo>
                  <a:cubicBezTo>
                    <a:pt x="3161411" y="7539609"/>
                    <a:pt x="2925572" y="7775575"/>
                    <a:pt x="2634488" y="7775575"/>
                  </a:cubicBezTo>
                  <a:lnTo>
                    <a:pt x="526923" y="7775575"/>
                  </a:lnTo>
                  <a:cubicBezTo>
                    <a:pt x="235839" y="7775575"/>
                    <a:pt x="0" y="7539609"/>
                    <a:pt x="0" y="7248652"/>
                  </a:cubicBezTo>
                  <a:close/>
                </a:path>
              </a:pathLst>
            </a:custGeom>
            <a:solidFill>
              <a:srgbClr val="F8CBAD"/>
            </a:solidFill>
            <a:ln w="23812" cap="sq">
              <a:solidFill>
                <a:srgbClr val="A5A5A5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3161360" cy="780409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Servers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775103" y="8757447"/>
            <a:ext cx="698221" cy="730948"/>
            <a:chOff x="0" y="0"/>
            <a:chExt cx="930961" cy="97459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30910" cy="974598"/>
            </a:xfrm>
            <a:custGeom>
              <a:avLst/>
              <a:gdLst/>
              <a:ahLst/>
              <a:cxnLst/>
              <a:rect l="l" t="t" r="r" b="b"/>
              <a:pathLst>
                <a:path w="930910" h="974598">
                  <a:moveTo>
                    <a:pt x="0" y="0"/>
                  </a:moveTo>
                  <a:lnTo>
                    <a:pt x="930910" y="0"/>
                  </a:lnTo>
                  <a:lnTo>
                    <a:pt x="930910" y="974598"/>
                  </a:lnTo>
                  <a:lnTo>
                    <a:pt x="0" y="974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3946476" y="9451877"/>
            <a:ext cx="515341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6508701" y="8669455"/>
            <a:ext cx="698221" cy="730948"/>
            <a:chOff x="0" y="0"/>
            <a:chExt cx="930961" cy="97459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30910" cy="974598"/>
            </a:xfrm>
            <a:custGeom>
              <a:avLst/>
              <a:gdLst/>
              <a:ahLst/>
              <a:cxnLst/>
              <a:rect l="l" t="t" r="r" b="b"/>
              <a:pathLst>
                <a:path w="930910" h="974598">
                  <a:moveTo>
                    <a:pt x="0" y="0"/>
                  </a:moveTo>
                  <a:lnTo>
                    <a:pt x="930910" y="0"/>
                  </a:lnTo>
                  <a:lnTo>
                    <a:pt x="930910" y="974598"/>
                  </a:lnTo>
                  <a:lnTo>
                    <a:pt x="0" y="974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6555869" y="9408023"/>
            <a:ext cx="603875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Admin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5059092" y="8502539"/>
            <a:ext cx="692839" cy="692839"/>
            <a:chOff x="0" y="0"/>
            <a:chExt cx="923785" cy="923785"/>
          </a:xfrm>
        </p:grpSpPr>
        <p:sp>
          <p:nvSpPr>
            <p:cNvPr id="56" name="Freeform 56" descr="A computer screen with a blue and gray screen  Description automatically generated"/>
            <p:cNvSpPr/>
            <p:nvPr/>
          </p:nvSpPr>
          <p:spPr>
            <a:xfrm>
              <a:off x="0" y="0"/>
              <a:ext cx="923798" cy="923798"/>
            </a:xfrm>
            <a:custGeom>
              <a:avLst/>
              <a:gdLst/>
              <a:ahLst/>
              <a:cxnLst/>
              <a:rect l="l" t="t" r="r" b="b"/>
              <a:pathLst>
                <a:path w="923798" h="923798">
                  <a:moveTo>
                    <a:pt x="0" y="0"/>
                  </a:moveTo>
                  <a:lnTo>
                    <a:pt x="923798" y="0"/>
                  </a:lnTo>
                  <a:lnTo>
                    <a:pt x="923798" y="923798"/>
                  </a:lnTo>
                  <a:lnTo>
                    <a:pt x="0" y="923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971813" y="7608380"/>
            <a:ext cx="304800" cy="453257"/>
            <a:chOff x="0" y="0"/>
            <a:chExt cx="406400" cy="60434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06400" cy="604393"/>
            </a:xfrm>
            <a:custGeom>
              <a:avLst/>
              <a:gdLst/>
              <a:ahLst/>
              <a:cxnLst/>
              <a:rect l="l" t="t" r="r" b="b"/>
              <a:pathLst>
                <a:path w="406400" h="604393">
                  <a:moveTo>
                    <a:pt x="0" y="203200"/>
                  </a:moveTo>
                  <a:lnTo>
                    <a:pt x="203200" y="0"/>
                  </a:lnTo>
                  <a:lnTo>
                    <a:pt x="406400" y="203200"/>
                  </a:lnTo>
                  <a:lnTo>
                    <a:pt x="304800" y="203200"/>
                  </a:lnTo>
                  <a:lnTo>
                    <a:pt x="304800" y="604393"/>
                  </a:lnTo>
                  <a:lnTo>
                    <a:pt x="101600" y="604393"/>
                  </a:lnTo>
                  <a:lnTo>
                    <a:pt x="101600" y="203200"/>
                  </a:lnTo>
                  <a:close/>
                </a:path>
              </a:pathLst>
            </a:custGeom>
            <a:solidFill>
              <a:srgbClr val="4472C4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297417" y="3219717"/>
            <a:ext cx="616629" cy="616629"/>
            <a:chOff x="0" y="0"/>
            <a:chExt cx="822173" cy="822173"/>
          </a:xfrm>
        </p:grpSpPr>
        <p:sp>
          <p:nvSpPr>
            <p:cNvPr id="60" name="Freeform 60" descr="A computer server with blue cover  Description automatically generated with medium confidence"/>
            <p:cNvSpPr/>
            <p:nvPr/>
          </p:nvSpPr>
          <p:spPr>
            <a:xfrm>
              <a:off x="0" y="0"/>
              <a:ext cx="822198" cy="822198"/>
            </a:xfrm>
            <a:custGeom>
              <a:avLst/>
              <a:gdLst/>
              <a:ahLst/>
              <a:cxnLst/>
              <a:rect l="l" t="t" r="r" b="b"/>
              <a:pathLst>
                <a:path w="822198" h="822198">
                  <a:moveTo>
                    <a:pt x="0" y="0"/>
                  </a:moveTo>
                  <a:lnTo>
                    <a:pt x="822198" y="0"/>
                  </a:lnTo>
                  <a:lnTo>
                    <a:pt x="822198" y="822198"/>
                  </a:lnTo>
                  <a:lnTo>
                    <a:pt x="0" y="822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7385714" y="3874846"/>
            <a:ext cx="515341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WAF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7418918" y="6443548"/>
            <a:ext cx="616629" cy="616629"/>
            <a:chOff x="0" y="0"/>
            <a:chExt cx="822173" cy="822173"/>
          </a:xfrm>
        </p:grpSpPr>
        <p:sp>
          <p:nvSpPr>
            <p:cNvPr id="63" name="Freeform 63" descr="A computer server with blue cover  Description automatically generated with medium confidence"/>
            <p:cNvSpPr/>
            <p:nvPr/>
          </p:nvSpPr>
          <p:spPr>
            <a:xfrm>
              <a:off x="0" y="0"/>
              <a:ext cx="822198" cy="822198"/>
            </a:xfrm>
            <a:custGeom>
              <a:avLst/>
              <a:gdLst/>
              <a:ahLst/>
              <a:cxnLst/>
              <a:rect l="l" t="t" r="r" b="b"/>
              <a:pathLst>
                <a:path w="822198" h="822198">
                  <a:moveTo>
                    <a:pt x="0" y="0"/>
                  </a:moveTo>
                  <a:lnTo>
                    <a:pt x="822198" y="0"/>
                  </a:lnTo>
                  <a:lnTo>
                    <a:pt x="822198" y="822198"/>
                  </a:lnTo>
                  <a:lnTo>
                    <a:pt x="0" y="822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7507214" y="7098678"/>
            <a:ext cx="721281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Proxy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13693616" y="2780548"/>
            <a:ext cx="616629" cy="616629"/>
            <a:chOff x="0" y="0"/>
            <a:chExt cx="822173" cy="822173"/>
          </a:xfrm>
        </p:grpSpPr>
        <p:sp>
          <p:nvSpPr>
            <p:cNvPr id="66" name="Freeform 66" descr="A computer server with blue cover  Description automatically generated with medium confidence"/>
            <p:cNvSpPr/>
            <p:nvPr/>
          </p:nvSpPr>
          <p:spPr>
            <a:xfrm>
              <a:off x="0" y="0"/>
              <a:ext cx="822198" cy="822198"/>
            </a:xfrm>
            <a:custGeom>
              <a:avLst/>
              <a:gdLst/>
              <a:ahLst/>
              <a:cxnLst/>
              <a:rect l="l" t="t" r="r" b="b"/>
              <a:pathLst>
                <a:path w="822198" h="822198">
                  <a:moveTo>
                    <a:pt x="0" y="0"/>
                  </a:moveTo>
                  <a:lnTo>
                    <a:pt x="822198" y="0"/>
                  </a:lnTo>
                  <a:lnTo>
                    <a:pt x="822198" y="822198"/>
                  </a:lnTo>
                  <a:lnTo>
                    <a:pt x="0" y="822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3781913" y="3435677"/>
            <a:ext cx="679904" cy="54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 server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0191264" y="4806096"/>
            <a:ext cx="616629" cy="616629"/>
            <a:chOff x="0" y="0"/>
            <a:chExt cx="822173" cy="822173"/>
          </a:xfrm>
        </p:grpSpPr>
        <p:sp>
          <p:nvSpPr>
            <p:cNvPr id="69" name="Freeform 69" descr="A computer server with blue cover  Description automatically generated with medium confidence"/>
            <p:cNvSpPr/>
            <p:nvPr/>
          </p:nvSpPr>
          <p:spPr>
            <a:xfrm>
              <a:off x="0" y="0"/>
              <a:ext cx="822198" cy="822198"/>
            </a:xfrm>
            <a:custGeom>
              <a:avLst/>
              <a:gdLst/>
              <a:ahLst/>
              <a:cxnLst/>
              <a:rect l="l" t="t" r="r" b="b"/>
              <a:pathLst>
                <a:path w="822198" h="822198">
                  <a:moveTo>
                    <a:pt x="0" y="0"/>
                  </a:moveTo>
                  <a:lnTo>
                    <a:pt x="822198" y="0"/>
                  </a:lnTo>
                  <a:lnTo>
                    <a:pt x="822198" y="822198"/>
                  </a:lnTo>
                  <a:lnTo>
                    <a:pt x="0" y="822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0279570" y="5461225"/>
            <a:ext cx="818331" cy="54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Load balancer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2826353" y="7520597"/>
            <a:ext cx="616629" cy="616629"/>
            <a:chOff x="0" y="0"/>
            <a:chExt cx="822173" cy="822173"/>
          </a:xfrm>
        </p:grpSpPr>
        <p:sp>
          <p:nvSpPr>
            <p:cNvPr id="72" name="Freeform 72" descr="A blue and black logo with a white gear on top  Description automatically generated"/>
            <p:cNvSpPr/>
            <p:nvPr/>
          </p:nvSpPr>
          <p:spPr>
            <a:xfrm>
              <a:off x="0" y="0"/>
              <a:ext cx="822198" cy="822198"/>
            </a:xfrm>
            <a:custGeom>
              <a:avLst/>
              <a:gdLst/>
              <a:ahLst/>
              <a:cxnLst/>
              <a:rect l="l" t="t" r="r" b="b"/>
              <a:pathLst>
                <a:path w="822198" h="822198">
                  <a:moveTo>
                    <a:pt x="0" y="0"/>
                  </a:moveTo>
                  <a:lnTo>
                    <a:pt x="822198" y="0"/>
                  </a:lnTo>
                  <a:lnTo>
                    <a:pt x="822198" y="822198"/>
                  </a:lnTo>
                  <a:lnTo>
                    <a:pt x="0" y="822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2850528" y="8118119"/>
            <a:ext cx="515341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App1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350664" y="7520597"/>
            <a:ext cx="616629" cy="616629"/>
            <a:chOff x="0" y="0"/>
            <a:chExt cx="822173" cy="822173"/>
          </a:xfrm>
        </p:grpSpPr>
        <p:sp>
          <p:nvSpPr>
            <p:cNvPr id="75" name="Freeform 75" descr="A blue and black logo with a white gear on top  Description automatically generated"/>
            <p:cNvSpPr/>
            <p:nvPr/>
          </p:nvSpPr>
          <p:spPr>
            <a:xfrm>
              <a:off x="0" y="0"/>
              <a:ext cx="822198" cy="822198"/>
            </a:xfrm>
            <a:custGeom>
              <a:avLst/>
              <a:gdLst/>
              <a:ahLst/>
              <a:cxnLst/>
              <a:rect l="l" t="t" r="r" b="b"/>
              <a:pathLst>
                <a:path w="822198" h="822198">
                  <a:moveTo>
                    <a:pt x="0" y="0"/>
                  </a:moveTo>
                  <a:lnTo>
                    <a:pt x="822198" y="0"/>
                  </a:lnTo>
                  <a:lnTo>
                    <a:pt x="822198" y="822198"/>
                  </a:lnTo>
                  <a:lnTo>
                    <a:pt x="0" y="822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381858" y="8130245"/>
            <a:ext cx="515341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App2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071477" y="4806096"/>
            <a:ext cx="516112" cy="487061"/>
            <a:chOff x="0" y="0"/>
            <a:chExt cx="688150" cy="649414"/>
          </a:xfrm>
        </p:grpSpPr>
        <p:sp>
          <p:nvSpPr>
            <p:cNvPr id="78" name="Freeform 78" descr="A blue computer screen with a cube on it  Description automatically generated"/>
            <p:cNvSpPr/>
            <p:nvPr/>
          </p:nvSpPr>
          <p:spPr>
            <a:xfrm>
              <a:off x="0" y="0"/>
              <a:ext cx="688086" cy="649478"/>
            </a:xfrm>
            <a:custGeom>
              <a:avLst/>
              <a:gdLst/>
              <a:ahLst/>
              <a:cxnLst/>
              <a:rect l="l" t="t" r="r" b="b"/>
              <a:pathLst>
                <a:path w="688086" h="649478">
                  <a:moveTo>
                    <a:pt x="0" y="0"/>
                  </a:moveTo>
                  <a:lnTo>
                    <a:pt x="688086" y="0"/>
                  </a:lnTo>
                  <a:lnTo>
                    <a:pt x="688086" y="649478"/>
                  </a:lnTo>
                  <a:lnTo>
                    <a:pt x="0" y="649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9" b="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032748" y="5261610"/>
            <a:ext cx="515341" cy="315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VM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1959521" y="4508878"/>
            <a:ext cx="612257" cy="645204"/>
            <a:chOff x="0" y="0"/>
            <a:chExt cx="816343" cy="860273"/>
          </a:xfrm>
        </p:grpSpPr>
        <p:sp>
          <p:nvSpPr>
            <p:cNvPr id="81" name="Freeform 81" descr="A group of gears on a black background  Description automatically generated"/>
            <p:cNvSpPr/>
            <p:nvPr/>
          </p:nvSpPr>
          <p:spPr>
            <a:xfrm>
              <a:off x="0" y="0"/>
              <a:ext cx="816356" cy="860298"/>
            </a:xfrm>
            <a:custGeom>
              <a:avLst/>
              <a:gdLst/>
              <a:ahLst/>
              <a:cxnLst/>
              <a:rect l="l" t="t" r="r" b="b"/>
              <a:pathLst>
                <a:path w="816356" h="860298">
                  <a:moveTo>
                    <a:pt x="0" y="0"/>
                  </a:moveTo>
                  <a:lnTo>
                    <a:pt x="816356" y="0"/>
                  </a:lnTo>
                  <a:lnTo>
                    <a:pt x="816356" y="860298"/>
                  </a:lnTo>
                  <a:lnTo>
                    <a:pt x="0" y="860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689" r="-2689" b="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1899075" y="5141300"/>
            <a:ext cx="969321" cy="57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Cloud Computing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4700654" y="5245208"/>
            <a:ext cx="695449" cy="417328"/>
            <a:chOff x="0" y="0"/>
            <a:chExt cx="927265" cy="55643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27227" cy="556387"/>
            </a:xfrm>
            <a:custGeom>
              <a:avLst/>
              <a:gdLst/>
              <a:ahLst/>
              <a:cxnLst/>
              <a:rect l="l" t="t" r="r" b="b"/>
              <a:pathLst>
                <a:path w="927227" h="556387">
                  <a:moveTo>
                    <a:pt x="0" y="139065"/>
                  </a:moveTo>
                  <a:lnTo>
                    <a:pt x="649097" y="139065"/>
                  </a:lnTo>
                  <a:lnTo>
                    <a:pt x="649097" y="0"/>
                  </a:lnTo>
                  <a:lnTo>
                    <a:pt x="927227" y="278257"/>
                  </a:lnTo>
                  <a:lnTo>
                    <a:pt x="649097" y="556387"/>
                  </a:lnTo>
                  <a:lnTo>
                    <a:pt x="649097" y="417322"/>
                  </a:lnTo>
                  <a:lnTo>
                    <a:pt x="0" y="417322"/>
                  </a:lnTo>
                  <a:close/>
                </a:path>
              </a:pathLst>
            </a:custGeom>
            <a:solidFill>
              <a:srgbClr val="B4C7E7"/>
            </a:solidFill>
            <a:ln w="23812" cap="sq">
              <a:solidFill>
                <a:srgbClr val="2F528F"/>
              </a:solidFill>
              <a:prstDash val="sysDash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5" name="AutoShape 85"/>
          <p:cNvSpPr/>
          <p:nvPr/>
        </p:nvSpPr>
        <p:spPr>
          <a:xfrm rot="-2669220">
            <a:off x="5288328" y="4412647"/>
            <a:ext cx="2572350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86" name="AutoShape 86"/>
          <p:cNvSpPr/>
          <p:nvPr/>
        </p:nvSpPr>
        <p:spPr>
          <a:xfrm rot="2377620">
            <a:off x="5392322" y="6024562"/>
            <a:ext cx="2303116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87" name="Group 87"/>
          <p:cNvGrpSpPr/>
          <p:nvPr/>
        </p:nvGrpSpPr>
        <p:grpSpPr>
          <a:xfrm>
            <a:off x="8842743" y="5247008"/>
            <a:ext cx="496891" cy="417328"/>
            <a:chOff x="0" y="0"/>
            <a:chExt cx="662521" cy="55643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62559" cy="556387"/>
            </a:xfrm>
            <a:custGeom>
              <a:avLst/>
              <a:gdLst/>
              <a:ahLst/>
              <a:cxnLst/>
              <a:rect l="l" t="t" r="r" b="b"/>
              <a:pathLst>
                <a:path w="662559" h="556387">
                  <a:moveTo>
                    <a:pt x="0" y="139065"/>
                  </a:moveTo>
                  <a:lnTo>
                    <a:pt x="384302" y="139065"/>
                  </a:lnTo>
                  <a:lnTo>
                    <a:pt x="384302" y="0"/>
                  </a:lnTo>
                  <a:lnTo>
                    <a:pt x="662559" y="278257"/>
                  </a:lnTo>
                  <a:lnTo>
                    <a:pt x="384302" y="556387"/>
                  </a:lnTo>
                  <a:lnTo>
                    <a:pt x="384302" y="417322"/>
                  </a:lnTo>
                  <a:lnTo>
                    <a:pt x="0" y="417322"/>
                  </a:lnTo>
                  <a:close/>
                </a:path>
              </a:pathLst>
            </a:custGeom>
            <a:solidFill>
              <a:srgbClr val="B4C7E7"/>
            </a:solidFill>
            <a:ln w="23812" cap="sq">
              <a:solidFill>
                <a:srgbClr val="2F528F"/>
              </a:solidFill>
              <a:prstDash val="sysDash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1730295" y="5229997"/>
            <a:ext cx="496891" cy="417328"/>
            <a:chOff x="0" y="0"/>
            <a:chExt cx="662521" cy="55643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662559" cy="556387"/>
            </a:xfrm>
            <a:custGeom>
              <a:avLst/>
              <a:gdLst/>
              <a:ahLst/>
              <a:cxnLst/>
              <a:rect l="l" t="t" r="r" b="b"/>
              <a:pathLst>
                <a:path w="662559" h="556387">
                  <a:moveTo>
                    <a:pt x="0" y="139065"/>
                  </a:moveTo>
                  <a:lnTo>
                    <a:pt x="384302" y="139065"/>
                  </a:lnTo>
                  <a:lnTo>
                    <a:pt x="384302" y="0"/>
                  </a:lnTo>
                  <a:lnTo>
                    <a:pt x="662559" y="278257"/>
                  </a:lnTo>
                  <a:lnTo>
                    <a:pt x="384302" y="556387"/>
                  </a:lnTo>
                  <a:lnTo>
                    <a:pt x="384302" y="417322"/>
                  </a:lnTo>
                  <a:lnTo>
                    <a:pt x="0" y="417322"/>
                  </a:lnTo>
                  <a:close/>
                </a:path>
              </a:pathLst>
            </a:custGeom>
            <a:solidFill>
              <a:srgbClr val="B4C7E7"/>
            </a:solidFill>
            <a:ln w="23812" cap="sq">
              <a:solidFill>
                <a:srgbClr val="2F528F"/>
              </a:solidFill>
              <a:prstDash val="sysDash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1" name="AutoShape 91"/>
          <p:cNvSpPr/>
          <p:nvPr/>
        </p:nvSpPr>
        <p:spPr>
          <a:xfrm rot="-3663660">
            <a:off x="11804961" y="4193057"/>
            <a:ext cx="2561596" cy="0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92" name="Group 92"/>
          <p:cNvGrpSpPr/>
          <p:nvPr/>
        </p:nvGrpSpPr>
        <p:grpSpPr>
          <a:xfrm>
            <a:off x="16422986" y="2766117"/>
            <a:ext cx="734216" cy="631060"/>
            <a:chOff x="0" y="0"/>
            <a:chExt cx="978954" cy="841413"/>
          </a:xfrm>
        </p:grpSpPr>
        <p:sp>
          <p:nvSpPr>
            <p:cNvPr id="93" name="Freeform 93" descr="A close-up of a server  Description automatically generated"/>
            <p:cNvSpPr/>
            <p:nvPr/>
          </p:nvSpPr>
          <p:spPr>
            <a:xfrm>
              <a:off x="0" y="0"/>
              <a:ext cx="978916" cy="841375"/>
            </a:xfrm>
            <a:custGeom>
              <a:avLst/>
              <a:gdLst/>
              <a:ahLst/>
              <a:cxnLst/>
              <a:rect l="l" t="t" r="r" b="b"/>
              <a:pathLst>
                <a:path w="978916" h="841375">
                  <a:moveTo>
                    <a:pt x="0" y="0"/>
                  </a:moveTo>
                  <a:lnTo>
                    <a:pt x="978916" y="0"/>
                  </a:lnTo>
                  <a:lnTo>
                    <a:pt x="978916" y="841375"/>
                  </a:lnTo>
                  <a:lnTo>
                    <a:pt x="0" y="841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16486280" y="3369888"/>
            <a:ext cx="869842" cy="54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Database server</a:t>
            </a:r>
          </a:p>
        </p:txBody>
      </p:sp>
      <p:sp>
        <p:nvSpPr>
          <p:cNvPr id="95" name="AutoShape 95"/>
          <p:cNvSpPr/>
          <p:nvPr/>
        </p:nvSpPr>
        <p:spPr>
          <a:xfrm rot="-3111780">
            <a:off x="14758254" y="3880247"/>
            <a:ext cx="2073069" cy="9525"/>
          </a:xfrm>
          <a:prstGeom prst="line">
            <a:avLst/>
          </a:prstGeom>
          <a:ln w="9525" cap="rnd">
            <a:solidFill>
              <a:srgbClr val="4472C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0206" y="1804988"/>
            <a:ext cx="1214247" cy="8019669"/>
            <a:chOff x="0" y="0"/>
            <a:chExt cx="1618996" cy="10692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8996" cy="10692892"/>
            </a:xfrm>
            <a:custGeom>
              <a:avLst/>
              <a:gdLst/>
              <a:ahLst/>
              <a:cxnLst/>
              <a:rect l="l" t="t" r="r" b="b"/>
              <a:pathLst>
                <a:path w="1618996" h="10692892">
                  <a:moveTo>
                    <a:pt x="0" y="0"/>
                  </a:moveTo>
                  <a:lnTo>
                    <a:pt x="1618996" y="0"/>
                  </a:lnTo>
                  <a:lnTo>
                    <a:pt x="1618996" y="10692892"/>
                  </a:lnTo>
                  <a:lnTo>
                    <a:pt x="0" y="10692892"/>
                  </a:lnTo>
                  <a:close/>
                </a:path>
              </a:pathLst>
            </a:custGeom>
            <a:solidFill>
              <a:srgbClr val="BF9000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18996" cy="10740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Solution - A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09475" y="1951787"/>
            <a:ext cx="3144050" cy="441417"/>
            <a:chOff x="0" y="0"/>
            <a:chExt cx="4192067" cy="5885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Think Mobility for front-end application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09475" y="2757726"/>
            <a:ext cx="3144050" cy="441417"/>
            <a:chOff x="0" y="0"/>
            <a:chExt cx="4192067" cy="5885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API First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09475" y="3409131"/>
            <a:ext cx="3144050" cy="441417"/>
            <a:chOff x="0" y="0"/>
            <a:chExt cx="4192067" cy="5885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Single Capability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09475" y="4137803"/>
            <a:ext cx="3144050" cy="441417"/>
            <a:chOff x="0" y="0"/>
            <a:chExt cx="4192067" cy="5885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Architecture Governance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09475" y="4866475"/>
            <a:ext cx="3144050" cy="441417"/>
            <a:chOff x="0" y="0"/>
            <a:chExt cx="4192067" cy="5885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is an Asset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09475" y="6323819"/>
            <a:ext cx="3144050" cy="441417"/>
            <a:chOff x="0" y="0"/>
            <a:chExt cx="4192067" cy="5885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Virtual Deployment Preferred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09475" y="7052481"/>
            <a:ext cx="3144050" cy="441417"/>
            <a:chOff x="0" y="0"/>
            <a:chExt cx="4192067" cy="5885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Leverage off-the-shelf integration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9475" y="7781153"/>
            <a:ext cx="3144050" cy="441417"/>
            <a:chOff x="0" y="0"/>
            <a:chExt cx="4192067" cy="5885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Configure , do not customize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09475" y="8509826"/>
            <a:ext cx="3144050" cy="441417"/>
            <a:chOff x="0" y="0"/>
            <a:chExt cx="4192067" cy="5885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Governed Integration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9475" y="9174118"/>
            <a:ext cx="3144050" cy="441417"/>
            <a:chOff x="0" y="0"/>
            <a:chExt cx="4192067" cy="5885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192016" cy="588518"/>
            </a:xfrm>
            <a:custGeom>
              <a:avLst/>
              <a:gdLst/>
              <a:ahLst/>
              <a:cxnLst/>
              <a:rect l="l" t="t" r="r" b="b"/>
              <a:pathLst>
                <a:path w="4192016" h="588518">
                  <a:moveTo>
                    <a:pt x="0" y="0"/>
                  </a:moveTo>
                  <a:lnTo>
                    <a:pt x="4192016" y="0"/>
                  </a:lnTo>
                  <a:lnTo>
                    <a:pt x="4192016" y="588518"/>
                  </a:lnTo>
                  <a:lnTo>
                    <a:pt x="0" y="588518"/>
                  </a:lnTo>
                  <a:close/>
                </a:path>
              </a:pathLst>
            </a:custGeom>
            <a:solidFill>
              <a:srgbClr val="D9D9D9"/>
            </a:solidFill>
            <a:ln w="19050" cap="sq">
              <a:solidFill>
                <a:srgbClr val="2F528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4192067" cy="636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8"/>
                </a:lnSpc>
              </a:pPr>
              <a:r>
                <a:rPr lang="en-US" sz="165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Think Cloud first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rot="-10320">
            <a:off x="2861377" y="2167738"/>
            <a:ext cx="3180912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6" name="AutoShape 36"/>
          <p:cNvSpPr/>
          <p:nvPr/>
        </p:nvSpPr>
        <p:spPr>
          <a:xfrm rot="-29400">
            <a:off x="2861329" y="2982506"/>
            <a:ext cx="3181017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" name="AutoShape 37"/>
          <p:cNvSpPr/>
          <p:nvPr/>
        </p:nvSpPr>
        <p:spPr>
          <a:xfrm rot="10320">
            <a:off x="2861377" y="3625082"/>
            <a:ext cx="3180912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8" name="AutoShape 38"/>
          <p:cNvSpPr/>
          <p:nvPr/>
        </p:nvSpPr>
        <p:spPr>
          <a:xfrm rot="10320">
            <a:off x="2861377" y="4353744"/>
            <a:ext cx="3180912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" name="AutoShape 39"/>
          <p:cNvSpPr/>
          <p:nvPr/>
        </p:nvSpPr>
        <p:spPr>
          <a:xfrm rot="10320">
            <a:off x="2861377" y="5082416"/>
            <a:ext cx="3180912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0" name="AutoShape 40"/>
          <p:cNvSpPr/>
          <p:nvPr/>
        </p:nvSpPr>
        <p:spPr>
          <a:xfrm rot="-10500">
            <a:off x="2861377" y="6539846"/>
            <a:ext cx="3180912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" name="AutoShape 41"/>
          <p:cNvSpPr/>
          <p:nvPr/>
        </p:nvSpPr>
        <p:spPr>
          <a:xfrm rot="10320">
            <a:off x="2861377" y="7268432"/>
            <a:ext cx="3180912" cy="0"/>
          </a:xfrm>
          <a:prstGeom prst="line">
            <a:avLst/>
          </a:prstGeom>
          <a:ln w="9525" cap="rnd">
            <a:solidFill>
              <a:srgbClr val="FF0000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2" name="AutoShape 42"/>
          <p:cNvSpPr/>
          <p:nvPr/>
        </p:nvSpPr>
        <p:spPr>
          <a:xfrm rot="10320">
            <a:off x="2861377" y="7997104"/>
            <a:ext cx="3180912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3" name="AutoShape 43"/>
          <p:cNvSpPr/>
          <p:nvPr/>
        </p:nvSpPr>
        <p:spPr>
          <a:xfrm rot="-20100">
            <a:off x="2861358" y="8730329"/>
            <a:ext cx="3180959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4" name="AutoShape 44"/>
          <p:cNvSpPr/>
          <p:nvPr/>
        </p:nvSpPr>
        <p:spPr>
          <a:xfrm rot="10320">
            <a:off x="2861377" y="9390059"/>
            <a:ext cx="3180912" cy="0"/>
          </a:xfrm>
          <a:prstGeom prst="line">
            <a:avLst/>
          </a:prstGeom>
          <a:ln w="9525" cap="rnd">
            <a:solidFill>
              <a:srgbClr val="70AD47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Box 45"/>
          <p:cNvSpPr txBox="1"/>
          <p:nvPr/>
        </p:nvSpPr>
        <p:spPr>
          <a:xfrm>
            <a:off x="3680336" y="6927980"/>
            <a:ext cx="2050209" cy="321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No, Prefers custom APIs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656</Words>
  <Application>Microsoft Office PowerPoint</Application>
  <PresentationFormat>Custom</PresentationFormat>
  <Paragraphs>205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Arial</vt:lpstr>
      <vt:lpstr>Calibri (MS)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 help.pptx</dc:title>
  <cp:lastModifiedBy>Aryan Sharma</cp:lastModifiedBy>
  <cp:revision>3</cp:revision>
  <dcterms:created xsi:type="dcterms:W3CDTF">2006-08-16T00:00:00Z</dcterms:created>
  <dcterms:modified xsi:type="dcterms:W3CDTF">2026-07-21T05:12:50Z</dcterms:modified>
  <dc:identifier>DAHP_EhAEwc</dc:identifier>
</cp:coreProperties>
</file>