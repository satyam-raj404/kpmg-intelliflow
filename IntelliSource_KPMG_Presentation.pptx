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KPMG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371600" cy="254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IntelliSource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FDA"/>
                </a:solidFill>
                <a:latin typeface="Arial"/>
              </a:defRPr>
            </a:pPr>
            <a:r>
              <a:t>Procure-to-Pay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Arial"/>
              </a:defRPr>
            </a:pPr>
            <a:r>
              <a:t>Transforming SAP P2P data into actionable intelligence through</a:t>
            </a:r>
            <a:br/>
            <a:r>
              <a:t>automated dashboards, process mining, and real-time KPI tracking.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Arial"/>
              </a:defRPr>
            </a:pPr>
            <a:r>
              <a:t>KPMG India — Procurement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263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9FDA"/>
                </a:solidFill>
                <a:latin typeface="Arial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060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Arial"/>
              </a:defRPr>
            </a:pPr>
            <a:r>
              <a:t>Procurement analytics pain points in the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828800" cy="381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1208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46304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060"/>
                </a:solidFill>
                <a:latin typeface="Arial"/>
              </a:defRPr>
            </a:pPr>
            <a:r>
              <a:t>Data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SAP P2P data scattered across 20+ ECC/S4 HANA tables — no single source of truth for procurement analytics.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21208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73152" cy="146304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060"/>
                </a:solidFill>
                <a:latin typeface="Arial"/>
              </a:defRPr>
            </a:pPr>
            <a:r>
              <a:t>Manual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KPI computation relies on Excel-based monthly reports — slow, error-prone, and resource-intensive.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521208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73152" cy="146304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060"/>
                </a:solidFill>
                <a:latin typeface="Arial"/>
              </a:defRPr>
            </a:pPr>
            <a:r>
              <a:t>Procurement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Maverick spending, split POs, and price variances go undetected, costing 5–15% of total spend.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521208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73152" cy="146304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060"/>
                </a:solidFill>
                <a:latin typeface="Arial"/>
              </a:defRPr>
            </a:pPr>
            <a:r>
              <a:t>Process Blind Spots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No visibility into PR→PO→GRN→Invoice→Payment cycle times or bottlenecks.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521208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73152" cy="146304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060"/>
                </a:solidFill>
                <a:latin typeface="Arial"/>
              </a:defRPr>
            </a:pPr>
            <a:r>
              <a:t>Segregation of Duty 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49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SOD conflicts (e.g., same user creating &amp; approving POs) remain unmonitored, increasing audit risk.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846320"/>
            <a:ext cx="521208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846320"/>
            <a:ext cx="73152" cy="146304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060"/>
                </a:solidFill>
                <a:latin typeface="Arial"/>
              </a:defRPr>
            </a:pPr>
            <a:r>
              <a:t>Limited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49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Non-technical stakeholders cannot query data without SQL skills — insights are locked in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FFF0E0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0021B"/>
                </a:solidFill>
                <a:latin typeface="Arial"/>
              </a:defRPr>
            </a:pPr>
            <a:r>
              <a:t>Impact: Delayed decision-making, increased procurement costs, compliance gaps, and reduced stakeholder trust.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254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Arial"/>
              </a:defRPr>
            </a:pPr>
            <a:r>
              <a:t>CONFIDENTIAL — FOR INTERNAL USE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060"/>
                </a:solidFill>
                <a:latin typeface="Arial"/>
              </a:defRPr>
            </a:pPr>
            <a:r>
              <a:t>IntelliSource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Arial"/>
              </a:defRPr>
            </a:pPr>
            <a:r>
              <a:t>An integrated analytics platform addressing every procurement analytics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828800" cy="381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73152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691640"/>
            <a:ext cx="548640" cy="54864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8D"/>
                </a:solidFill>
                <a:latin typeface="Arial"/>
              </a:defRPr>
            </a:pPr>
            <a:r>
              <a:t>Live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5 role-based dashboards</a:t>
            </a:r>
            <a:br/>
            <a:r>
              <a:t>(Procurement, Financial,</a:t>
            </a:r>
            <a:br/>
            <a:r>
              <a:t>Leadership, Vendor,</a:t>
            </a:r>
            <a:br/>
            <a:r>
              <a:t>Utilization)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343400"/>
            <a:ext cx="2423160" cy="45720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70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Arial"/>
              </a:defRPr>
            </a:pPr>
            <a:r>
              <a:t>80+ pre-computed</a:t>
            </a:r>
            <a:br/>
            <a:r>
              <a:t>KPIs updated in</a:t>
            </a:r>
            <a:br/>
            <a:r>
              <a:t>real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630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2697480" cy="73152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691640"/>
            <a:ext cx="548640" cy="548640"/>
          </a:xfrm>
          <a:prstGeom prst="ellipse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31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3A1"/>
                </a:solidFill>
                <a:latin typeface="Arial"/>
              </a:defRPr>
            </a:pPr>
            <a:r>
              <a:t>Process Mining &amp;</a:t>
            </a:r>
            <a:br/>
            <a:r>
              <a:t>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12+ anomaly types</a:t>
            </a:r>
            <a:br/>
            <a:r>
              <a:t>auto-detected:</a:t>
            </a:r>
            <a:br/>
            <a:r>
              <a:t>- Maverick buying</a:t>
            </a:r>
            <a:br/>
            <a:r>
              <a:t>- Split POs</a:t>
            </a:r>
            <a:br/>
            <a:r>
              <a:t>- Price variances</a:t>
            </a:r>
            <a:br/>
            <a:r>
              <a:t>- SOD conflicts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4343400"/>
            <a:ext cx="2423160" cy="45720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370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3A1"/>
                </a:solidFill>
                <a:latin typeface="Arial"/>
              </a:defRPr>
            </a:pPr>
            <a:r>
              <a:t>Flags compliance</a:t>
            </a:r>
            <a:br/>
            <a:r>
              <a:t>gaps and</a:t>
            </a:r>
            <a:br/>
            <a:r>
              <a:t>cost leakage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2697480" cy="73152"/>
          </a:xfrm>
          <a:prstGeom prst="rect">
            <a:avLst/>
          </a:prstGeom>
          <a:solidFill>
            <a:srgbClr val="470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1691640"/>
            <a:ext cx="548640" cy="548640"/>
          </a:xfrm>
          <a:prstGeom prst="ellipse">
            <a:avLst/>
          </a:prstGeom>
          <a:solidFill>
            <a:srgbClr val="470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31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0A68"/>
                </a:solidFill>
                <a:latin typeface="Arial"/>
              </a:defRPr>
            </a:pPr>
            <a:r>
              <a:t>P2P Lifecycle</a:t>
            </a:r>
            <a:br/>
            <a:r>
              <a:t>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Full PR→PO→GRN→</a:t>
            </a:r>
            <a:br/>
            <a:r>
              <a:t>Invoice→Payment</a:t>
            </a:r>
            <a:br/>
            <a:r>
              <a:t>pipeline with RAG</a:t>
            </a:r>
            <a:br/>
            <a:r>
              <a:t>status indicators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343400"/>
            <a:ext cx="2423160" cy="45720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370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0A68"/>
                </a:solidFill>
                <a:latin typeface="Arial"/>
              </a:defRPr>
            </a:pPr>
            <a:r>
              <a:t>End-to-end</a:t>
            </a:r>
            <a:br/>
            <a:r>
              <a:t>visibility across</a:t>
            </a:r>
            <a:br/>
            <a:r>
              <a:t>the P2P chain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46304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463040"/>
            <a:ext cx="2697480" cy="73152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4120" y="1691640"/>
            <a:ext cx="548640" cy="5486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3317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FDA"/>
                </a:solidFill>
                <a:latin typeface="Arial"/>
              </a:defRPr>
            </a:pPr>
            <a:r>
              <a:t>Automated ETL</a:t>
            </a:r>
            <a:br/>
            <a: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88036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Drag-and-drop upload</a:t>
            </a:r>
            <a:br/>
            <a:r>
              <a:t>of SAP CSV/Excel files</a:t>
            </a:r>
            <a:br/>
            <a:r>
              <a:t>→ parse → validate →</a:t>
            </a:r>
            <a:br/>
            <a:r>
              <a:t>build fact tables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343400"/>
            <a:ext cx="2423160" cy="45720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37083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FDA"/>
                </a:solidFill>
                <a:latin typeface="Arial"/>
              </a:defRPr>
            </a:pPr>
            <a:r>
              <a:t>Zero-touch</a:t>
            </a:r>
            <a:br/>
            <a:r>
              <a:t>onboarding per</a:t>
            </a:r>
            <a:br/>
            <a:r>
              <a:t>new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60"/>
                </a:solidFill>
                <a:latin typeface="Arial"/>
              </a:defRPr>
            </a:pPr>
            <a:r>
              <a:t>Key Differentiators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577840"/>
            <a:ext cx="109728" cy="109728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532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Unified PR→PO→GRN→Invoice→Payment fact table linking the entire P2P chain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577840"/>
            <a:ext cx="109728" cy="109728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5532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Role-based access for Admin, Procurement, Finance, CXO, Compliance, and Delivery teams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59" y="5577840"/>
            <a:ext cx="109728" cy="109728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59" y="5532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Real-time progress via Server-Sent Events during data upload &amp; ETL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355080"/>
            <a:ext cx="11277295" cy="254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Arial"/>
              </a:defRPr>
            </a:pPr>
            <a:r>
              <a:t>CONFIDENTIAL — FOR INTERNAL USE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060"/>
                </a:solidFill>
                <a:latin typeface="Arial"/>
              </a:defRPr>
            </a:pPr>
            <a:r>
              <a:t>Business Impact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Arial"/>
              </a:defRPr>
            </a:pPr>
            <a:r>
              <a:t>Measurable outcomes from deploying IntelliSource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828800" cy="381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8D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Arial"/>
              </a:defRPr>
            </a:pPr>
            <a:r>
              <a:t>Automated KPIs</a:t>
            </a:r>
            <a:br/>
            <a:r>
              <a:t>across 5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97480" cy="54864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45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3A1"/>
                </a:solidFill>
                <a:latin typeface="Arial"/>
              </a:defRPr>
            </a:pPr>
            <a:r>
              <a:t>12+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Arial"/>
              </a:defRPr>
            </a:pPr>
            <a:r>
              <a:t>Anomaly types</a:t>
            </a:r>
            <a:br/>
            <a:r>
              <a:t>auto-detected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97480" cy="54864"/>
          </a:xfrm>
          <a:prstGeom prst="rect">
            <a:avLst/>
          </a:prstGeom>
          <a:solidFill>
            <a:srgbClr val="00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A44"/>
                </a:solidFill>
                <a:latin typeface="Arial"/>
              </a:defRPr>
            </a:pPr>
            <a:r>
              <a:t>5–15%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Arial"/>
              </a:defRPr>
            </a:pPr>
            <a:r>
              <a:t>Potential cost savings</a:t>
            </a:r>
            <a:br/>
            <a:r>
              <a:t>from leakage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46304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97480" cy="54864"/>
          </a:xfrm>
          <a:prstGeom prst="rect">
            <a:avLst/>
          </a:prstGeom>
          <a:solidFill>
            <a:srgbClr val="470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70A68"/>
                </a:solidFill>
                <a:latin typeface="Arial"/>
              </a:defRPr>
            </a:pPr>
            <a:r>
              <a:t>&lt; 1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Arial"/>
              </a:defRPr>
            </a:pPr>
            <a:r>
              <a:t>Data-to-insights</a:t>
            </a:r>
            <a:br/>
            <a:r>
              <a:t>(was days/weeks)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60"/>
                </a:solidFill>
                <a:latin typeface="Arial"/>
              </a:defRPr>
            </a:pPr>
            <a:r>
              <a:t>Value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1371600" cy="254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73152" cy="109728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060"/>
                </a:solidFill>
                <a:latin typeface="Arial"/>
              </a:defRPr>
            </a:pPr>
            <a:r>
              <a:t>Operational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Replace manual Excel-based reporting with live dashboards. Reduce reporting effort by 80%+ and reallocate teams to strategic analysis.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40480"/>
            <a:ext cx="73152" cy="109728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060"/>
                </a:solidFill>
                <a:latin typeface="Arial"/>
              </a:defRPr>
            </a:pPr>
            <a:r>
              <a:t>Compliance &amp; Risk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605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Automated SOD conflict detection, maverick spend monitoring, and 3-way match validation reduce audit exposure and procurement risk.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12080"/>
            <a:ext cx="73152" cy="109728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060"/>
                </a:solidFill>
                <a:latin typeface="Arial"/>
              </a:defRPr>
            </a:pPr>
            <a:r>
              <a:t>Cost Leakage Prevention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32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Identify and plug procurement leakage (maverick buying, price variances, split POs) — typically 5–15% of addressable spend.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212080"/>
            <a:ext cx="73152" cy="109728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060"/>
                </a:solidFill>
                <a:latin typeface="Arial"/>
              </a:defRPr>
            </a:pPr>
            <a:r>
              <a:t>P2P Cycle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532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End-to-end tracking of the PR→PO→GRN→Invoice→Payment lifecycle with RAG indicators to identify bottlenecks and delays.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Arial"/>
              </a:defRPr>
            </a:pPr>
            <a:r>
              <a:t>Tech Stack: React 19 · TypeScript · FastAPI · PostgreSQL · TanStack Query · Tailwind CSS · shadcn/ui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55080"/>
            <a:ext cx="11277295" cy="254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Arial"/>
              </a:defRPr>
            </a:pPr>
            <a:r>
              <a:t>CONFIDENTIAL — FOR INTERNAL USE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57575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