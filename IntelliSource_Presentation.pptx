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 Sharma" userId="6e06ab065f5da5d7" providerId="LiveId" clId="{D3DCD713-AC6A-4CED-BE24-DA23504DB6DE}"/>
    <pc:docChg chg="custSel modSld">
      <pc:chgData name="Aryan Sharma" userId="6e06ab065f5da5d7" providerId="LiveId" clId="{D3DCD713-AC6A-4CED-BE24-DA23504DB6DE}" dt="2026-07-09T07:52:12.288" v="5" actId="478"/>
      <pc:docMkLst>
        <pc:docMk/>
      </pc:docMkLst>
      <pc:sldChg chg="delSp mod">
        <pc:chgData name="Aryan Sharma" userId="6e06ab065f5da5d7" providerId="LiveId" clId="{D3DCD713-AC6A-4CED-BE24-DA23504DB6DE}" dt="2026-07-09T07:51:53.898" v="2" actId="478"/>
        <pc:sldMkLst>
          <pc:docMk/>
          <pc:sldMk cId="0" sldId="256"/>
        </pc:sldMkLst>
        <pc:spChg chg="del">
          <ac:chgData name="Aryan Sharma" userId="6e06ab065f5da5d7" providerId="LiveId" clId="{D3DCD713-AC6A-4CED-BE24-DA23504DB6DE}" dt="2026-07-09T07:51:45.192" v="0" actId="478"/>
          <ac:spMkLst>
            <pc:docMk/>
            <pc:sldMk cId="0" sldId="256"/>
            <ac:spMk id="4" creationId="{00000000-0000-0000-0000-000000000000}"/>
          </ac:spMkLst>
        </pc:spChg>
        <pc:spChg chg="del">
          <ac:chgData name="Aryan Sharma" userId="6e06ab065f5da5d7" providerId="LiveId" clId="{D3DCD713-AC6A-4CED-BE24-DA23504DB6DE}" dt="2026-07-09T07:51:50.716" v="1" actId="478"/>
          <ac:spMkLst>
            <pc:docMk/>
            <pc:sldMk cId="0" sldId="256"/>
            <ac:spMk id="10" creationId="{00000000-0000-0000-0000-000000000000}"/>
          </ac:spMkLst>
        </pc:spChg>
        <pc:spChg chg="del">
          <ac:chgData name="Aryan Sharma" userId="6e06ab065f5da5d7" providerId="LiveId" clId="{D3DCD713-AC6A-4CED-BE24-DA23504DB6DE}" dt="2026-07-09T07:51:53.898" v="2" actId="478"/>
          <ac:spMkLst>
            <pc:docMk/>
            <pc:sldMk cId="0" sldId="256"/>
            <ac:spMk id="11" creationId="{00000000-0000-0000-0000-000000000000}"/>
          </ac:spMkLst>
        </pc:spChg>
      </pc:sldChg>
      <pc:sldChg chg="delSp mod">
        <pc:chgData name="Aryan Sharma" userId="6e06ab065f5da5d7" providerId="LiveId" clId="{D3DCD713-AC6A-4CED-BE24-DA23504DB6DE}" dt="2026-07-09T07:52:02.785" v="3" actId="478"/>
        <pc:sldMkLst>
          <pc:docMk/>
          <pc:sldMk cId="0" sldId="257"/>
        </pc:sldMkLst>
        <pc:spChg chg="del">
          <ac:chgData name="Aryan Sharma" userId="6e06ab065f5da5d7" providerId="LiveId" clId="{D3DCD713-AC6A-4CED-BE24-DA23504DB6DE}" dt="2026-07-09T07:52:02.785" v="3" actId="478"/>
          <ac:spMkLst>
            <pc:docMk/>
            <pc:sldMk cId="0" sldId="257"/>
            <ac:spMk id="33" creationId="{00000000-0000-0000-0000-000000000000}"/>
          </ac:spMkLst>
        </pc:spChg>
      </pc:sldChg>
      <pc:sldChg chg="delSp mod">
        <pc:chgData name="Aryan Sharma" userId="6e06ab065f5da5d7" providerId="LiveId" clId="{D3DCD713-AC6A-4CED-BE24-DA23504DB6DE}" dt="2026-07-09T07:52:06.845" v="4" actId="478"/>
        <pc:sldMkLst>
          <pc:docMk/>
          <pc:sldMk cId="0" sldId="258"/>
        </pc:sldMkLst>
        <pc:spChg chg="del">
          <ac:chgData name="Aryan Sharma" userId="6e06ab065f5da5d7" providerId="LiveId" clId="{D3DCD713-AC6A-4CED-BE24-DA23504DB6DE}" dt="2026-07-09T07:52:06.845" v="4" actId="478"/>
          <ac:spMkLst>
            <pc:docMk/>
            <pc:sldMk cId="0" sldId="258"/>
            <ac:spMk id="42" creationId="{00000000-0000-0000-0000-000000000000}"/>
          </ac:spMkLst>
        </pc:spChg>
      </pc:sldChg>
      <pc:sldChg chg="delSp mod">
        <pc:chgData name="Aryan Sharma" userId="6e06ab065f5da5d7" providerId="LiveId" clId="{D3DCD713-AC6A-4CED-BE24-DA23504DB6DE}" dt="2026-07-09T07:52:12.288" v="5" actId="478"/>
        <pc:sldMkLst>
          <pc:docMk/>
          <pc:sldMk cId="0" sldId="259"/>
        </pc:sldMkLst>
        <pc:spChg chg="del">
          <ac:chgData name="Aryan Sharma" userId="6e06ab065f5da5d7" providerId="LiveId" clId="{D3DCD713-AC6A-4CED-BE24-DA23504DB6DE}" dt="2026-07-09T07:52:12.288" v="5" actId="478"/>
          <ac:spMkLst>
            <pc:docMk/>
            <pc:sldMk cId="0" sldId="259"/>
            <ac:spMk id="39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1371600" cy="2540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IntelliSource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9FDA"/>
                </a:solidFill>
                <a:latin typeface="Arial"/>
              </a:defRPr>
            </a:pPr>
            <a:r>
              <a:t>Procure-to-Pay Analytics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Arial"/>
              </a:defRPr>
            </a:pPr>
            <a:r>
              <a:t>Transforming SAP P2P data into actionable intelligence through</a:t>
            </a:r>
            <a:br/>
            <a:r>
              <a:t>automated dashboards, process mining, and real-time KPI tracking.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03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060"/>
                </a:solidFill>
                <a:latin typeface="Arial"/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  <a:latin typeface="Arial"/>
              </a:defRPr>
            </a:pPr>
            <a:r>
              <a:t>Procurement analytics pain points in the enterprise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828800" cy="3810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212080" cy="1463040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73152" cy="1463040"/>
          </a:xfrm>
          <a:prstGeom prst="rect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060"/>
                </a:solidFill>
                <a:latin typeface="Arial"/>
              </a:defRPr>
            </a:pPr>
            <a:r>
              <a:t>Data Silos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SAP P2P data scattered across 20+ ECC/S4 HANA tables — no single source of truth for procurement analytics.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212080" cy="1463040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73152" cy="1463040"/>
          </a:xfrm>
          <a:prstGeom prst="rect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060"/>
                </a:solidFill>
                <a:latin typeface="Arial"/>
              </a:defRPr>
            </a:pPr>
            <a:r>
              <a:t>Manual Reporting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659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KPI computation relies on Excel-based monthly reports — slow, error-prone, and resource-intensive.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5212080" cy="1463040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154680"/>
            <a:ext cx="73152" cy="1463040"/>
          </a:xfrm>
          <a:prstGeom prst="rect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32918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060"/>
                </a:solidFill>
                <a:latin typeface="Arial"/>
              </a:defRPr>
            </a:pPr>
            <a:r>
              <a:t>Procurement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65760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Maverick spending, split POs, and price variances go undetected, costing 5–15% of total spend.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154680"/>
            <a:ext cx="5212080" cy="1463040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3154680"/>
            <a:ext cx="73152" cy="1463040"/>
          </a:xfrm>
          <a:prstGeom prst="rect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2918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060"/>
                </a:solidFill>
                <a:latin typeface="Arial"/>
              </a:defRPr>
            </a:pPr>
            <a:r>
              <a:t>Process Blind Spots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65760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No visibility into PR→PO→GRN→Invoice→Payment cycle times or bottlenecks.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46320"/>
            <a:ext cx="5212080" cy="1463040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4846320"/>
            <a:ext cx="73152" cy="1463040"/>
          </a:xfrm>
          <a:prstGeom prst="rect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983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060"/>
                </a:solidFill>
                <a:latin typeface="Arial"/>
              </a:defRPr>
            </a:pPr>
            <a:r>
              <a:t>Segregation of Duty Risks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34924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SOD conflicts (e.g., same user creating &amp; approving POs) remain unmonitored, increasing audit risk.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4846320"/>
            <a:ext cx="5212080" cy="1463040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17920" y="4846320"/>
            <a:ext cx="73152" cy="1463040"/>
          </a:xfrm>
          <a:prstGeom prst="rect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46520" y="4983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060"/>
                </a:solidFill>
                <a:latin typeface="Arial"/>
              </a:defRPr>
            </a:pPr>
            <a:r>
              <a:t>Limited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534924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Non-technical stakeholders cannot query data without SQL skills — insights are locked in IT.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solidFill>
            <a:srgbClr val="FFF0E0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0021B"/>
                </a:solidFill>
                <a:latin typeface="Arial"/>
              </a:defRPr>
            </a:pPr>
            <a:r>
              <a:t>Impact: Delayed decision-making, increased procurement costs, compliance gaps, and reduced stakeholder trust.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355080"/>
            <a:ext cx="11277295" cy="2540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57575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060"/>
                </a:solidFill>
                <a:latin typeface="Arial"/>
              </a:defRPr>
            </a:pPr>
            <a:r>
              <a:t>IntelliSource —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  <a:latin typeface="Arial"/>
              </a:defRPr>
            </a:pPr>
            <a:r>
              <a:t>An integrated analytics platform addressing every procurement analytics challenge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828800" cy="3810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697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697480" cy="73152"/>
          </a:xfrm>
          <a:prstGeom prst="rect">
            <a:avLst/>
          </a:prstGeom>
          <a:solidFill>
            <a:srgbClr val="003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463040" y="1691640"/>
            <a:ext cx="548640" cy="548640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317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8D"/>
                </a:solidFill>
                <a:latin typeface="Arial"/>
              </a:defRPr>
            </a:pPr>
            <a:r>
              <a:t>Live Dashboards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880360"/>
            <a:ext cx="2423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5 role-based dashboards</a:t>
            </a:r>
            <a:br/>
            <a:r>
              <a:t>(Procurement, Financial,</a:t>
            </a:r>
            <a:br/>
            <a:r>
              <a:t>Leadership, Vendor,</a:t>
            </a:r>
            <a:br/>
            <a:r>
              <a:t>Utilization)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343400"/>
            <a:ext cx="2423160" cy="457200"/>
          </a:xfrm>
          <a:prstGeom prst="rect">
            <a:avLst/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370832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338D"/>
                </a:solidFill>
                <a:latin typeface="Arial"/>
              </a:defRPr>
            </a:pPr>
            <a:r>
              <a:t>80+ pre-computed</a:t>
            </a:r>
            <a:br/>
            <a:r>
              <a:t>KPIs updated in</a:t>
            </a:r>
            <a:br/>
            <a:r>
              <a:t>real 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463040"/>
            <a:ext cx="2697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7560" y="1463040"/>
            <a:ext cx="2697480" cy="73152"/>
          </a:xfrm>
          <a:prstGeom prst="rect">
            <a:avLst/>
          </a:prstGeom>
          <a:solidFill>
            <a:srgbClr val="00A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343400" y="1691640"/>
            <a:ext cx="548640" cy="548640"/>
          </a:xfrm>
          <a:prstGeom prst="ellipse">
            <a:avLst/>
          </a:prstGeom>
          <a:solidFill>
            <a:srgbClr val="00A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3317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A3A1"/>
                </a:solidFill>
                <a:latin typeface="Arial"/>
              </a:defRPr>
            </a:pPr>
            <a:r>
              <a:t>Process Mining &amp;</a:t>
            </a:r>
            <a:br/>
            <a:r>
              <a:t>Anomaly 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880360"/>
            <a:ext cx="2423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12+ anomaly types</a:t>
            </a:r>
            <a:br/>
            <a:r>
              <a:t>auto-detected:</a:t>
            </a:r>
            <a:br/>
            <a:r>
              <a:t>- Maverick buying</a:t>
            </a:r>
            <a:br/>
            <a:r>
              <a:t>- Split POs</a:t>
            </a:r>
            <a:br/>
            <a:r>
              <a:t>- Price variances</a:t>
            </a:r>
            <a:br/>
            <a:r>
              <a:t>- SOD conflicts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4343400"/>
            <a:ext cx="2423160" cy="457200"/>
          </a:xfrm>
          <a:prstGeom prst="rect">
            <a:avLst/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66160" y="4370832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3A1"/>
                </a:solidFill>
                <a:latin typeface="Arial"/>
              </a:defRPr>
            </a:pPr>
            <a:r>
              <a:t>Flags compliance</a:t>
            </a:r>
            <a:br/>
            <a:r>
              <a:t>gaps and</a:t>
            </a:r>
            <a:br/>
            <a:r>
              <a:t>cost leakage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463040"/>
            <a:ext cx="2697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17920" y="1463040"/>
            <a:ext cx="2697480" cy="73152"/>
          </a:xfrm>
          <a:prstGeom prst="rect">
            <a:avLst/>
          </a:prstGeom>
          <a:solidFill>
            <a:srgbClr val="470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223760" y="1691640"/>
            <a:ext cx="548640" cy="548640"/>
          </a:xfrm>
          <a:prstGeom prst="ellipse">
            <a:avLst/>
          </a:prstGeom>
          <a:solidFill>
            <a:srgbClr val="470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3317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70A68"/>
                </a:solidFill>
                <a:latin typeface="Arial"/>
              </a:defRPr>
            </a:pPr>
            <a:r>
              <a:t>P2P Lifecycle</a:t>
            </a:r>
            <a:br/>
            <a:r>
              <a:t>Tracker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880360"/>
            <a:ext cx="2423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Full PR→PO→GRN→</a:t>
            </a:r>
            <a:br/>
            <a:r>
              <a:t>Invoice→Payment</a:t>
            </a:r>
            <a:br/>
            <a:r>
              <a:t>pipeline with RAG</a:t>
            </a:r>
            <a:br/>
            <a:r>
              <a:t>status indicators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4343400"/>
            <a:ext cx="2423160" cy="457200"/>
          </a:xfrm>
          <a:prstGeom prst="rect">
            <a:avLst/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4370832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70A68"/>
                </a:solidFill>
                <a:latin typeface="Arial"/>
              </a:defRPr>
            </a:pPr>
            <a:r>
              <a:t>End-to-end</a:t>
            </a:r>
            <a:br/>
            <a:r>
              <a:t>visibility across</a:t>
            </a:r>
            <a:br/>
            <a:r>
              <a:t>the P2P chain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98280" y="1463040"/>
            <a:ext cx="2697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098280" y="1463040"/>
            <a:ext cx="2697480" cy="73152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104120" y="1691640"/>
            <a:ext cx="548640" cy="5486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3317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FDA"/>
                </a:solidFill>
                <a:latin typeface="Arial"/>
              </a:defRPr>
            </a:pPr>
            <a:r>
              <a:t>Automated ETL</a:t>
            </a:r>
            <a:br/>
            <a:r>
              <a:t>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880360"/>
            <a:ext cx="2423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Drag-and-drop upload</a:t>
            </a:r>
            <a:br/>
            <a:r>
              <a:t>of SAP CSV/Excel files</a:t>
            </a:r>
            <a:br/>
            <a:r>
              <a:t>→ parse → validate →</a:t>
            </a:r>
            <a:br/>
            <a:r>
              <a:t>build fact tables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4343400"/>
            <a:ext cx="2423160" cy="457200"/>
          </a:xfrm>
          <a:prstGeom prst="rect">
            <a:avLst/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26880" y="4370832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FDA"/>
                </a:solidFill>
                <a:latin typeface="Arial"/>
              </a:defRPr>
            </a:pPr>
            <a:r>
              <a:t>Zero-touch</a:t>
            </a:r>
            <a:br/>
            <a:r>
              <a:t>onboarding per</a:t>
            </a:r>
            <a:br/>
            <a:r>
              <a:t>new client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060"/>
                </a:solidFill>
                <a:latin typeface="Arial"/>
              </a:defRPr>
            </a:pPr>
            <a:r>
              <a:t>Key Differentiators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577840"/>
            <a:ext cx="109728" cy="109728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8680" y="5532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Unified PR→PO→GRN→Invoice→Payment fact table linking the entire P2P chain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0" y="5577840"/>
            <a:ext cx="109728" cy="109728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617720" y="5532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Role-based access for Admin, Procurement, Finance, CXO, Compliance, and Delivery teams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38159" y="5577840"/>
            <a:ext cx="109728" cy="109728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66759" y="5532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Real-time progress via Server-Sent Events during data upload &amp; ETL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6355080"/>
            <a:ext cx="11277295" cy="2540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57575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060"/>
                </a:solidFill>
                <a:latin typeface="Arial"/>
              </a:defRPr>
            </a:pPr>
            <a:r>
              <a:t>Business Impact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  <a:latin typeface="Arial"/>
              </a:defRPr>
            </a:pPr>
            <a:r>
              <a:t>Measurable outcomes from deploying IntelliSource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828800" cy="3810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6974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697480" cy="54864"/>
          </a:xfrm>
          <a:prstGeom prst="rect">
            <a:avLst/>
          </a:prstGeom>
          <a:solidFill>
            <a:srgbClr val="003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6459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338D"/>
                </a:solidFill>
                <a:latin typeface="Arial"/>
              </a:defRPr>
            </a:pPr>
            <a:r>
              <a:t>80+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  <a:latin typeface="Arial"/>
              </a:defRPr>
            </a:pPr>
            <a:r>
              <a:t>Automated KPIs</a:t>
            </a:r>
            <a:br/>
            <a:r>
              <a:t>across 5 dashboards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6974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463040"/>
            <a:ext cx="2697480" cy="54864"/>
          </a:xfrm>
          <a:prstGeom prst="rect">
            <a:avLst/>
          </a:prstGeom>
          <a:solidFill>
            <a:srgbClr val="00A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16459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A3A1"/>
                </a:solidFill>
                <a:latin typeface="Arial"/>
              </a:defRPr>
            </a:pPr>
            <a:r>
              <a:t>12+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24028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  <a:latin typeface="Arial"/>
              </a:defRPr>
            </a:pPr>
            <a:r>
              <a:t>Anomaly types</a:t>
            </a:r>
            <a:br/>
            <a:r>
              <a:t>auto-detected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6974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1463040"/>
            <a:ext cx="2697480" cy="54864"/>
          </a:xfrm>
          <a:prstGeom prst="rect">
            <a:avLst/>
          </a:prstGeom>
          <a:solidFill>
            <a:srgbClr val="009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16459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9A44"/>
                </a:solidFill>
                <a:latin typeface="Arial"/>
              </a:defRPr>
            </a:pPr>
            <a:r>
              <a:t>5–15%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4028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  <a:latin typeface="Arial"/>
              </a:defRPr>
            </a:pPr>
            <a:r>
              <a:t>Potential cost savings</a:t>
            </a:r>
            <a:br/>
            <a:r>
              <a:t>from leakage reduction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463040"/>
            <a:ext cx="269748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8280" y="1463040"/>
            <a:ext cx="2697480" cy="54864"/>
          </a:xfrm>
          <a:prstGeom prst="rect">
            <a:avLst/>
          </a:prstGeom>
          <a:solidFill>
            <a:srgbClr val="470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6459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70A68"/>
                </a:solidFill>
                <a:latin typeface="Arial"/>
              </a:defRPr>
            </a:pPr>
            <a:r>
              <a:t>&lt; 1 hr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24028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  <a:latin typeface="Arial"/>
              </a:defRPr>
            </a:pPr>
            <a:r>
              <a:t>Data-to-insights</a:t>
            </a:r>
            <a:br/>
            <a:r>
              <a:t>(was days/weeks)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91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60"/>
                </a:solidFill>
                <a:latin typeface="Arial"/>
              </a:defRPr>
            </a:pPr>
            <a:r>
              <a:t>Value Drivers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611880"/>
            <a:ext cx="1371600" cy="2540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3840480"/>
            <a:ext cx="73152" cy="109728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3840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060"/>
                </a:solidFill>
                <a:latin typeface="Arial"/>
              </a:defRPr>
            </a:pPr>
            <a:r>
              <a:t>Operational Efficiency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1605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Replace manual Excel-based reporting with live dashboards. Reduce reporting effort by 80%+ and reallocate teams to strategic analysis.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840480"/>
            <a:ext cx="73152" cy="109728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3840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060"/>
                </a:solidFill>
                <a:latin typeface="Arial"/>
              </a:defRPr>
            </a:pPr>
            <a:r>
              <a:t>Compliance &amp; Risk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1605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Automated SOD conflict detection, maverick spend monitoring, and 3-way match validation reduce audit exposure and procurement risk.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212080"/>
            <a:ext cx="73152" cy="109728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52120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060"/>
                </a:solidFill>
                <a:latin typeface="Arial"/>
              </a:defRPr>
            </a:pPr>
            <a:r>
              <a:t>Cost Leakage Prevention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321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Identify and plug procurement leakage (maverick buying, price variances, split POs) — typically 5–15% of addressable spend.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212080"/>
            <a:ext cx="73152" cy="109728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92240" y="52120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060"/>
                </a:solidFill>
                <a:latin typeface="Arial"/>
              </a:defRPr>
            </a:pPr>
            <a:r>
              <a:t>P2P Cycle Visibility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5321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End-to-end tracking of the PR→PO→GRN→Invoice→Payment lifecycle with RAG indicators to identify bottlenecks and delays.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Arial"/>
              </a:defRPr>
            </a:pPr>
            <a:r>
              <a:t>Tech Stack: React 19 · TypeScript · FastAPI · PostgreSQL · TanStack Query · Tailwind CSS · shadcn/ui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355080"/>
            <a:ext cx="11277295" cy="25400"/>
          </a:xfrm>
          <a:prstGeom prst="rect">
            <a:avLst/>
          </a:prstGeom>
          <a:solidFill>
            <a:srgbClr val="009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82009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57575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530</Words>
  <Application>Microsoft Office PowerPoint</Application>
  <PresentationFormat>Widescreen</PresentationFormat>
  <Paragraphs>63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Aryan Sharma</cp:lastModifiedBy>
  <cp:revision>1</cp:revision>
  <dcterms:created xsi:type="dcterms:W3CDTF">2013-01-27T09:14:16Z</dcterms:created>
  <dcterms:modified xsi:type="dcterms:W3CDTF">2026-07-09T07:52:12Z</dcterms:modified>
  <cp:category/>
</cp:coreProperties>
</file>