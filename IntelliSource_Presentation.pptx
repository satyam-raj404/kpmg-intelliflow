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3044952" cy="32004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0" y="0"/>
            <a:ext cx="1947672" cy="18288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20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KPMG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91DA"/>
                </a:solidFill>
                <a:latin typeface="Calibri"/>
              </a:rPr>
              <a:t>India  |  Procurement Advisory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600200"/>
            <a:ext cx="11795760" cy="27432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783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Calibri"/>
              </a:rPr>
              <a:t>IntelliSource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1089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0091DA"/>
                </a:solidFill>
                <a:latin typeface="Calibri"/>
              </a:rPr>
              <a:t>SAP Procurement Intelligence &amp; Analytics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384048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40050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5 Dashboards  ·  187 SOD Conflicts Detected  ·  ₹3,936 Cr Spend Visibility  ·  Live from SAP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448056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3666A"/>
                </a:solidFill>
                <a:latin typeface="Calibri"/>
              </a:rPr>
              <a:t>Application Demo  |  Q2 FY2024  |  All Companies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373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KPMG India  |  Advisory  |  Procurement Excellence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3733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IntelliSource — Key Numbers at a Glance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078992"/>
            <a:ext cx="12188952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" y="1143000"/>
            <a:ext cx="199339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160" y="1143000"/>
            <a:ext cx="1993392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234440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Spend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" y="1490472"/>
            <a:ext cx="181051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₹3,936 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1984248"/>
            <a:ext cx="1810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All companies · All departments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1143000"/>
            <a:ext cx="199339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48840" y="1143000"/>
            <a:ext cx="1993392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1234440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SOD Conflicts 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1490472"/>
            <a:ext cx="181051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1984248"/>
            <a:ext cx="1810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Across 4 P2P control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1143000"/>
            <a:ext cx="199339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60520" y="1143000"/>
            <a:ext cx="1993392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234440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P2P End-to-End Cycle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1490472"/>
            <a:ext cx="181051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44.5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1984248"/>
            <a:ext cx="1810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PR → PO → GRN → Invoice → Payment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143000"/>
            <a:ext cx="199339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1143000"/>
            <a:ext cx="1993392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1234440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Maverick Spend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490472"/>
            <a:ext cx="181051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19.0%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1984248"/>
            <a:ext cx="1810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POs without approved requisition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1143000"/>
            <a:ext cx="199339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80" y="1143000"/>
            <a:ext cx="1993392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234440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3-Way Match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1490472"/>
            <a:ext cx="181051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84.0%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1984248"/>
            <a:ext cx="1810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PO–GRN–Invoice alignment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95560" y="1143000"/>
            <a:ext cx="199339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95560" y="1143000"/>
            <a:ext cx="1993392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87000" y="1234440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Vendor Compliance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90472"/>
            <a:ext cx="181051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84.6%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1984248"/>
            <a:ext cx="18105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Not blocked · not deleted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" y="25786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8D"/>
                </a:solidFill>
                <a:latin typeface="Calibri"/>
              </a:rPr>
              <a:t>What IntelliSource Delivers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292608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3017520"/>
            <a:ext cx="54864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30358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5 Role-Specific Dashboards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472" y="325526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3666A"/>
                </a:solidFill>
                <a:latin typeface="Calibri"/>
              </a:rPr>
              <a:t>Procurement · Financial · Leadership · Vendor Performance · Utilization — each calibrated to the decisions that matter most to that audience.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3611880"/>
            <a:ext cx="54864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363016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Live from SAP Exports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" y="384962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3666A"/>
                </a:solidFill>
                <a:latin typeface="Calibri"/>
              </a:rPr>
              <a:t>Upload CSV files from ME2M, MB51, FBL1N, F110, XK03 — IntelliSource ETL validates, deduplicates, and recomputes all KPIs across all dashboards in under 90 seconds.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4206240"/>
            <a:ext cx="54864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" y="42245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SOD Conflict Engine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" y="444398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3666A"/>
                </a:solidFill>
                <a:latin typeface="Calibri"/>
              </a:rPr>
              <a:t>Automatically cross-references creator IDs across PO, GRN, Invoice, and Payment to surface Segregation of Duty violations that SAP's authorisation matrix alone cannot detect.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4800600"/>
            <a:ext cx="54864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48188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P2P Lifecycle Tracker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" y="503834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3666A"/>
                </a:solidFill>
                <a:latin typeface="Calibri"/>
              </a:rPr>
              <a:t>End-to-end funnel: 132 PRs → 163 POs → 117 GRNs → 106 Invoices → 82 Payments — with stage health, bottleneck detection, and process variant distribution.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" y="5394960"/>
            <a:ext cx="54864" cy="5029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54132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Ask IntelliSource (AI)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7472" y="5632704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3666A"/>
                </a:solidFill>
                <a:latin typeface="Calibri"/>
              </a:rPr>
              <a:t>Natural language query interface over all uploaded data — no SQL, no analyst required for ad-hoc questions.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Application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Full Module Map — Dashboards, Operations &amp; Admin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143000"/>
            <a:ext cx="393192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188720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DASHBOARDS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50876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508760"/>
            <a:ext cx="45720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57276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Procurement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PO lifecycle · Maverick spend · Cycle time · Deletion alerts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228600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2286000"/>
            <a:ext cx="45720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35000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Financial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26060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Payments · 3-Way match · Duplicate invoices · AP aging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306324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2880" y="3063240"/>
            <a:ext cx="45720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12724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33832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SOD conflicts · High-value POs · Spend risk panel · CAPEX/OPEX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384048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3840480"/>
            <a:ext cx="45720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390448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Vendor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" y="416052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Compliance · Lead time · Top vendors · MSME tracking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" y="461772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" y="4617720"/>
            <a:ext cx="45720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68172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Utilization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" y="4937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CAPEX/OPEX split · Monthly trend · Department breakdown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539496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5394960"/>
            <a:ext cx="45720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" y="545896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Profit Centers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57150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39 active profit centres · Budget vs actual · Plant-wise drill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0248" y="1143000"/>
            <a:ext cx="3931920" cy="347472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9976" y="1188720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70248" y="150876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70248" y="1508760"/>
            <a:ext cx="45720" cy="73152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79976" y="157276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Ask IntelliSource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9976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AI natural language query on all uploaded SAP data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0248" y="228600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70248" y="2286000"/>
            <a:ext cx="45720" cy="73152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79976" y="235000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P2P Lifecycle Tracker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79976" y="26060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7-stage funnel · Stage health · Process variant analysis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70248" y="306324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063240"/>
            <a:ext cx="45720" cy="73152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9976" y="312724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Vendor Repository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79976" y="33832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13 vendors · Searchable catalog · Category filter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70248" y="384048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70248" y="3840480"/>
            <a:ext cx="45720" cy="73152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79976" y="390448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Log Action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79976" y="416052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Manual procurement action logging with audit trail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70248" y="461772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70248" y="4617720"/>
            <a:ext cx="45720" cy="73152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79976" y="468172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Data Upload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79976" y="4937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CSV/Excel from SAP · Auto-detected dataset type · Max 50 MB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70248" y="539496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70248" y="5394960"/>
            <a:ext cx="45720" cy="73152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9976" y="545896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Activity History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9976" y="57150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Complete record of all uploads and report downloads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57616" y="1143000"/>
            <a:ext cx="3931920" cy="347472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67344" y="1188720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ADMIN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57616" y="150876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357616" y="1508760"/>
            <a:ext cx="45720" cy="73152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67344" y="157276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User Management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67344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Role-based access · Procurement Manager · Admin roles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57616" y="228600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357616" y="2286000"/>
            <a:ext cx="45720" cy="73152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35000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Audit Trail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67344" y="260604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System-level event log for compliance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57616" y="3063240"/>
            <a:ext cx="3931920" cy="7315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357616" y="3063240"/>
            <a:ext cx="45720" cy="73152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67344" y="3127248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Calibri"/>
              </a:rPr>
              <a:t>Settings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67344" y="338328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Period configuration · Company code · Alert thresholds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82880" y="5989320"/>
            <a:ext cx="11795760" cy="438912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0040" y="60350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ALERT CENTER  —  Live alert banner across all pages: 4 Critical + 3 Warning alerts including duplicate invoices, blocked vendors, payment-before-GRN, and high-risk SOD violations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Procurement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PO Lifecycle · Maverick Spend · Cycle Time · Contract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0.51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132320" cy="5120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98079" y="1115568"/>
            <a:ext cx="4526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KEY PERFORMANCE INDICATORS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19" y="155448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19" y="1554480"/>
            <a:ext cx="54864" cy="10058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162763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PO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187452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38D"/>
                </a:solidFill>
                <a:latin typeface="Calibri"/>
              </a:rPr>
              <a:t>₹71.13 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228600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Net committed purchase order value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19" y="265176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19" y="2651760"/>
            <a:ext cx="54864" cy="10058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27249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Active POs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97180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5EB8"/>
                </a:solidFill>
                <a:latin typeface="Calibri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8328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Not deleted · open in system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19" y="374904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19" y="3749040"/>
            <a:ext cx="54864" cy="100584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822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High-Value POs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06908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BC204B"/>
                </a:solidFill>
                <a:latin typeface="Calibri"/>
              </a:rPr>
              <a:t>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48056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POs above ₹1 Cr threshold · review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19" y="484632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89519" y="4846320"/>
            <a:ext cx="54864" cy="10058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49194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PO Cycle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516636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A33"/>
                </a:solidFill>
                <a:latin typeface="Calibri"/>
              </a:rPr>
              <a:t>2.7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57784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PR creation → PO document date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598932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19" y="6080760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DASHBOARD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7807" y="638251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PO Monthly Trend chart — ₹ Cr committed per 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7" y="668426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Category Breakdown — CAPEX vs OPEX PO split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7" y="698601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Vendor-wise spend concentration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07807" y="728776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Alert: POs with deletion indicator flagged immediately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Financial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Payments · Invoice Matching · Duplicate Detection · AP Aging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1.22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132320" cy="2468880"/>
          </a:xfrm>
          <a:prstGeom prst="rect">
            <a:avLst/>
          </a:prstGeom>
        </p:spPr>
      </p:pic>
      <p:pic>
        <p:nvPicPr>
          <p:cNvPr id="11" name="Picture 10" descr="Screenshot 2026-07-08 at 2.21.34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3657600"/>
            <a:ext cx="7132320" cy="25786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498079" y="1115568"/>
            <a:ext cx="4526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KEY PERFORMANCE INDICATORS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19" y="155448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554480"/>
            <a:ext cx="54864" cy="10058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162763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Payments YTD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187452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EB8"/>
                </a:solidFill>
                <a:latin typeface="Calibri"/>
              </a:rPr>
              <a:t>₹958.06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228600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Outgoing payments this fiscal year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19" y="265176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19" y="2651760"/>
            <a:ext cx="54864" cy="10058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27249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3-Way Match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97180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00"/>
                </a:solidFill>
                <a:latin typeface="Calibri"/>
              </a:rPr>
              <a:t>84.0%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8328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PO–GRN–Invoice aligned · target ≥90%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19" y="374904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19" y="3749040"/>
            <a:ext cx="54864" cy="10058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3822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Avg Invoice Days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06908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40.5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8056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Invoice posting → payment cleared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19" y="484632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19" y="4846320"/>
            <a:ext cx="54864" cy="100584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49194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Duplicate Invoices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166360"/>
            <a:ext cx="4069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C204B"/>
                </a:solidFill>
                <a:latin typeface="Calibri"/>
              </a:rPr>
              <a:t>See drill-down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577840"/>
            <a:ext cx="4069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Same vendor + amount + date detected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598932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6080760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CHARTS &amp;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7" y="638251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Monthly Payments Trend — ₹ Cr cleared per 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7" y="668426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Payment Timing Distribution — before/after due 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07807" y="698601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Invoice Aging breakdown — overdue AP segmentation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7" y="728776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CAPEX vs OPEX payment classification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Leadership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Board-Level View · SOD Conflicts · Risk Analytics · Strategic Spend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1.57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132320" cy="2514600"/>
          </a:xfrm>
          <a:prstGeom prst="rect">
            <a:avLst/>
          </a:prstGeom>
        </p:spPr>
      </p:pic>
      <p:pic>
        <p:nvPicPr>
          <p:cNvPr id="11" name="Picture 10" descr="Screenshot 2026-07-08 at 2.22.42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3703320"/>
            <a:ext cx="7132320" cy="25328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498079" y="1115568"/>
            <a:ext cx="4526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STRATEGIC KPIs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19" y="155448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554480"/>
            <a:ext cx="54864" cy="10058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162763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Committed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187452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38D"/>
                </a:solidFill>
                <a:latin typeface="Calibri"/>
              </a:rPr>
              <a:t>₹3,936.34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22677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All companies · all departments · this period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19" y="265176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19" y="2651760"/>
            <a:ext cx="54864" cy="100584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27249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SOD Conflicts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97180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C204B"/>
                </a:solidFill>
                <a:latin typeface="Calibri"/>
              </a:rPr>
              <a:t>187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49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4 control points: PO-Release · PO-GRN · GRN-Inv · Inv-Pay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19" y="374904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19" y="3749040"/>
            <a:ext cx="54864" cy="10058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3822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Maverick Spend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06908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00"/>
                </a:solidFill>
                <a:latin typeface="Calibri"/>
              </a:rPr>
              <a:t>19.0%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622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POs without approved purchase requisition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19" y="484632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19" y="4846320"/>
            <a:ext cx="54864" cy="10058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49194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End-to-End Cycle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16636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5EB8"/>
                </a:solidFill>
                <a:latin typeface="Calibri"/>
              </a:rPr>
              <a:t>44.5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55955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Full P2P: PR creation → payment cleared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598932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6080760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RISK PANEL HIGHLIGHTS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7" y="638251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CAPEX: 48.3% · OPEX: 51.7% of ₹3,936 Cr total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7" y="668426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Monthly Spend Trend — peak/trough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07807" y="698601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High-Value Threshold: ₹1 Cr — 85 POs flagged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7" y="728776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SOD popup: document, SOD type, vendor, user, 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SOD Conflict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8229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91DA"/>
                </a:solidFill>
                <a:latin typeface="Calibri"/>
              </a:rPr>
              <a:t>Segregation of Duty violations invisible in SAP — surfaced automatically by IntelliSource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34440"/>
            <a:ext cx="11795760" cy="27432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" y="1371600"/>
            <a:ext cx="2880360" cy="4114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2880360" cy="41148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4173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S7a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417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PO Create vs Release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1874519"/>
            <a:ext cx="2697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Same user who created the PO also approved/released it via change log FRGZU field.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46120"/>
            <a:ext cx="2697480" cy="182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37560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91DA"/>
                </a:solidFill>
                <a:latin typeface="Calibri"/>
              </a:rPr>
              <a:t>Tables joined: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118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91DA"/>
                </a:solidFill>
                <a:latin typeface="Calibri"/>
              </a:rPr>
              <a:t>po_dump  ×  change_log (EINKBELEG · EKKO · FRGZU)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1371600"/>
            <a:ext cx="2880360" cy="4114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4680" y="1371600"/>
            <a:ext cx="2880360" cy="41148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14173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S7b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1417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PO Create vs GRN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874519"/>
            <a:ext cx="2697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Same user created the purchase order and subsequently posted the goods receipt.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246120"/>
            <a:ext cx="2697480" cy="182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337560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91DA"/>
                </a:solidFill>
                <a:latin typeface="Calibri"/>
              </a:rPr>
              <a:t>Tables joined: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6118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91DA"/>
                </a:solidFill>
                <a:latin typeface="Calibri"/>
              </a:rPr>
              <a:t>po_dump  ×  grn_dump  (purchasing_document + item match)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371600"/>
            <a:ext cx="2880360" cy="4114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1371600"/>
            <a:ext cx="2880360" cy="41148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14173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S7c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1417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GRN Post vs Invoice 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874519"/>
            <a:ext cx="2697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Same user who posted the goods receipt also created the corresponding vendor invoice.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246120"/>
            <a:ext cx="2697480" cy="182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3337560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91DA"/>
                </a:solidFill>
                <a:latin typeface="Calibri"/>
              </a:rPr>
              <a:t>Tables joined: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6118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91DA"/>
                </a:solidFill>
                <a:latin typeface="Calibri"/>
              </a:rPr>
              <a:t>grn_dump  ×  po_invoice_dump  (debit_credit_ind = 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98280" y="1371600"/>
            <a:ext cx="2880360" cy="41148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98280" y="1371600"/>
            <a:ext cx="2880360" cy="41148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14173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S7d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1417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Invoice Post vs Payment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874519"/>
            <a:ext cx="2697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Same user who posted the vendor invoice also cleared the outgoing payment — highest risk.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20" y="3246120"/>
            <a:ext cx="2697480" cy="182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20" y="3337560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91DA"/>
                </a:solidFill>
                <a:latin typeface="Calibri"/>
              </a:rPr>
              <a:t>Tables joined: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6118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91DA"/>
                </a:solidFill>
                <a:latin typeface="Calibri"/>
              </a:rPr>
              <a:t>invoice_dump  ×  payment_dump  (vendor + company_code + cleared_invoice)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5577840"/>
            <a:ext cx="11795760" cy="77724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650992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187 SOD Conflicts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571500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Detected across all 4 control points on first data load  ·  Popup shows: Document · SOD Type · Vendor · Conflicting User · Date  ·  Export to Excel for audit team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Vendor Performance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Compliance · Lead Time · Spend Concentration · Health Breakdown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4.0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132320" cy="2514600"/>
          </a:xfrm>
          <a:prstGeom prst="rect">
            <a:avLst/>
          </a:prstGeom>
        </p:spPr>
      </p:pic>
      <p:pic>
        <p:nvPicPr>
          <p:cNvPr id="11" name="Picture 10" descr="Screenshot 2026-07-08 at 2.24.14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3703320"/>
            <a:ext cx="7132320" cy="25328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498079" y="1115568"/>
            <a:ext cx="4526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VENDOR KPIs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19" y="155448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554480"/>
            <a:ext cx="54864" cy="100584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162763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Active Vendor 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187452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99A8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22677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Not deleted · not purchasing-blocked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19" y="265176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19" y="2651760"/>
            <a:ext cx="54864" cy="10058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27249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Vendor Compliance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97180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00"/>
                </a:solidFill>
                <a:latin typeface="Calibri"/>
              </a:rPr>
              <a:t>84.6%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49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Not blocked &amp; not deleted ÷ total · target ≥90%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19" y="374904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19" y="3749040"/>
            <a:ext cx="54864" cy="100584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3822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Blocked Vendor Count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06908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BC204B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622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Central purchasing block or posting block = 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19" y="484632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19" y="4846320"/>
            <a:ext cx="54864" cy="10058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49194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Avg Delivery Delay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16636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5EB8"/>
                </a:solidFill>
                <a:latin typeface="Calibri"/>
              </a:rPr>
              <a:t>5.1 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55955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Late deliveries only (days past expected delivery)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598932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6080760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VENDOR HEALTH BREAKDOWN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07807" y="6400800"/>
            <a:ext cx="164592" cy="219456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75" y="64008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11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56647" y="6400800"/>
            <a:ext cx="164592" cy="219456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57815" y="64008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2 Non-Active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07807" y="6729984"/>
            <a:ext cx="164592" cy="219456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08975" y="67299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1 One-Time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56647" y="6729984"/>
            <a:ext cx="164592" cy="219456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57815" y="67299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10 Domestic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07807" y="7059168"/>
            <a:ext cx="164592" cy="219456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08975" y="7059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2 International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56647" y="7059168"/>
            <a:ext cx="164592" cy="219456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57815" y="7059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2 MSME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CAPEX / OPEX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Capital vs Operational Expenditure — by Category, Department and Monthly Trend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4.43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132320" cy="2514600"/>
          </a:xfrm>
          <a:prstGeom prst="rect">
            <a:avLst/>
          </a:prstGeom>
        </p:spPr>
      </p:pic>
      <p:pic>
        <p:nvPicPr>
          <p:cNvPr id="11" name="Picture 10" descr="Screenshot 2026-07-08 at 2.24.54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3703320"/>
            <a:ext cx="7132320" cy="25328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498079" y="1115568"/>
            <a:ext cx="4526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CAPEX / OPEX KPIs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19" y="155448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19" y="1554480"/>
            <a:ext cx="54864" cy="10058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162763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CAPEX Spend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187452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₹1,899.80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22677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Capital: hardware · electrical · assets  (48.3%)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19" y="265176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19" y="2651760"/>
            <a:ext cx="54864" cy="100584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272491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OPEX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297180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99A8"/>
                </a:solidFill>
                <a:latin typeface="Calibri"/>
              </a:rPr>
              <a:t>₹2,036.54 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49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Operational: services · maintenance · logistics  (51.7%)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19" y="374904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19" y="3749040"/>
            <a:ext cx="54864" cy="10058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382219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CAPEX PO Count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06908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EB8"/>
                </a:solidFill>
                <a:latin typeface="Calibri"/>
              </a:rPr>
              <a:t>57 POs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44622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Distinct CAPEX POs this fiscal year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19" y="4846320"/>
            <a:ext cx="43434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19" y="4846320"/>
            <a:ext cx="54864" cy="100584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491947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OPEX PO 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166360"/>
            <a:ext cx="4069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91DA"/>
                </a:solidFill>
                <a:latin typeface="Calibri"/>
              </a:rPr>
              <a:t>71 POs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559552"/>
            <a:ext cx="4069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Distinct OPEX POs this fiscal year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598932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6080760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ADDITIONAL 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7" y="638251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Avg CAPEX PO Value: ₹27.14 Cr  |  OPEX: ₹21.90 Cr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7807" y="666597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CAPEX Pending (undelivered): ₹1,282.37 Cr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07807" y="69494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OPEX Pending (undelivered): ₹1,580.89 Cr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07807" y="723290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OPEX by Department: Consulting 82.6% dominant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7807" y="751636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Vendor GRN Fill Rate: Wipro, L&amp;T, Reliance ~100%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07807" y="779983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Delivery Utilisation: 97.4%  |  Delivery Complete: 36.8%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Profit Center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39 Active Profit Centers · CAPEX/OPEX Classification · Budget vs Actual Tracking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5.30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498079" cy="5120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63840" y="1115568"/>
            <a:ext cx="416052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CENTER KPIs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1554480"/>
            <a:ext cx="39776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80" y="1554480"/>
            <a:ext cx="54864" cy="100584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2763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Active Profit Centers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87452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F7326"/>
                </a:solidFill>
                <a:latin typeface="Calibri"/>
              </a:rPr>
              <a:t>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26771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Across all departments and plants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80" y="2651760"/>
            <a:ext cx="39776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80" y="2651760"/>
            <a:ext cx="54864" cy="10058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72491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CAPEX Spend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97180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338D"/>
                </a:solidFill>
                <a:latin typeface="Calibri"/>
              </a:rPr>
              <a:t>₹1,941.4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336499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Actual CAPEX across all profit centres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80" y="3749040"/>
            <a:ext cx="39776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80" y="3749040"/>
            <a:ext cx="54864" cy="100584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382219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OPEX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06908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99A8"/>
                </a:solidFill>
                <a:latin typeface="Calibri"/>
              </a:rPr>
              <a:t>₹2,020.6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46227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Actual OPEX across all profit centres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4846320"/>
            <a:ext cx="397764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55280" y="4846320"/>
            <a:ext cx="54864" cy="10058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491947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Total Portfolio Spend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5166360"/>
            <a:ext cx="3749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5EB8"/>
                </a:solidFill>
                <a:latin typeface="Calibri"/>
              </a:rPr>
              <a:t>₹3,962.0 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5559552"/>
            <a:ext cx="3749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3666A"/>
                </a:solidFill>
                <a:latin typeface="Calibri"/>
              </a:rPr>
              <a:t>Combined CAPEX + OPEX spend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598932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0" y="6080760"/>
            <a:ext cx="3977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TABLE COLUMNS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638251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PC Code · Name · Department · Plant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665683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Material Group · CAPEX/OPEX Flag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693115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Budget CAPEX (Cr) · Budget OPEX (Cr)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720547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Actual CAPEX (Cr) · Actual OPEX (Cr)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747979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338D"/>
                </a:solidFill>
                <a:latin typeface="Calibri"/>
              </a:rPr>
              <a:t>▸  Edit · Delete actions per profit center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P2P Lifecycle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End-to-End Procure-to-Pay Flow · Stage Health · Bottlenecks · Process Variants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pic>
        <p:nvPicPr>
          <p:cNvPr id="10" name="Picture 9" descr="Screenshot 2026-07-08 at 2.26.10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15568"/>
            <a:ext cx="7132320" cy="5120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98079" y="1115568"/>
            <a:ext cx="4526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P2P FUNNEL (Q2 FY24)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19" y="1554480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19" y="1554480"/>
            <a:ext cx="201168" cy="54864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19" y="166420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7" y="1609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PR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7" y="185623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132 cases · 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19" y="2157984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19" y="2157984"/>
            <a:ext cx="201168" cy="5486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19" y="226771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36407" y="22128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PR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7" y="245973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132 cases ·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19" y="2761488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19" y="2761488"/>
            <a:ext cx="201168" cy="54864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19" y="2871216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407" y="28163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PO 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7" y="30632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163 cases · 100%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19" y="3364992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89519" y="3364992"/>
            <a:ext cx="201168" cy="5486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19" y="3474720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6407" y="341985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PO Approved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6407" y="36667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158 cases · 97%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19" y="3968496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9519" y="3968496"/>
            <a:ext cx="201168" cy="5486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4078224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36407" y="4023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GRN Posted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36407" y="42702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117 cases · 72%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19" y="4572000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89519" y="4572000"/>
            <a:ext cx="201168" cy="5486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19" y="46817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6407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Invoice Posted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6407" y="48737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106 cases · 91%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89519" y="5175504"/>
            <a:ext cx="43434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19" y="5175504"/>
            <a:ext cx="201168" cy="548640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19" y="5285232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36407" y="52303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Payment Made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36407" y="54772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82 cases · 77%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5824728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19" y="5888736"/>
            <a:ext cx="4343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38D"/>
                </a:solidFill>
                <a:latin typeface="Calibri"/>
              </a:rPr>
              <a:t>SUMMARY METRICS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7807" y="619048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Total Cases: 163  |  Avg Cycle Time: 44.5 days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7807" y="648309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Maverick POs: 31  (flagged for review)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07807" y="677570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GRN Returns: 3  |  Credit Memos: 0  |  Payments: 82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07807" y="706831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338D"/>
                </a:solidFill>
                <a:latin typeface="Calibri"/>
              </a:rPr>
              <a:t>▸  PR→PO: 25.9d  |  PO→GRN: 33.9d  |  GRN→Invoice: 8.0d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Operations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Vendor Repository · Data Upload · Activity History · Ask IntelliSource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117043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Calibri"/>
              </a:rPr>
              <a:t>Vendor Repository</a:t>
            </a:r>
          </a:p>
        </p:txBody>
      </p:sp>
      <p:pic>
        <p:nvPicPr>
          <p:cNvPr id="11" name="Picture 10" descr="Screenshot 2026-07-08 at 2.26.31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08760"/>
            <a:ext cx="576072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117043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Calibri"/>
              </a:rPr>
              <a:t>Data Upload</a:t>
            </a:r>
          </a:p>
        </p:txBody>
      </p:sp>
      <p:pic>
        <p:nvPicPr>
          <p:cNvPr id="13" name="Picture 12" descr="Screenshot 2026-07-08 at 2.26.49 P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08760"/>
            <a:ext cx="5760720" cy="2286000"/>
          </a:xfrm>
          <a:prstGeom prst="rect">
            <a:avLst/>
          </a:prstGeom>
        </p:spPr>
      </p:pic>
      <p:pic>
        <p:nvPicPr>
          <p:cNvPr id="14" name="Picture 13" descr="Screenshot 2026-07-08 at 2.26.58 P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931920"/>
            <a:ext cx="2743200" cy="1828800"/>
          </a:xfrm>
          <a:prstGeom prst="rect">
            <a:avLst/>
          </a:prstGeom>
        </p:spPr>
      </p:pic>
      <p:pic>
        <p:nvPicPr>
          <p:cNvPr id="15" name="Picture 14" descr="Screenshot 2026-07-08 at 2.27.24 P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3931920"/>
            <a:ext cx="2743200" cy="1828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035040" y="3931920"/>
            <a:ext cx="598932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3931920"/>
            <a:ext cx="5989320" cy="3200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3968496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MODULE CAPABILITIES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31596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338D"/>
                </a:solidFill>
                <a:latin typeface="Calibri"/>
              </a:rPr>
              <a:t>Vendor Repository: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315968"/>
            <a:ext cx="4160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13 vendors · searchable catalog · category filter (IT/Consulting/Cloud) · grid &amp; list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7200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338D"/>
                </a:solidFill>
                <a:latin typeface="Calibri"/>
              </a:rPr>
              <a:t>Data Upload: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572000"/>
            <a:ext cx="4160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CSV/xlsx/xls up to 50 MB · 6 dataset types auto-detected from column headers · real-time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82803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338D"/>
                </a:solidFill>
                <a:latin typeface="Calibri"/>
              </a:rPr>
              <a:t>Activity History: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828032"/>
            <a:ext cx="4160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Record of all uploads and report downloads · Total Events · Success/Fail tracking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508406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338D"/>
                </a:solidFill>
                <a:latin typeface="Calibri"/>
              </a:rPr>
              <a:t>User Management: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5084064"/>
            <a:ext cx="4160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Role-based access · Admin + Procurement Manager · Add/Edit users · Created date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44768" y="53400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338D"/>
                </a:solidFill>
                <a:latin typeface="Calibri"/>
              </a:rPr>
              <a:t>Ask IntelliSource: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340096"/>
            <a:ext cx="4160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AI natural language query interface · ad-hoc questions without SQL or analyst involvement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6A"/>
                </a:solidFill>
                <a:latin typeface="Calibri"/>
              </a:rPr>
              <a:t>Activity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6A"/>
                </a:solidFill>
                <a:latin typeface="Calibri"/>
              </a:rPr>
              <a:t>User Management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SAP Source → IntelliSource Table → Dashboard KPI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1115568"/>
            <a:ext cx="1179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3666A"/>
                </a:solidFill>
                <a:latin typeface="Calibri"/>
              </a:rPr>
              <a:t>IntelliSource ingests CSV exports from SAP standard transactions. ETL layer deduplicates, validates, and classifies rows. All KPIs recompute across all dashboards in &lt; 90 seconds on upload.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645920"/>
            <a:ext cx="2249424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71907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SAP Transaction /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1645920"/>
            <a:ext cx="2340864" cy="38404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7190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IntelliSource 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45920"/>
            <a:ext cx="2980944" cy="384048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7190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What It Captures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645920"/>
            <a:ext cx="4261104" cy="384048"/>
          </a:xfrm>
          <a:prstGeom prst="rect">
            <a:avLst/>
          </a:prstGeom>
          <a:solidFill>
            <a:srgbClr val="009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7190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Drives These KPIs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2048256"/>
            <a:ext cx="224942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ME5A / EBAN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2048256"/>
            <a:ext cx="234086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pr_dump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2048256"/>
            <a:ext cx="298094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Purchase Requisitions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048256"/>
            <a:ext cx="4261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0" y="21396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Procurement · Leadership · P2P Tracker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2523744"/>
            <a:ext cx="224942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6151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ME2M / EKKO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0" y="2523744"/>
            <a:ext cx="234086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261518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po_dump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2523744"/>
            <a:ext cx="298094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0" y="261518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Purchase Orders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2523744"/>
            <a:ext cx="426110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0" y="26151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All 5 Dashboards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999232"/>
            <a:ext cx="224942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0906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MB51 / MKPF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0" y="2999232"/>
            <a:ext cx="234086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309067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grn_dump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2999232"/>
            <a:ext cx="298094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309067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Goods Receipts (GRN)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2999232"/>
            <a:ext cx="4261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0" y="30906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Financial · Leadership · Vendor · SOD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3474720"/>
            <a:ext cx="224942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3566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MIR6 / RBKP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0" y="3474720"/>
            <a:ext cx="234086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60320" y="3566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po_invoice_dump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3474720"/>
            <a:ext cx="298094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0" y="3566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PO Invoice Linkage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63840" y="3474720"/>
            <a:ext cx="426110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SOD S7c · P2P Tracker · Duplicate Check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3950208"/>
            <a:ext cx="224942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40416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FBL1N / BKPF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68880" y="3950208"/>
            <a:ext cx="234086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60320" y="40416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invoice_dump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3950208"/>
            <a:ext cx="298094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37760" y="404164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AP Invoices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3950208"/>
            <a:ext cx="4261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0" y="40416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Financial · Leadership · SOD S7d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425696"/>
            <a:ext cx="224942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51713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F110 / BKPF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68880" y="4425696"/>
            <a:ext cx="234086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60320" y="451713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payment_dump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4425696"/>
            <a:ext cx="298094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37760" y="451713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Outgoing Payments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63840" y="4425696"/>
            <a:ext cx="426110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0" y="451713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Financial · Leadership · P2P · SOD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4901184"/>
            <a:ext cx="224942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" y="49926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XK03 / LFA1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68880" y="4901184"/>
            <a:ext cx="234086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560320" y="499262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vendor_master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4901184"/>
            <a:ext cx="298094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937760" y="49926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Vendor Master Data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63840" y="4901184"/>
            <a:ext cx="4261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55280" y="499262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Vendor Performance · Compliance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5376672"/>
            <a:ext cx="224942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4320" y="54681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AUT10 / CDHDR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68880" y="5376672"/>
            <a:ext cx="234086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60320" y="54681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change_log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5376672"/>
            <a:ext cx="298094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37760" y="54681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PO Change History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863840" y="5376672"/>
            <a:ext cx="4261104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955280" y="54681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SOD S7a: PO Create vs Release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852160"/>
            <a:ext cx="224942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4320" y="59436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ME2L / EKET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68880" y="5852160"/>
            <a:ext cx="234086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560320" y="5943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5EB8"/>
                </a:solidFill>
                <a:latin typeface="Calibri"/>
              </a:rPr>
              <a:t>po_delivery_dump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46320" y="5852160"/>
            <a:ext cx="298094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7760" y="59436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Delivery Schedules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863840" y="5852160"/>
            <a:ext cx="4261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955280" y="5943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Calibri"/>
              </a:rPr>
              <a:t>Vendor Lead Time · GRN Fill Rate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Alert Center &amp; Risk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Live Alerts Across All Dashboards · Proactive Governance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115568"/>
            <a:ext cx="576072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ACTIVE ALERTS  —  7 Total (4 Critical · 3 Warning)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72768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572768"/>
            <a:ext cx="45720" cy="65836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1627632"/>
            <a:ext cx="914400" cy="256032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64592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162763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BC204B"/>
                </a:solidFill>
                <a:latin typeface="Calibri"/>
              </a:rPr>
              <a:t>Duplicate Invoice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89280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Same vendor + amount + date detected. Payment not yet cleared. Requires Finance review before release.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286000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286000"/>
            <a:ext cx="45720" cy="65836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340864"/>
            <a:ext cx="914400" cy="256032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35915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234086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BC204B"/>
                </a:solidFill>
                <a:latin typeface="Calibri"/>
              </a:rPr>
              <a:t>Blocked Vendor — Active 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606040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2 vendors with active purchasing blocks still have open purchase orders in system.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2999232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2999232"/>
            <a:ext cx="45720" cy="65836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054096"/>
            <a:ext cx="914400" cy="256032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07238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05409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BC204B"/>
                </a:solidFill>
                <a:latin typeface="Calibri"/>
              </a:rPr>
              <a:t>Payment Before GRN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319272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Outgoing payment cleared before goods receipt posted — 3-way match breakdown.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712464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3712464"/>
            <a:ext cx="45720" cy="65836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3767328"/>
            <a:ext cx="914400" cy="256032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37856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767328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BC204B"/>
                </a:solidFill>
                <a:latin typeface="Calibri"/>
              </a:rPr>
              <a:t>High SOD Conflict 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032504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187 SOD violations across 4 control points — internal audit notification recommended.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425696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600" y="4425696"/>
            <a:ext cx="45720" cy="65836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480560"/>
            <a:ext cx="914400" cy="25603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49884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WARNING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448056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00"/>
                </a:solidFill>
                <a:latin typeface="Calibri"/>
              </a:rPr>
              <a:t>Maverick Spend Above 15% Threshold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4745736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19% of POs created without approved purchase requisition — procurement policy breach.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5138928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8600" y="5138928"/>
            <a:ext cx="45720" cy="65836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0040" y="5193792"/>
            <a:ext cx="914400" cy="25603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5212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WARNING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" y="519379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00"/>
                </a:solidFill>
                <a:latin typeface="Calibri"/>
              </a:rPr>
              <a:t>3-Way Match Below 90%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25880" y="5458968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Current match rate 84% — OPEX POs with mismatched GRN quantities flagged.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5852160"/>
            <a:ext cx="56692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8600" y="5852160"/>
            <a:ext cx="45720" cy="65836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5907024"/>
            <a:ext cx="914400" cy="256032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5925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WARNING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25880" y="5907024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00"/>
                </a:solidFill>
                <a:latin typeface="Calibri"/>
              </a:rPr>
              <a:t>Vendor Compliance Below 90%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25880" y="6172200"/>
            <a:ext cx="4480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Calibri"/>
              </a:rPr>
              <a:t>84.6% compliance rate — 2 blocked vendors and 1 one-time vendor require review.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115568"/>
            <a:ext cx="5852160" cy="512064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2880" y="1143000"/>
            <a:ext cx="11795760" cy="34747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11887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 SUMMARY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1572768"/>
            <a:ext cx="5669280" cy="74980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63640" y="1572768"/>
            <a:ext cx="45720" cy="74980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16276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91DA"/>
                </a:solidFill>
                <a:latin typeface="Calibri"/>
              </a:rPr>
              <a:t>SOD Conflicts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32520" y="162763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C204B"/>
                </a:solidFill>
                <a:latin typeface="Calibri"/>
              </a:rPr>
              <a:t>187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202996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Across PO-Release, PO-GRN, GRN-Invoice, Invoice-Payment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2377440"/>
            <a:ext cx="5669280" cy="74980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2377440"/>
            <a:ext cx="45720" cy="74980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0" y="24323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91DA"/>
                </a:solidFill>
                <a:latin typeface="Calibri"/>
              </a:rPr>
              <a:t>Maverick Rate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32520" y="2432304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6B00"/>
                </a:solidFill>
                <a:latin typeface="Calibri"/>
              </a:rPr>
              <a:t>19.0%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83464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POs without approved PR — policy violation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3182112"/>
            <a:ext cx="5669280" cy="74980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63640" y="3182112"/>
            <a:ext cx="45720" cy="74980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0" y="323697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91DA"/>
                </a:solidFill>
                <a:latin typeface="Calibri"/>
              </a:rPr>
              <a:t>3-Way Match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32520" y="3236976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6B00"/>
                </a:solidFill>
                <a:latin typeface="Calibri"/>
              </a:rPr>
              <a:t>84.0%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0" y="3639312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Below 90% SLA threshold — invoice risk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63640" y="3986784"/>
            <a:ext cx="5669280" cy="74980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63640" y="3986784"/>
            <a:ext cx="45720" cy="74980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0" y="40416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91DA"/>
                </a:solidFill>
                <a:latin typeface="Calibri"/>
              </a:rPr>
              <a:t>Blocked Vendors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32520" y="404164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C204B"/>
                </a:solidFill>
                <a:latin typeface="Calibri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0" y="444398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Active purchasing blocks in vendor master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4791456"/>
            <a:ext cx="5669280" cy="74980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63640" y="4791456"/>
            <a:ext cx="45720" cy="749808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91DA"/>
                </a:solidFill>
                <a:latin typeface="Calibri"/>
              </a:rPr>
              <a:t>High-Value POs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32520" y="48463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8F7326"/>
                </a:solidFill>
                <a:latin typeface="Calibri"/>
              </a:rPr>
              <a:t>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0800" y="524865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Above ₹1 Cr threshold — requires dual approval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5596128"/>
            <a:ext cx="5669280" cy="74980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63640" y="5596128"/>
            <a:ext cx="45720" cy="74980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0" y="56509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91DA"/>
                </a:solidFill>
                <a:latin typeface="Calibri"/>
              </a:rPr>
              <a:t>End-to-End Cycle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32520" y="56509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91DA"/>
                </a:solidFill>
                <a:latin typeface="Calibri"/>
              </a:rPr>
              <a:t>44.5 days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0" y="605332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3666A"/>
                </a:solidFill>
                <a:latin typeface="Calibri"/>
              </a:rPr>
              <a:t>Bottleneck: PO→GRN stage (33.9 days avg)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105156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IntelliSource vs SAP Native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583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Why IntelliSource — Beyond What SAP Standard Reporting Provides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143000"/>
            <a:ext cx="5760720" cy="5074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143000"/>
            <a:ext cx="5760720" cy="457200"/>
          </a:xfrm>
          <a:prstGeom prst="rect">
            <a:avLst/>
          </a:prstGeom>
          <a:solidFill>
            <a:srgbClr val="636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12161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SAP Standard — What You Do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1737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6–8 transaction codes for complete P2P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20848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Cross-document SOD check = manual VLOOKUP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" y="243230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Maverick spend = ME2M + manual PR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27797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Duplicate invoices = no standard detection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272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CAPEX/OPEX split = export + manual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3474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P2P cycle time = multiple reports + spreadsheet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822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Vendor compliance = offline master data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16966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Alerts = weekly email, batch, next-morning 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51713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SAP data as-is: no deduplication or enrichment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48646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C204B"/>
                </a:solidFill>
                <a:latin typeface="Calibri"/>
              </a:rPr>
              <a:t>✕  Every question = analyst + Excel + 2–3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143000"/>
            <a:ext cx="5760720" cy="50749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143000"/>
            <a:ext cx="5760720" cy="457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12161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IntelliSource — What You Get 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1737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5 role-specific dashboards — one upload, everything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20848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SOD conflicts auto-detected across all 4 control 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43230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Maverick spend flagged from PO data in real-time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77977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Duplicate invoice detection before payment clears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31272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CAPEX/OPEX: auto-classified, live, drill to PO line 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74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P2P cycle: PR → PO → GRN → Invoice → Payment automated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3822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Vendor compliance: 5-block flag check, live per upload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16966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Alert Center: real-time banners across every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51713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ETL validates, deduplicates, enriches on upload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48646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91DA"/>
                </a:solidFill>
                <a:latin typeface="Calibri"/>
              </a:rPr>
              <a:t>✓  Ask IntelliSource: natural language — answer in seconds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1828800"/>
            <a:ext cx="137160" cy="365760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5312" y="3520440"/>
            <a:ext cx="301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8F7326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1967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4DE"/>
                </a:solidFill>
                <a:latin typeface="Calibri"/>
              </a:rPr>
              <a:t>KPMG India  |  IntelliSource — P2P Intelligence &amp; Analytics Platform  |  Q2 FY2024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5196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8F7326"/>
                </a:solidFill>
                <a:latin typeface="Calibri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91DA"/>
                </a:solidFill>
                <a:latin typeface="Calibri"/>
              </a:rPr>
              <a:t>From Demo to Live Deployment — Week-by-Week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80160"/>
            <a:ext cx="11795760" cy="27432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1612880" cy="111556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1371600" cy="1115568"/>
          </a:xfrm>
          <a:prstGeom prst="rect">
            <a:avLst/>
          </a:prstGeom>
          <a:solidFill>
            <a:srgbClr val="BC20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5727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554480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C204B"/>
                </a:solidFill>
                <a:latin typeface="Calibri"/>
              </a:rPr>
              <a:t>Data Readiness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901952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Confirm SAP export access for 5 core transactions: ME2M, MB51, FBL1N, F110, XK03. Identify company codes, fiscal year scope, and data volume.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70048"/>
            <a:ext cx="11612880" cy="111556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670048"/>
            <a:ext cx="1371600" cy="1115568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277977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00"/>
                </a:solidFill>
                <a:latin typeface="Calibri"/>
              </a:rPr>
              <a:t>Pilot Data Upload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10896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Single company code. Upload CSV exports to IntelliSource. Validate all KPI logic against your actual data. Identify any data quality issues in source.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877056"/>
            <a:ext cx="11612880" cy="111556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877056"/>
            <a:ext cx="1371600" cy="1115568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9867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68496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F7326"/>
                </a:solidFill>
                <a:latin typeface="Calibri"/>
              </a:rPr>
              <a:t>Stakeholder Walkthrough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315968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60-minute demo with Procurement + Finance + Internal Audit. Walk through dashboards, SOD conflict popup, P2P tracker, and alert center with real data.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84064"/>
            <a:ext cx="11612880" cy="1115568"/>
          </a:xfrm>
          <a:prstGeom prst="rect">
            <a:avLst/>
          </a:prstGeom>
          <a:solidFill>
            <a:srgbClr val="051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84064"/>
            <a:ext cx="1371600" cy="1115568"/>
          </a:xfrm>
          <a:prstGeom prst="rect">
            <a:avLst/>
          </a:prstGeom>
          <a:solidFill>
            <a:srgbClr val="007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5193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Week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175504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33"/>
                </a:solidFill>
                <a:latin typeface="Calibri"/>
              </a:rPr>
              <a:t>Go / No-Go 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522976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8FF"/>
                </a:solidFill>
                <a:latin typeface="Calibri"/>
              </a:rPr>
              <a:t>Full deployment across remaining company codes, or phased rollout plan. Define user roles, access levels, and reporting cadence.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989320"/>
            <a:ext cx="11612880" cy="457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0350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Estimated Impact:  ₹50–250 Lakhs duplicate recovery (Y1)  ·  ₹20–80 Lakhs per SOD finding avoided  ·  800+ analyst hours saved/year  ·  3–5 day go-live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26880" y="0"/>
            <a:ext cx="2862072" cy="25603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32720" y="0"/>
            <a:ext cx="1856231" cy="13716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200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KPMG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91DA"/>
                </a:solidFill>
                <a:latin typeface="Calibri"/>
              </a:rPr>
              <a:t>India  |  Procurement Advisory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645920"/>
            <a:ext cx="11795760" cy="27432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91DA"/>
                </a:solidFill>
                <a:latin typeface="Calibri"/>
              </a:rPr>
              <a:t>IntelliSource — Procurement Intelligence, Powered by KPMG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3337560"/>
            <a:ext cx="11795760" cy="2743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52044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D0FF"/>
                </a:solidFill>
                <a:latin typeface="Calibri"/>
              </a:rPr>
              <a:t>Platform:   IntelliSource — SAP P2P Intelligence &amp;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94106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D0FF"/>
                </a:solidFill>
                <a:latin typeface="Calibri"/>
              </a:rPr>
              <a:t>Period:      Q2 FY2024  |  All Companies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361688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D0FF"/>
                </a:solidFill>
                <a:latin typeface="Calibri"/>
              </a:rPr>
              <a:t>Data:        ₹3,936 Cr spend · 187 SOD conflicts · 44.5d P2P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78231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D0FF"/>
                </a:solidFill>
                <a:latin typeface="Calibri"/>
              </a:rPr>
              <a:t>Contact:    getdev24@gmail.com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520293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D0FF"/>
                </a:solidFill>
                <a:latin typeface="Calibri"/>
              </a:rPr>
              <a:t>Status:      Pilot Available — 3-5 day deployment per company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373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KPMG India  |  Advisory  |  Procurement Excellence  | 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3733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8F7326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