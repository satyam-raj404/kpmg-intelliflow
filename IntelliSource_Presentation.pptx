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 2026-07-08 at 2.21.57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91440"/>
            <a:ext cx="3319272" cy="6675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4864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120640" cy="36576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920240"/>
            <a:ext cx="82296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  <a:latin typeface="Calibri"/>
              </a:rPr>
              <a:t>IntelliSource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7180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0091DA"/>
                </a:solidFill>
                <a:latin typeface="Calibri"/>
              </a:rPr>
              <a:t>Procurement Intelligence Platform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66160"/>
            <a:ext cx="5120640" cy="36576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" y="3749039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   Five role-specific dashboards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4169663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   Live data from your procurement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4590288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   Detects risks invisible to standard reporting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5010912"/>
            <a:ext cx="8046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AAC8FF"/>
                </a:solidFill>
                <a:latin typeface="Calibri"/>
              </a:rPr>
              <a:t>   End-to-end procure-to-pay visibility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4320" y="6455664"/>
            <a:ext cx="8229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Application Demo  |  Q2 FY2024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0.51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Procurement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Tracks every purchase order from creation through delivery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Flags orders raised without an approved requisition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Highlights high-value orders needing additional approval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Monitors average time from request to order placement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4690872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4617720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Alerts on orders marked for deletion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1.22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Financial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Monitors all outgoing vendor payments in real time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Tracks whether invoices match goods received and the order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Detects potential duplicate invoices before payment clears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Shows average time from invoice posting to payment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4690872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4617720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Segments spend as capital or operational automatically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1.3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Financial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1307592"/>
            <a:ext cx="2679192" cy="23774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1325880"/>
            <a:ext cx="2679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  continued — Payment Trends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174650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167335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Monthly payment volume trend across the fiscal period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255117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47802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Breaks down payments by timing: early, on time, and late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35584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28269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Identifies periods of concentrated or irregular payment activity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1.57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Leadership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End-to-end view of the entire procurement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Detects users who performed conflicting duties across documents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Total committed spend across all departments and entities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Live risk indicators for executive and board-level review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4690872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4617720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Maverick spend rate visible at a glance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2.42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Leadership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1307592"/>
            <a:ext cx="2679192" cy="23774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1325880"/>
            <a:ext cx="2679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  continued — Risk Analytics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174650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167335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Shows how budget splits between capital and operational spend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255117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47802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Monthly spend trend for strategic planning and forecasting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35584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28269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Risk indicators updated instantly on every data upload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4.0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Vendor
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Identifies which vendors are active, blocked, or restricted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Tracks compliance rating across all vendor relationships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Monitors delivery lead time and delay patterns per vendor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Flags vendors with purchasing or payment blocks immediately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4690872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4617720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Surfaces changes to vendor master data this period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4.14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Vendor
Performance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9326880" y="1307592"/>
            <a:ext cx="2679192" cy="237744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0" y="1325880"/>
            <a:ext cx="2679192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  continued — Spend &amp; Segmentation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174650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167335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Segments vendors as domestic, international, and one-time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255117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247802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Shows which vendors account for the highest share of spend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35584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28269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Delivery fill rate comparison across key suppliers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4.43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CAPEX / OPEX
Dashboard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Automatically classifies each order as capital or operational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Monthly trend shows how spend shifts between categories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Tracks pending deliveries for both capital and operational orders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Drill down by department to see where budget is concentrated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6.1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P2P Lifecycle
Tracker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Visualises every stage from purchase request to final payment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Colour-coded health: on target, slow, or bottlenecked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Shows how many transactions complete each 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Identifies where documents are delayed in the pipeline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45168" y="4690872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91472" y="4617720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Tracks maverick orders and returns at each stage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438912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008" cy="438912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640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91DA"/>
                </a:solidFill>
                <a:latin typeface="Calibri"/>
              </a:rPr>
              <a:t>KPMG  IntelliSource</a:t>
            </a:r>
          </a:p>
        </p:txBody>
      </p:sp>
      <p:pic>
        <p:nvPicPr>
          <p:cNvPr id="5" name="Picture 4" descr="Screenshot 2026-07-08 at 2.26.49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38912"/>
            <a:ext cx="9144000" cy="64190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9144000" y="438912"/>
            <a:ext cx="3044952" cy="6419088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0" y="438912"/>
            <a:ext cx="45720" cy="6419088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0" y="640080"/>
            <a:ext cx="2816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Data Upload</a:t>
            </a:r>
          </a:p>
        </p:txBody>
      </p:sp>
      <p:sp>
        <p:nvSpPr>
          <p:cNvPr id="9" name="Rectangle 8"/>
          <p:cNvSpPr/>
          <p:nvPr/>
        </p:nvSpPr>
        <p:spPr>
          <a:xfrm>
            <a:off x="9345168" y="1472184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91472" y="1399032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Upload exported data files to refresh all dashboards at once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45168" y="2276856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91472" y="2203704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System auto-detects the dataset type from column headers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45168" y="3081528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91472" y="3008376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All metrics across every dashboard update within seconds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45168" y="3886200"/>
            <a:ext cx="54864" cy="54864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91472" y="3813048"/>
            <a:ext cx="25877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BBD4FF"/>
                </a:solidFill>
                <a:latin typeface="Calibri"/>
              </a:rPr>
              <a:t>Supports multiple file formats including Excel and CSV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18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0033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creenshot 2026-07-08 at 2.26.10 P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91440"/>
            <a:ext cx="3319272" cy="6675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548640"/>
            <a:ext cx="4572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KPMG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91DA"/>
                </a:solidFill>
                <a:latin typeface="Calibri"/>
              </a:rPr>
              <a:t>India  |  Procurement Advisory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783080"/>
            <a:ext cx="5120640" cy="36576"/>
          </a:xfrm>
          <a:prstGeom prst="rect">
            <a:avLst/>
          </a:prstGeom>
          <a:solidFill>
            <a:srgbClr val="8F73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9202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926080"/>
            <a:ext cx="82296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0091DA"/>
                </a:solidFill>
                <a:latin typeface="Calibri"/>
              </a:rPr>
              <a:t>IntelliSource  —  Procurement Intelligence, Powered by KPMG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520440"/>
            <a:ext cx="5120640" cy="36576"/>
          </a:xfrm>
          <a:prstGeom prst="rect">
            <a:avLst/>
          </a:prstGeom>
          <a:solidFill>
            <a:srgbClr val="0091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3703320"/>
            <a:ext cx="914400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377647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53312" y="3776472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Data readiness 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197096"/>
            <a:ext cx="914400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4320" y="4270248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53312" y="4270248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Pilot upload — single business unit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690872"/>
            <a:ext cx="914400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74320" y="4764024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53312" y="4764024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Stakeholder walkthrough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184648"/>
            <a:ext cx="914400" cy="36576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4320" y="525780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53312" y="5257800"/>
            <a:ext cx="7132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BD4FF"/>
                </a:solidFill>
                <a:latin typeface="Calibri"/>
              </a:rPr>
              <a:t>Go / No-Go — full rollout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" y="57607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8F7326"/>
                </a:solidFill>
                <a:latin typeface="Calibri"/>
              </a:rPr>
              <a:t>getdev24@gmail.com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05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648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  <a:latin typeface="Calibri"/>
              </a:rPr>
              <a:t>KPMG India  |  Procurement Advisory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