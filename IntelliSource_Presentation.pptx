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0" y="0"/>
            <a:ext cx="3502152" cy="685800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reenshot 2026-07-08 at 2.21.57 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0" y="274320"/>
            <a:ext cx="3291840" cy="6309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4572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KPMG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170432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91DA"/>
                </a:solidFill>
                <a:latin typeface="Calibri"/>
              </a:rPr>
              <a:t>India  |  Procurement Advisory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691640"/>
            <a:ext cx="5029200" cy="36576"/>
          </a:xfrm>
          <a:prstGeom prst="rect">
            <a:avLst/>
          </a:prstGeom>
          <a:solidFill>
            <a:srgbClr val="8F7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874519"/>
            <a:ext cx="8229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  <a:latin typeface="Calibri"/>
              </a:rPr>
              <a:t>IntelliSource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306324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091DA"/>
                </a:solidFill>
                <a:latin typeface="Calibri"/>
              </a:rPr>
              <a:t>SAP Procurement Intelligence Platform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703320"/>
            <a:ext cx="5029200" cy="36576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3886200"/>
            <a:ext cx="8046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D8FF"/>
                </a:solidFill>
                <a:latin typeface="Calibri"/>
              </a:rPr>
              <a:t>₹3,936 Cr  Spend Visibility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4288536"/>
            <a:ext cx="8046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D8FF"/>
                </a:solidFill>
                <a:latin typeface="Calibri"/>
              </a:rPr>
              <a:t>187  SOD Conflicts Detected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4690872"/>
            <a:ext cx="8046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D8FF"/>
                </a:solidFill>
                <a:latin typeface="Calibri"/>
              </a:rPr>
              <a:t>5  Role-Specific Dashboards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5093208"/>
            <a:ext cx="8046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D8FF"/>
                </a:solidFill>
                <a:latin typeface="Calibri"/>
              </a:rPr>
              <a:t>44.5 Days  End-to-End P2P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002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641908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Application Demo  |  Q2 FY2024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1908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8F7326"/>
                </a:solidFill>
                <a:latin typeface="Calibri"/>
              </a:rPr>
              <a:t>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54864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Procurement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20624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91DA"/>
                </a:solidFill>
                <a:latin typeface="Calibri"/>
              </a:rPr>
              <a:t>PO Lifecycle · Maverick Spend · Cycle Time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5624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AC4E8"/>
                </a:solidFill>
                <a:latin typeface="Calibri"/>
              </a:rPr>
              <a:t>Audience: Procurement Manager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556248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F7326"/>
                </a:solidFill>
                <a:latin typeface="Calibri"/>
              </a:rPr>
              <a:t>KPMG  |  IntelliSource  |  CONFIDENTIAL</a:t>
            </a:r>
          </a:p>
        </p:txBody>
      </p:sp>
      <p:pic>
        <p:nvPicPr>
          <p:cNvPr id="10" name="Picture 9" descr="Screenshot 2026-07-08 at 2.20.51 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713232"/>
            <a:ext cx="8823960" cy="57150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9144000" y="713232"/>
            <a:ext cx="2880360" cy="5715000"/>
          </a:xfrm>
          <a:prstGeom prst="rect">
            <a:avLst/>
          </a:prstGeom>
          <a:solidFill>
            <a:srgbClr val="051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08592" y="9144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91DA"/>
                </a:solidFill>
                <a:latin typeface="Calibri"/>
              </a:rPr>
              <a:t>₹71.13 Cr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08592" y="137160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C4E8"/>
                </a:solidFill>
                <a:latin typeface="Calibri"/>
              </a:rPr>
              <a:t>Total PO Value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08592" y="1783080"/>
            <a:ext cx="2551176" cy="18288"/>
          </a:xfrm>
          <a:prstGeom prst="rect">
            <a:avLst/>
          </a:prstGeom>
          <a:solidFill>
            <a:srgbClr val="1A3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08592" y="193852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91DA"/>
                </a:solidFill>
                <a:latin typeface="Calibri"/>
              </a:rPr>
              <a:t>74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08592" y="2395728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C4E8"/>
                </a:solidFill>
                <a:latin typeface="Calibri"/>
              </a:rPr>
              <a:t>Active POs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08592" y="2807208"/>
            <a:ext cx="2551176" cy="18288"/>
          </a:xfrm>
          <a:prstGeom prst="rect">
            <a:avLst/>
          </a:prstGeom>
          <a:solidFill>
            <a:srgbClr val="1A3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08592" y="2962656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BC204B"/>
                </a:solidFill>
                <a:latin typeface="Calibri"/>
              </a:rPr>
              <a:t>85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08592" y="3419856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C4E8"/>
                </a:solidFill>
                <a:latin typeface="Calibri"/>
              </a:rPr>
              <a:t>High-Value POs
(above ₹1 Cr)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308592" y="3831336"/>
            <a:ext cx="2551176" cy="18288"/>
          </a:xfrm>
          <a:prstGeom prst="rect">
            <a:avLst/>
          </a:prstGeom>
          <a:solidFill>
            <a:srgbClr val="1A3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08592" y="3986784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C86E"/>
                </a:solidFill>
                <a:latin typeface="Calibri"/>
              </a:rPr>
              <a:t>2.7 Days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08592" y="4443984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C4E8"/>
                </a:solidFill>
                <a:latin typeface="Calibri"/>
              </a:rPr>
              <a:t>Avg PO Cycle
Time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308592" y="4855464"/>
            <a:ext cx="2551176" cy="18288"/>
          </a:xfrm>
          <a:prstGeom prst="rect">
            <a:avLst/>
          </a:prstGeom>
          <a:solidFill>
            <a:srgbClr val="1A3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08592" y="5010912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8C00"/>
                </a:solidFill>
                <a:latin typeface="Calibri"/>
              </a:rPr>
              <a:t>19%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08592" y="5468112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C4E8"/>
                </a:solidFill>
                <a:latin typeface="Calibri"/>
              </a:rPr>
              <a:t>Maverick
Spend Rate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308592" y="5879592"/>
            <a:ext cx="2551176" cy="18288"/>
          </a:xfrm>
          <a:prstGeom prst="rect">
            <a:avLst/>
          </a:prstGeom>
          <a:solidFill>
            <a:srgbClr val="1A3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54864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Financial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20624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91DA"/>
                </a:solidFill>
                <a:latin typeface="Calibri"/>
              </a:rPr>
              <a:t>Payments · 3-Way Match · Duplicate Detection · Invoice Aging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5624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AC4E8"/>
                </a:solidFill>
                <a:latin typeface="Calibri"/>
              </a:rPr>
              <a:t>Audience: Finance Controller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556248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F7326"/>
                </a:solidFill>
                <a:latin typeface="Calibri"/>
              </a:rPr>
              <a:t>KPMG  |  IntelliSource  |  CONFIDENTIAL</a:t>
            </a:r>
          </a:p>
        </p:txBody>
      </p:sp>
      <p:pic>
        <p:nvPicPr>
          <p:cNvPr id="10" name="Picture 9" descr="Screenshot 2026-07-08 at 2.21.22 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713232"/>
            <a:ext cx="8823960" cy="2743200"/>
          </a:xfrm>
          <a:prstGeom prst="rect">
            <a:avLst/>
          </a:prstGeom>
        </p:spPr>
      </p:pic>
      <p:pic>
        <p:nvPicPr>
          <p:cNvPr id="11" name="Picture 10" descr="Screenshot 2026-07-08 at 2.21.34 P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3520440"/>
            <a:ext cx="8823960" cy="283464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9144000" y="713232"/>
            <a:ext cx="2880360" cy="5641848"/>
          </a:xfrm>
          <a:prstGeom prst="rect">
            <a:avLst/>
          </a:prstGeom>
          <a:solidFill>
            <a:srgbClr val="051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08592" y="9144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91DA"/>
                </a:solidFill>
                <a:latin typeface="Calibri"/>
              </a:rPr>
              <a:t>₹958 Cr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08592" y="137160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C4E8"/>
                </a:solidFill>
                <a:latin typeface="Calibri"/>
              </a:rPr>
              <a:t>Total Payments
YTD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08592" y="1783080"/>
            <a:ext cx="2551176" cy="18288"/>
          </a:xfrm>
          <a:prstGeom prst="rect">
            <a:avLst/>
          </a:prstGeom>
          <a:solidFill>
            <a:srgbClr val="1A3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08592" y="193852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8C00"/>
                </a:solidFill>
                <a:latin typeface="Calibri"/>
              </a:rPr>
              <a:t>84%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08592" y="2395728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C4E8"/>
                </a:solidFill>
                <a:latin typeface="Calibri"/>
              </a:rPr>
              <a:t>3-Way Match
Rate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08592" y="2807208"/>
            <a:ext cx="2551176" cy="18288"/>
          </a:xfrm>
          <a:prstGeom prst="rect">
            <a:avLst/>
          </a:prstGeom>
          <a:solidFill>
            <a:srgbClr val="1A3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08592" y="2962656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91DA"/>
                </a:solidFill>
                <a:latin typeface="Calibri"/>
              </a:rPr>
              <a:t>40.5 Days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08592" y="3419856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C4E8"/>
                </a:solidFill>
                <a:latin typeface="Calibri"/>
              </a:rPr>
              <a:t>Avg Invoice
Payment Days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08592" y="3831336"/>
            <a:ext cx="2551176" cy="18288"/>
          </a:xfrm>
          <a:prstGeom prst="rect">
            <a:avLst/>
          </a:prstGeom>
          <a:solidFill>
            <a:srgbClr val="1A3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08592" y="3986784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BC204B"/>
                </a:solidFill>
                <a:latin typeface="Calibri"/>
              </a:rPr>
              <a:t>Live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08592" y="4443984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C4E8"/>
                </a:solidFill>
                <a:latin typeface="Calibri"/>
              </a:rPr>
              <a:t>Duplicate Invoice
Detection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08592" y="4855464"/>
            <a:ext cx="2551176" cy="18288"/>
          </a:xfrm>
          <a:prstGeom prst="rect">
            <a:avLst/>
          </a:prstGeom>
          <a:solidFill>
            <a:srgbClr val="1A3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BC2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54864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Leadership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20624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91DA"/>
                </a:solidFill>
                <a:latin typeface="Calibri"/>
              </a:rPr>
              <a:t>Board View · SOD Conflicts · Risk Indicators · Strategic Spend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5624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AC4E8"/>
                </a:solidFill>
                <a:latin typeface="Calibri"/>
              </a:rPr>
              <a:t>Audience: CFO · CPO · 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556248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F7326"/>
                </a:solidFill>
                <a:latin typeface="Calibri"/>
              </a:rPr>
              <a:t>KPMG  |  IntelliSource  |  CONFIDENTIAL</a:t>
            </a:r>
          </a:p>
        </p:txBody>
      </p:sp>
      <p:pic>
        <p:nvPicPr>
          <p:cNvPr id="10" name="Picture 9" descr="Screenshot 2026-07-08 at 2.21.57 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713232"/>
            <a:ext cx="8823960" cy="2788920"/>
          </a:xfrm>
          <a:prstGeom prst="rect">
            <a:avLst/>
          </a:prstGeom>
        </p:spPr>
      </p:pic>
      <p:pic>
        <p:nvPicPr>
          <p:cNvPr id="11" name="Picture 10" descr="Screenshot 2026-07-08 at 2.22.42 P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3566160"/>
            <a:ext cx="8823960" cy="278892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9144000" y="713232"/>
            <a:ext cx="2880360" cy="5641848"/>
          </a:xfrm>
          <a:prstGeom prst="rect">
            <a:avLst/>
          </a:prstGeom>
          <a:solidFill>
            <a:srgbClr val="051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08592" y="868680"/>
            <a:ext cx="2651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91DA"/>
                </a:solidFill>
                <a:latin typeface="Calibri"/>
              </a:rPr>
              <a:t>₹3,936 Cr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08592" y="1289304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4E8"/>
                </a:solidFill>
                <a:latin typeface="Calibri"/>
              </a:rPr>
              <a:t>Total Spend
All Companies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08592" y="1664208"/>
            <a:ext cx="2551176" cy="18288"/>
          </a:xfrm>
          <a:prstGeom prst="rect">
            <a:avLst/>
          </a:prstGeom>
          <a:solidFill>
            <a:srgbClr val="1A3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08592" y="1783080"/>
            <a:ext cx="2651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BC204B"/>
                </a:solidFill>
                <a:latin typeface="Calibri"/>
              </a:rPr>
              <a:t>187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08592" y="2203704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4E8"/>
                </a:solidFill>
                <a:latin typeface="Calibri"/>
              </a:rPr>
              <a:t>SOD Conflicts
4 Control Points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08592" y="2578608"/>
            <a:ext cx="2551176" cy="18288"/>
          </a:xfrm>
          <a:prstGeom prst="rect">
            <a:avLst/>
          </a:prstGeom>
          <a:solidFill>
            <a:srgbClr val="1A3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08592" y="2697480"/>
            <a:ext cx="2651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8C00"/>
                </a:solidFill>
                <a:latin typeface="Calibri"/>
              </a:rPr>
              <a:t>19%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08592" y="3118104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4E8"/>
                </a:solidFill>
                <a:latin typeface="Calibri"/>
              </a:rPr>
              <a:t>Maverick
Spend Rate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08592" y="3493008"/>
            <a:ext cx="2551176" cy="18288"/>
          </a:xfrm>
          <a:prstGeom prst="rect">
            <a:avLst/>
          </a:prstGeom>
          <a:solidFill>
            <a:srgbClr val="1A3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08592" y="3611880"/>
            <a:ext cx="2651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91DA"/>
                </a:solidFill>
                <a:latin typeface="Calibri"/>
              </a:rPr>
              <a:t>44.5 Days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08592" y="4032504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4E8"/>
                </a:solidFill>
                <a:latin typeface="Calibri"/>
              </a:rPr>
              <a:t>End-to-End
P2P Cycle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08592" y="4407408"/>
            <a:ext cx="2551176" cy="18288"/>
          </a:xfrm>
          <a:prstGeom prst="rect">
            <a:avLst/>
          </a:prstGeom>
          <a:solidFill>
            <a:srgbClr val="1A3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08592" y="4526280"/>
            <a:ext cx="2651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8F7326"/>
                </a:solidFill>
                <a:latin typeface="Calibri"/>
              </a:rPr>
              <a:t>85 POs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08592" y="4946904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4E8"/>
                </a:solidFill>
                <a:latin typeface="Calibri"/>
              </a:rPr>
              <a:t>High-Value POs
&gt; ₹1 Cr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308592" y="5321808"/>
            <a:ext cx="2551176" cy="18288"/>
          </a:xfrm>
          <a:prstGeom prst="rect">
            <a:avLst/>
          </a:prstGeom>
          <a:solidFill>
            <a:srgbClr val="1A3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1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BC2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0" y="6556248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F7326"/>
                </a:solidFill>
                <a:latin typeface="Calibri"/>
              </a:rPr>
              <a:t>KPMG  |  IntelliSource  | 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459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Segregation of Duty Conflicts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68580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91DA"/>
                </a:solidFill>
                <a:latin typeface="Calibri"/>
              </a:rPr>
              <a:t>Automatically detected by IntelliSource — invisible in SAP standard reporting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024128"/>
            <a:ext cx="11750040" cy="27432"/>
          </a:xfrm>
          <a:prstGeom prst="rect">
            <a:avLst/>
          </a:prstGeom>
          <a:solidFill>
            <a:srgbClr val="BC2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" y="1188720"/>
            <a:ext cx="3200400" cy="2286000"/>
          </a:xfrm>
          <a:prstGeom prst="rect">
            <a:avLst/>
          </a:prstGeom>
          <a:solidFill>
            <a:srgbClr val="BC2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1261872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0" b="1" i="0">
                <a:solidFill>
                  <a:srgbClr val="FFFFFF"/>
                </a:solidFill>
                <a:latin typeface="Calibri"/>
              </a:rPr>
              <a:t>187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" y="2697480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SOD Violations
Detected — First Upload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49039" y="1325880"/>
            <a:ext cx="8229600" cy="822960"/>
          </a:xfrm>
          <a:prstGeom prst="rect">
            <a:avLst/>
          </a:prstGeom>
          <a:solidFill>
            <a:srgbClr val="0A2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749039" y="1325880"/>
            <a:ext cx="54864" cy="822960"/>
          </a:xfrm>
          <a:prstGeom prst="rect">
            <a:avLst/>
          </a:prstGeom>
          <a:solidFill>
            <a:srgbClr val="BC2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31920" y="1399032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PO Create  →  PO Release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1764792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B8E8"/>
                </a:solidFill>
                <a:latin typeface="Calibri"/>
              </a:rPr>
              <a:t>Same user created and approved the purchase order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49039" y="2286000"/>
            <a:ext cx="8229600" cy="822960"/>
          </a:xfrm>
          <a:prstGeom prst="rect">
            <a:avLst/>
          </a:prstGeom>
          <a:solidFill>
            <a:srgbClr val="0A2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49039" y="2286000"/>
            <a:ext cx="54864" cy="822960"/>
          </a:xfrm>
          <a:prstGeom prst="rect">
            <a:avLst/>
          </a:prstGeom>
          <a:solidFill>
            <a:srgbClr val="BC2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31920" y="2359152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PO Create  →  GRN Post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2724912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B8E8"/>
                </a:solidFill>
                <a:latin typeface="Calibri"/>
              </a:rPr>
              <a:t>Same user raised PO and posted the goods receipt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49039" y="3246120"/>
            <a:ext cx="8229600" cy="822960"/>
          </a:xfrm>
          <a:prstGeom prst="rect">
            <a:avLst/>
          </a:prstGeom>
          <a:solidFill>
            <a:srgbClr val="0A2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749039" y="3246120"/>
            <a:ext cx="54864" cy="822960"/>
          </a:xfrm>
          <a:prstGeom prst="rect">
            <a:avLst/>
          </a:prstGeom>
          <a:solidFill>
            <a:srgbClr val="BC2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31920" y="3319272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GRN Post  →  Invoice Post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3685032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B8E8"/>
                </a:solidFill>
                <a:latin typeface="Calibri"/>
              </a:rPr>
              <a:t>Same user received goods and created vendor invoice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49039" y="4206240"/>
            <a:ext cx="8229600" cy="822960"/>
          </a:xfrm>
          <a:prstGeom prst="rect">
            <a:avLst/>
          </a:prstGeom>
          <a:solidFill>
            <a:srgbClr val="0A2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749039" y="4206240"/>
            <a:ext cx="54864" cy="822960"/>
          </a:xfrm>
          <a:prstGeom prst="rect">
            <a:avLst/>
          </a:prstGeom>
          <a:solidFill>
            <a:srgbClr val="BC2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31920" y="4279392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Invoice Post  →  Payment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31920" y="4645152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B8E8"/>
                </a:solidFill>
                <a:latin typeface="Calibri"/>
              </a:rPr>
              <a:t>Same user posted invoice and cleared the payment  ← highest risk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" y="5349240"/>
            <a:ext cx="1175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F7326"/>
                </a:solidFill>
                <a:latin typeface="Calibri"/>
              </a:rPr>
              <a:t>Popup shows: Document  ·  SOD Type  ·  Vendor  ·  User  ·  Date  ·  Export to Excel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009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54864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Vendor Performance  &amp;  CAPEX / OPEX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20624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91DA"/>
                </a:solidFill>
                <a:latin typeface="Calibri"/>
              </a:rPr>
              <a:t>Compliance · Lead Time · Spend Split · Department Breakdown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0" y="6556248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F7326"/>
                </a:solidFill>
                <a:latin typeface="Calibri"/>
              </a:rPr>
              <a:t>KPMG  |  IntelliSource  |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" y="749808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3666A"/>
                </a:solidFill>
                <a:latin typeface="Calibri"/>
              </a:rPr>
              <a:t>Vendor Performance</a:t>
            </a:r>
          </a:p>
        </p:txBody>
      </p:sp>
      <p:pic>
        <p:nvPicPr>
          <p:cNvPr id="10" name="Picture 9" descr="Screenshot 2026-07-08 at 2.24.04 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024128"/>
            <a:ext cx="5760720" cy="2468880"/>
          </a:xfrm>
          <a:prstGeom prst="rect">
            <a:avLst/>
          </a:prstGeom>
        </p:spPr>
      </p:pic>
      <p:pic>
        <p:nvPicPr>
          <p:cNvPr id="11" name="Picture 10" descr="Screenshot 2026-07-08 at 2.24.14 P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3566160"/>
            <a:ext cx="5760720" cy="24688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126480" y="749808"/>
            <a:ext cx="5897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3666A"/>
                </a:solidFill>
                <a:latin typeface="Calibri"/>
              </a:rPr>
              <a:t>CAPEX / OPEX (Utilization)</a:t>
            </a:r>
          </a:p>
        </p:txBody>
      </p:sp>
      <p:pic>
        <p:nvPicPr>
          <p:cNvPr id="13" name="Picture 12" descr="Screenshot 2026-07-08 at 2.24.43 P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1024128"/>
            <a:ext cx="5897880" cy="2468880"/>
          </a:xfrm>
          <a:prstGeom prst="rect">
            <a:avLst/>
          </a:prstGeom>
        </p:spPr>
      </p:pic>
      <p:pic>
        <p:nvPicPr>
          <p:cNvPr id="14" name="Picture 13" descr="Screenshot 2026-07-08 at 2.24.54 P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3566160"/>
            <a:ext cx="5897880" cy="246888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6016752" y="749808"/>
            <a:ext cx="27432" cy="5303520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6080760"/>
            <a:ext cx="12188952" cy="420624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2880" y="6108192"/>
            <a:ext cx="5760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91DA"/>
                </a:solidFill>
                <a:latin typeface="Calibri"/>
              </a:rPr>
              <a:t>11 Active Vendors  ·  84.6% Compliance  ·  2 Blocked  ·  5.1d Avg Delivery Delay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6108192"/>
            <a:ext cx="5852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91DA"/>
                </a:solidFill>
                <a:latin typeface="Calibri"/>
              </a:rPr>
              <a:t>CAPEX ₹1,899 Cr (48.3%)  ·  OPEX ₹2,036 Cr (51.7%)  ·  39 Profit Centres  ·  97.4% Delivery Utilisation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54864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P2P Lifecycle Tracker  &amp;  Profit Centers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20624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91DA"/>
                </a:solidFill>
                <a:latin typeface="Calibri"/>
              </a:rPr>
              <a:t>End-to-End Procure-to-Pay · Stage Health · 39 Active Profit Centers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0" y="6556248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F7326"/>
                </a:solidFill>
                <a:latin typeface="Calibri"/>
              </a:rPr>
              <a:t>KPMG  |  IntelliSource  |  CONFIDENTIAL</a:t>
            </a:r>
          </a:p>
        </p:txBody>
      </p:sp>
      <p:pic>
        <p:nvPicPr>
          <p:cNvPr id="9" name="Picture 8" descr="Screenshot 2026-07-08 at 2.26.10 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749808"/>
            <a:ext cx="7315200" cy="5440680"/>
          </a:xfrm>
          <a:prstGeom prst="rect">
            <a:avLst/>
          </a:prstGeom>
        </p:spPr>
      </p:pic>
      <p:pic>
        <p:nvPicPr>
          <p:cNvPr id="10" name="Picture 9" descr="Screenshot 2026-07-08 at 2.25.30 P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749808"/>
            <a:ext cx="4434840" cy="36576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7589520" y="4462272"/>
            <a:ext cx="4434840" cy="1728216"/>
          </a:xfrm>
          <a:prstGeom prst="rect">
            <a:avLst/>
          </a:prstGeom>
          <a:solidFill>
            <a:srgbClr val="051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79" y="4617720"/>
            <a:ext cx="4160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8FF"/>
                </a:solidFill>
                <a:latin typeface="Calibri"/>
              </a:rPr>
              <a:t>▸  39 Active Profit Centers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4937760"/>
            <a:ext cx="4160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8FF"/>
                </a:solidFill>
                <a:latin typeface="Calibri"/>
              </a:rPr>
              <a:t>▸  CAPEX ₹1,941 Cr  ·  OPEX ₹2,021 Cr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6679" y="5257800"/>
            <a:ext cx="4160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8FF"/>
                </a:solidFill>
                <a:latin typeface="Calibri"/>
              </a:rPr>
              <a:t>▸  Total Portfolio: ₹3,962 Cr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79" y="5577840"/>
            <a:ext cx="4160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8FF"/>
                </a:solidFill>
                <a:latin typeface="Calibri"/>
              </a:rPr>
              <a:t>▸  Filter by department · drill to PO line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" y="6144768"/>
            <a:ext cx="7315200" cy="32004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8600" y="6172200"/>
            <a:ext cx="7132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91DA"/>
                </a:solidFill>
                <a:latin typeface="Calibri"/>
              </a:rPr>
              <a:t>132 PRs  →  163 POs  →  117 GRNs  →  106 Invoices  →  82 Payments  ·  Avg 44.5 Days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009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54864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20624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91DA"/>
                </a:solidFill>
                <a:latin typeface="Calibri"/>
              </a:rPr>
              <a:t>Vendor Repository · Data Upload · User Management · Activity History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0" y="6556248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F7326"/>
                </a:solidFill>
                <a:latin typeface="Calibri"/>
              </a:rPr>
              <a:t>KPMG  |  IntelliSource  |  CONFIDENTIAL</a:t>
            </a:r>
          </a:p>
        </p:txBody>
      </p:sp>
      <p:pic>
        <p:nvPicPr>
          <p:cNvPr id="9" name="Picture 8" descr="Screenshot 2026-07-08 at 2.26.31 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749808"/>
            <a:ext cx="5943600" cy="2926080"/>
          </a:xfrm>
          <a:prstGeom prst="rect">
            <a:avLst/>
          </a:prstGeom>
        </p:spPr>
      </p:pic>
      <p:pic>
        <p:nvPicPr>
          <p:cNvPr id="10" name="Picture 9" descr="Screenshot 2026-07-08 at 2.26.49 P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749808"/>
            <a:ext cx="5852160" cy="2926080"/>
          </a:xfrm>
          <a:prstGeom prst="rect">
            <a:avLst/>
          </a:prstGeom>
        </p:spPr>
      </p:pic>
      <p:pic>
        <p:nvPicPr>
          <p:cNvPr id="11" name="Picture 10" descr="Screenshot 2026-07-08 at 2.26.58 P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" y="3749039"/>
            <a:ext cx="5943600" cy="2743200"/>
          </a:xfrm>
          <a:prstGeom prst="rect">
            <a:avLst/>
          </a:prstGeom>
        </p:spPr>
      </p:pic>
      <p:pic>
        <p:nvPicPr>
          <p:cNvPr id="12" name="Picture 11" descr="Screenshot 2026-07-08 at 2.27.24 P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3749039"/>
            <a:ext cx="5852160" cy="27432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137160" y="749808"/>
            <a:ext cx="5897880" cy="27432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6888" y="786384"/>
            <a:ext cx="5669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Vendor Repository — 13 vendors, searchable catalog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749808"/>
            <a:ext cx="5852160" cy="27432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81928" y="786384"/>
            <a:ext cx="5669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Data Upload — CSV/Excel, auto-detect, live refresh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7160" y="3749039"/>
            <a:ext cx="5897880" cy="27432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6888" y="3785615"/>
            <a:ext cx="5669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Activity History — upload &amp; download audit trail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3749039"/>
            <a:ext cx="5852160" cy="27432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81928" y="3785615"/>
            <a:ext cx="5669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User Management — role-based access control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961120" y="0"/>
            <a:ext cx="3227832" cy="685800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reenshot 2026-07-08 at 2.26.10 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274320"/>
            <a:ext cx="3017520" cy="6217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45720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KPMG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17320"/>
            <a:ext cx="5029200" cy="36576"/>
          </a:xfrm>
          <a:prstGeom prst="rect">
            <a:avLst/>
          </a:prstGeom>
          <a:solidFill>
            <a:srgbClr val="8F7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600200"/>
            <a:ext cx="8503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60604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91DA"/>
                </a:solidFill>
                <a:latin typeface="Calibri"/>
              </a:rPr>
              <a:t>IntelliSource — Procurement Intelligence, Powered by KPMG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200400"/>
            <a:ext cx="5029200" cy="36576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3401568"/>
            <a:ext cx="1005840" cy="384048"/>
          </a:xfrm>
          <a:prstGeom prst="rect">
            <a:avLst/>
          </a:prstGeom>
          <a:solidFill>
            <a:srgbClr val="BC2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347472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Week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47472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D8FF"/>
                </a:solidFill>
                <a:latin typeface="Calibri"/>
              </a:rPr>
              <a:t>Data readiness — SAP export access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913632"/>
            <a:ext cx="1005840" cy="384048"/>
          </a:xfrm>
          <a:prstGeom prst="rect">
            <a:avLst/>
          </a:prstGeom>
          <a:solidFill>
            <a:srgbClr val="BC2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398678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Week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986784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D8FF"/>
                </a:solidFill>
                <a:latin typeface="Calibri"/>
              </a:rPr>
              <a:t>Pilot upload — single company code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425696"/>
            <a:ext cx="1005840" cy="384048"/>
          </a:xfrm>
          <a:prstGeom prst="rect">
            <a:avLst/>
          </a:prstGeom>
          <a:solidFill>
            <a:srgbClr val="BC2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449884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Week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498848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D8FF"/>
                </a:solidFill>
                <a:latin typeface="Calibri"/>
              </a:rPr>
              <a:t>Stakeholder walkthrough — live demo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937760"/>
            <a:ext cx="1005840" cy="384048"/>
          </a:xfrm>
          <a:prstGeom prst="rect">
            <a:avLst/>
          </a:prstGeom>
          <a:solidFill>
            <a:srgbClr val="BC2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501091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Week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501091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D8FF"/>
                </a:solidFill>
                <a:latin typeface="Calibri"/>
              </a:rPr>
              <a:t>Go / No-Go — full deployment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55321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F7326"/>
                </a:solidFill>
                <a:latin typeface="Calibri"/>
              </a:rPr>
              <a:t>getdev24@gmail.com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002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641908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KPMG India  |  Procurement Advisory  |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