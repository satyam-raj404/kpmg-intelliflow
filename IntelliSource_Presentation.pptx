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95360" y="0"/>
            <a:ext cx="359359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 2026-07-08 at 2.21.57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91440"/>
            <a:ext cx="3410712" cy="6675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4572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19072"/>
            <a:ext cx="5120640" cy="36576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IntelliSource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71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91DA"/>
                </a:solidFill>
                <a:latin typeface="Calibri"/>
              </a:rPr>
              <a:t>SAP Procurement Intelligence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5120640" cy="36576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749039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₹3,936 Cr  ·  Total Spend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169663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187         ·  SOD Conflicts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90287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5            ·  Role-Specific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010911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44.5 days ·  End-to-End P2P Cycle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41908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Application Demo  |  Q2 FY2024  |  All Companies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190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0.51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Procurement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1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649224"/>
            <a:ext cx="11411712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316736"/>
            <a:ext cx="142646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35024"/>
            <a:ext cx="142646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KPI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2512" y="649224"/>
            <a:ext cx="2843784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316736"/>
            <a:ext cx="267462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335024"/>
            <a:ext cx="26746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85 High-Value POs  &gt;₹1 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1344168"/>
            <a:ext cx="5715000" cy="530352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1911096"/>
            <a:ext cx="3346703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1929384"/>
            <a:ext cx="3346703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Maverick Spend &amp; Deletion Alerts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1.22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Financial Dashboard —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1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9232" y="649224"/>
            <a:ext cx="2304288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9232" y="1316736"/>
            <a:ext cx="373075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335024"/>
            <a:ext cx="373075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84%  3-Way Match  ← below 90%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649224"/>
            <a:ext cx="2304288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0" y="1316736"/>
            <a:ext cx="3154679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335024"/>
            <a:ext cx="315467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40.5 days  Avg Invoice Payment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649224"/>
            <a:ext cx="2249424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1316736"/>
            <a:ext cx="219456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1335024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₹958 Cr Payments YTD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1.3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Financial Dashboard — 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2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371600"/>
            <a:ext cx="5321808" cy="338328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088136"/>
            <a:ext cx="2962656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106424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Monthly Payments Trend  ₹ Cr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1371600"/>
            <a:ext cx="5961888" cy="338328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5624" y="1088136"/>
            <a:ext cx="286664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106424"/>
            <a:ext cx="286664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Payment Timing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1.57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Leadership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1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475488"/>
            <a:ext cx="11411712" cy="438912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950976"/>
            <a:ext cx="622706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969264"/>
            <a:ext cx="622706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P2P Pipeline  132 PR → 163 PO → 117 GRN → 106 Inv → 82 Payment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960120"/>
            <a:ext cx="2852928" cy="658368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84448" y="676656"/>
            <a:ext cx="411480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694944"/>
            <a:ext cx="4114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187 SOD Conflicts  ← click to drill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960120"/>
            <a:ext cx="3977639" cy="530352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676656"/>
            <a:ext cx="229057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694944"/>
            <a:ext cx="22905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Risk Indicators Panel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2.42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Leadership — Risk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2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261872"/>
            <a:ext cx="5285232" cy="22860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978408"/>
            <a:ext cx="267462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996696"/>
            <a:ext cx="26746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Monthly Spend Trend  ₹ Cr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1261872"/>
            <a:ext cx="3017520" cy="22860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9048" y="978408"/>
            <a:ext cx="277063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996696"/>
            <a:ext cx="277063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CAPEX 48.3%  ·  OPEX 51.7%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0576" y="475488"/>
            <a:ext cx="2999232" cy="59436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80576" y="6455664"/>
            <a:ext cx="219456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6473952"/>
            <a:ext cx="2194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Live Risk Indicators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4.0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Vendor Performance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1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649224"/>
            <a:ext cx="2852928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6160" y="1316736"/>
            <a:ext cx="373075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335024"/>
            <a:ext cx="373075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84.6% Compliance  ← below 90%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1335024"/>
            <a:ext cx="2852928" cy="521207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051560"/>
            <a:ext cx="373075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069848"/>
            <a:ext cx="373075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2 Blocked Vendors  ← review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53728" y="649224"/>
            <a:ext cx="2852928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53728" y="1316736"/>
            <a:ext cx="2482596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53728" y="1335024"/>
            <a:ext cx="24825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5.1d Avg Delivery Delay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4.1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Vendor Performance —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Slide 2 of 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475488"/>
            <a:ext cx="11411712" cy="475488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987552"/>
            <a:ext cx="622706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005840"/>
            <a:ext cx="622706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Vendor Health: 11 Active · 2 Non-Active · 10 Domestic · 2 MSME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011680"/>
            <a:ext cx="5321808" cy="32004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1728216"/>
            <a:ext cx="3058668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746504"/>
            <a:ext cx="30586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Top-10 Vendors by Spend  ₹ 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2011680"/>
            <a:ext cx="5961888" cy="32004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728216"/>
            <a:ext cx="2290572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1746504"/>
            <a:ext cx="22905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Vendor Type Breakdown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4.43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CAPEX / OPEX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Utilization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649224"/>
            <a:ext cx="2843784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316736"/>
            <a:ext cx="2962656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35024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CAPEX  ₹1,899.80 Cr  (48.3%)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3592" y="649224"/>
            <a:ext cx="2852928" cy="6309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93592" y="1316736"/>
            <a:ext cx="286664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335024"/>
            <a:ext cx="286664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OPEX  ₹2,036.54 Cr  (51.7%)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1572768"/>
            <a:ext cx="5257800" cy="27432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1289304"/>
            <a:ext cx="286664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1307592"/>
            <a:ext cx="286664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Monthly CAPEX vs OPEX Trend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71616" y="1572768"/>
            <a:ext cx="6108192" cy="274320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1616" y="1289304"/>
            <a:ext cx="2386584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1307592"/>
            <a:ext cx="23865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Total Split  ₹3,936 Cr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6.1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P2P Lifecycle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End-to-End Procure-to-Pay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005840"/>
            <a:ext cx="11411712" cy="72237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722376"/>
            <a:ext cx="6131051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740664"/>
            <a:ext cx="6131051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PR 132 → PO Approved 158 → GRN 117 → Invoice 106 → Payment 82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06056" y="1005840"/>
            <a:ext cx="1627632" cy="72237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06056" y="1764792"/>
            <a:ext cx="3058668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06056" y="1783080"/>
            <a:ext cx="30586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GRN Bottleneck  33.9d  PO→GRN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1892807"/>
            <a:ext cx="11411712" cy="40233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331719"/>
            <a:ext cx="5074920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350007"/>
            <a:ext cx="5074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Summary: 163 cases · 44.5d cycle · 31 Maverick POs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 2026-07-08 at 2.26.49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4572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548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548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 Upload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548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DD"/>
                </a:solidFill>
                <a:latin typeface="Calibri"/>
              </a:rPr>
              <a:t>SAP CSV/Excel → IntelliSource → All Dashboards 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6592824"/>
            <a:ext cx="11823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AADD"/>
                </a:solidFill>
                <a:latin typeface="Calibri"/>
              </a:rPr>
              <a:t>CONFIDENTIAL  |  KPMG India  |  Q2 FY2024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996696"/>
            <a:ext cx="3364992" cy="768096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713232"/>
            <a:ext cx="4978907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31520"/>
            <a:ext cx="49789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Drop CSV from SAP  ·  Auto-detected  ·  Max 50 MB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777240"/>
            <a:ext cx="7699248" cy="5623560"/>
          </a:xfrm>
          <a:prstGeom prst="rect">
            <a:avLst/>
          </a:prstGeom>
          <a:noFill/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6437376"/>
            <a:ext cx="6131051" cy="24688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6455664"/>
            <a:ext cx="6131051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  6 Dataset Types: PR · PO · Delivery · GRN · Invoice · Payment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 2026-07-08 at 2.26.1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91440"/>
            <a:ext cx="3319272" cy="6675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0292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19072"/>
            <a:ext cx="5120640" cy="36576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88036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1DA"/>
                </a:solidFill>
                <a:latin typeface="Calibri"/>
              </a:rPr>
              <a:t>IntelliSource  —  P2P Intelligence, Powered by KPMG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74720"/>
            <a:ext cx="5120640" cy="36576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3657600"/>
            <a:ext cx="914400" cy="3657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37307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7040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Data readiness check  —  SAP export access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151376"/>
            <a:ext cx="914400" cy="3657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224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24528"/>
            <a:ext cx="7040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Pilot upload  —  single company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45152"/>
            <a:ext cx="914400" cy="3657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183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18304"/>
            <a:ext cx="7040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Stakeholder walkthrough  —  live demo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138928"/>
            <a:ext cx="914400" cy="3657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52120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212080"/>
            <a:ext cx="7040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Go / No-Go  —  full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669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F7326"/>
                </a:solidFill>
                <a:latin typeface="Calibri"/>
              </a:rPr>
              <a:t>getdev24@gmail.com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190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KPMG India  |  Procurement Advisory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