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B1F45"/>
                </a:solidFill>
                <a:latin typeface="Calibri"/>
              </a:rPr>
              <a:t>IntelliSource — Procurement Process Intelligence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43000"/>
            <a:ext cx="2841498" cy="914400"/>
          </a:xfrm>
          <a:prstGeom prst="roundRect">
            <a:avLst>
              <a:gd name="adj" fmla="val 50000"/>
            </a:avLst>
          </a:prstGeom>
          <a:solidFill>
            <a:srgbClr val="0B1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32938" y="1143000"/>
            <a:ext cx="2841498" cy="914400"/>
          </a:xfrm>
          <a:prstGeom prst="roundRect">
            <a:avLst>
              <a:gd name="adj" fmla="val 50000"/>
            </a:avLst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54396" y="1143000"/>
            <a:ext cx="2841498" cy="914400"/>
          </a:xfrm>
          <a:prstGeom prst="roundRect">
            <a:avLst>
              <a:gd name="adj" fmla="val 50000"/>
            </a:avLst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975854" y="1143000"/>
            <a:ext cx="2841498" cy="914400"/>
          </a:xfrm>
          <a:prstGeom prst="roundRect">
            <a:avLst>
              <a:gd name="adj" fmla="val 50000"/>
            </a:avLst>
          </a:prstGeom>
          <a:solidFill>
            <a:srgbClr val="0B1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67178" y="1316736"/>
            <a:ext cx="566928" cy="566928"/>
          </a:xfrm>
          <a:prstGeom prst="ellipse">
            <a:avLst/>
          </a:prstGeom>
          <a:solidFill>
            <a:srgbClr val="E88A2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43000"/>
            <a:ext cx="1835658" cy="9144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Client Name &amp;</a:t>
            </a:r>
          </a:p>
          <a:p>
            <a:r>
              <a:rPr sz="13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9" name="Oval 8"/>
          <p:cNvSpPr/>
          <p:nvPr/>
        </p:nvSpPr>
        <p:spPr>
          <a:xfrm>
            <a:off x="5088636" y="1316736"/>
            <a:ext cx="566928" cy="566928"/>
          </a:xfrm>
          <a:prstGeom prst="ellipse">
            <a:avLst/>
          </a:prstGeom>
          <a:solidFill>
            <a:srgbClr val="BFE9F7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5818" y="1143000"/>
            <a:ext cx="1835658" cy="9144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Engagement Details</a:t>
            </a:r>
          </a:p>
        </p:txBody>
      </p:sp>
      <p:sp>
        <p:nvSpPr>
          <p:cNvPr id="11" name="Oval 10"/>
          <p:cNvSpPr/>
          <p:nvPr/>
        </p:nvSpPr>
        <p:spPr>
          <a:xfrm>
            <a:off x="7610094" y="1316736"/>
            <a:ext cx="566928" cy="566928"/>
          </a:xfrm>
          <a:prstGeom prst="ellipse">
            <a:avLst/>
          </a:prstGeom>
          <a:solidFill>
            <a:srgbClr val="D14A2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37276" y="1143000"/>
            <a:ext cx="1835658" cy="9144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Technology Stack Used</a:t>
            </a:r>
          </a:p>
        </p:txBody>
      </p:sp>
      <p:sp>
        <p:nvSpPr>
          <p:cNvPr id="13" name="Oval 12"/>
          <p:cNvSpPr/>
          <p:nvPr/>
        </p:nvSpPr>
        <p:spPr>
          <a:xfrm>
            <a:off x="10131552" y="1316736"/>
            <a:ext cx="566928" cy="566928"/>
          </a:xfrm>
          <a:prstGeom prst="ellipse">
            <a:avLst/>
          </a:prstGeom>
          <a:solidFill>
            <a:srgbClr val="2E8B57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8734" y="1143000"/>
            <a:ext cx="1835658" cy="9144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Expected Outcome &amp;</a:t>
            </a:r>
          </a:p>
          <a:p>
            <a:r>
              <a:rPr sz="1300" b="1">
                <a:solidFill>
                  <a:srgbClr val="FFFFFF"/>
                </a:solidFill>
              </a:rPr>
              <a:t>Deliverables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377440"/>
            <a:ext cx="256717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The Financial Services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761488"/>
            <a:ext cx="2567178" cy="3822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0">
                <a:solidFill>
                  <a:srgbClr val="555555"/>
                </a:solidFill>
                <a:latin typeface="Calibri"/>
              </a:rPr>
              <a:t>An internal KPMG India team needed a unified way to track and analyse procurement KPIs across the full Procure-to-Pay lifecycle — with no systematic way to flag process anomalies or answer ad-hoc questions without manual SQL/Excel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2938" y="2377440"/>
            <a:ext cx="256717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IntelliSource — Procurement Process Intelligence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2938" y="2944368"/>
            <a:ext cx="2567178" cy="3639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0">
                <a:solidFill>
                  <a:srgbClr val="555555"/>
                </a:solidFill>
                <a:latin typeface="Calibri"/>
              </a:rPr>
              <a:t>Built an end-to-end platform automating 40+ KPIs across PR, PO, GRN, invoice, payment, vendor, and budget data, with real-time rule-based anomaly detection and a natural-language AI analyst (“Ask IntelliSource”) grounded in live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54396" y="2377440"/>
            <a:ext cx="2567178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1A1A1A"/>
                </a:solidFill>
                <a:latin typeface="Calibri"/>
              </a:rPr>
              <a:t>•  Backend — Python, FastAPI, PostgreSQL (psycopg3)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A1A1A"/>
                </a:solidFill>
                <a:latin typeface="Calibri"/>
              </a:rPr>
              <a:t>•  Frontend — React 19, Vite, TanStack Router, Tailwind CSS, Recharts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A1A1A"/>
                </a:solidFill>
                <a:latin typeface="Calibri"/>
              </a:rPr>
              <a:t>•  AI — agentic LLM cascade via OpenRouter, local Ollama fallback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A1A1A"/>
                </a:solidFill>
                <a:latin typeface="Calibri"/>
              </a:rPr>
              <a:t>•  Reporting — python-pptx, ReportLab, XlsxWriter, Matplotlib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5854" y="2377440"/>
            <a:ext cx="2567178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950">
                <a:solidFill>
                  <a:srgbClr val="1A1A1A"/>
                </a:solidFill>
                <a:latin typeface="Calibri"/>
              </a:rPr>
              <a:t>•  Automated 40+ KPIs across procurement, delivery, finance, and compliance layers</a:t>
            </a:r>
          </a:p>
          <a:p>
            <a:pPr>
              <a:spcAft>
                <a:spcPts val="700"/>
              </a:spcAft>
            </a:pPr>
            <a:r>
              <a:rPr sz="950">
                <a:solidFill>
                  <a:srgbClr val="1A1A1A"/>
                </a:solidFill>
                <a:latin typeface="Calibri"/>
              </a:rPr>
              <a:t>•  Real-time detection across 9 rule-based anomaly categories (maverick buys, duplicate invoices, 3-way mismatches, and more)</a:t>
            </a:r>
          </a:p>
          <a:p>
            <a:pPr>
              <a:spcAft>
                <a:spcPts val="700"/>
              </a:spcAft>
            </a:pPr>
            <a:r>
              <a:rPr sz="950">
                <a:solidFill>
                  <a:srgbClr val="1A1A1A"/>
                </a:solidFill>
                <a:latin typeface="Calibri"/>
              </a:rPr>
              <a:t>•  Natural-language analyst answering ad-hoc procurement questions, grounded in live data with citations</a:t>
            </a:r>
          </a:p>
          <a:p>
            <a:pPr>
              <a:spcAft>
                <a:spcPts val="700"/>
              </a:spcAft>
            </a:pPr>
            <a:r>
              <a:rPr sz="950">
                <a:solidFill>
                  <a:srgbClr val="1A1A1A"/>
                </a:solidFill>
                <a:latin typeface="Calibri"/>
              </a:rPr>
              <a:t>•  Role-based dashboards for Procurement Manager, Finance, Compliance, CXO, and more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5854" y="4892040"/>
            <a:ext cx="25671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Calibri"/>
              </a:rPr>
              <a:t>Value Addition: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5854" y="5193792"/>
            <a:ext cx="256717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950">
                <a:solidFill>
                  <a:srgbClr val="1A1A1A"/>
                </a:solidFill>
                <a:latin typeface="Calibri"/>
              </a:rPr>
              <a:t>•  Single source of truth, replacing manual Excel-based reporting</a:t>
            </a:r>
          </a:p>
          <a:p>
            <a:pPr>
              <a:spcAft>
                <a:spcPts val="700"/>
              </a:spcAft>
            </a:pPr>
            <a:r>
              <a:rPr sz="950">
                <a:solidFill>
                  <a:srgbClr val="1A1A1A"/>
                </a:solidFill>
                <a:latin typeface="Calibri"/>
              </a:rPr>
              <a:t>•  Significant reduction in manual KPI-computation effort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6355080"/>
            <a:ext cx="11365992" cy="292608"/>
          </a:xfrm>
          <a:prstGeom prst="roundRect">
            <a:avLst>
              <a:gd name="adj" fmla="val 50000"/>
            </a:avLst>
          </a:prstGeom>
          <a:solidFill>
            <a:srgbClr val="0B1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355080"/>
            <a:ext cx="113659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Illustrative Deliverables</a:t>
            </a:r>
          </a:p>
        </p:txBody>
      </p:sp>
      <p:sp>
        <p:nvSpPr>
          <p:cNvPr id="25" name="Oval 24"/>
          <p:cNvSpPr/>
          <p:nvPr/>
        </p:nvSpPr>
        <p:spPr>
          <a:xfrm>
            <a:off x="338328" y="6281928"/>
            <a:ext cx="146304" cy="146304"/>
          </a:xfrm>
          <a:prstGeom prst="ellipse">
            <a:avLst/>
          </a:prstGeom>
          <a:solidFill>
            <a:srgbClr val="0B1F45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38328" y="6574536"/>
            <a:ext cx="146304" cy="146304"/>
          </a:xfrm>
          <a:prstGeom prst="ellipse">
            <a:avLst/>
          </a:prstGeom>
          <a:solidFill>
            <a:srgbClr val="0B1F45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704320" y="6281928"/>
            <a:ext cx="146304" cy="146304"/>
          </a:xfrm>
          <a:prstGeom prst="ellipse">
            <a:avLst/>
          </a:prstGeom>
          <a:solidFill>
            <a:srgbClr val="0B1F45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704320" y="6574536"/>
            <a:ext cx="146304" cy="146304"/>
          </a:xfrm>
          <a:prstGeom prst="ellipse">
            <a:avLst/>
          </a:prstGeom>
          <a:solidFill>
            <a:srgbClr val="0B1F45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